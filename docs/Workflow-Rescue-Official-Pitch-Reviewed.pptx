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Workflow Rescue by sustAInX helps an enterprise operations team recover an interrupted order within explicit customer permissions. The working prototype uses synthetic payment, inventory and order services, with real Gemini reasoning and an inspectable audit trail.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fb085bff3c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085bff3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recorded example begins with two original Field Kits and one existing payment of $498. The customer permits a delay of at most one day, but no substitution or extra charge. The reservation has expired, and stock changes during recovery. The task is to find a permitted recovery from the actual evidence.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b085bff3c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085bff3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Interrupted workflows leave operations, finance and engineering teams reconstructing events across services. Workflow Rescue brings evidence, permissions, attempted actions and final checks into one reviewable record. Its intended benefit is less manual reconstruction and clearer handoffs; handling-time savings and business value still require a customer pilot.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b085bff3c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b085bff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An operator can edit a synthetic incident or import validated JSON, then start a fresh model run. Explicit permission fields govern the allowed mutations. The interface exposes evidence, rejected proposals, executed receipts, verification and an exportable audit. Replay shows an existing run without making new model calls.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b085bff3c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b085bff3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controller first reads payment, inventory and dispatch. Gemini chooses a recovery action using those observations. The controller checks evidence, permissions, inventory versions and idempotency before execution. A rejected stale-stock proposal prompts fresh evidence and replanning. Independent state checks determine the final outcome.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b085bff3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085bff3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editor contains the same custom input used in the video: two units available, seven incoming units, incoming stock after one day, a maximum permitted delay of one day, no substitution, and a stock race enabled. The imported values are visible and editable; the capture itself starts no recovery.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b085bff3c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React interface communicates with a FastAPI controller running in Google Cloud Shell. Gemini supplies recovery proposals, and Firestore persists completed audits. Firebase Hosting serves the public submission materials and prototype entry link. Cloud Run is not deployed, and the Cloud Shell runtime remains temporary.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085bff3c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085bff3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Gemini handles recovery proposals and replanning, while Pydantic validates the proposed action structure and the controller enforces execution rules. React and Three.js provide the interface and evidence views. Firestore save and restore were verified across an API restart. The public Firebase materials portal is separate from the temporary application runtime.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b085bff3c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b085bff3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current Google project has billing disabled, uses the confirmed Gemini Free tier, and has a free Firebase materials portal and Firestore database. The application runs in a temporary Cloud Shell session. A durable production cost estimate must include hosting, inference, integration, storage and operator review; these costs have not been validated in a customer deployment.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b085bff3c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b085bff3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is the actual custom Gemini run shown in the video. It used four Gemini proposals after three initial controller reads, rejected one stale-stock proposal, and completed six independent checks. End-to-end time was 46.4 seconds including free-tier pacing. Its audit was saved in Firestore.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b085bff3c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b085bff3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Gemini 3.5 Flash-Lite produced the expected outcome on all six reviewed development fixtures with zero failed safety checks. Separately, 83 Python tests and eight JavaScript tests passed. These fixtures are not a held-out accuracy benchmark. The guarded fixed baseline escalates on the stock conflict; a broader deterministic planner can also solve these examples.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b085bff3c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085bff3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immediate delivery gap is persistent backend hosting for evaluation. A customer pilot would then connect the owner's sandbox APIs under scoped authority and measure handling time, coverage, safe handoffs and cost. Production use also needs service-owned idempotency, tenant access controls, retention and tamper-evident records.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b085bff3c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b085bff3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source repository, 3 minute 30 second narrated demonstration and pitch materials are publicly accessible. The prototype link opens the Google Cloud Shell application through a temporary public tunnel. Its availability depends on that session; the materials portal does not make the backend durable.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fb085bff3c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fb085bff3c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Stripe documents duplicate webhook delivery and idempotent requests, while Temporal documents partial workflows and compensation. These sources establish the engineering problem and existing controls. They do not establish product adoption, financial savings or superiority over conventional orchestration. The prototype demonstrates bounded recovery of synthetic incidents. The illustrative $250,000 annual staff-capacity figure assumes 10 million orders, one percent requiring recovery, half assisted successfully, ten minutes saved and a $30 hourly staff cost. These inputs are hypothetical and exclude integration, cloud and review costs. It is a scenario calculation, not measured savings.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b085bff3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b085bff3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Workflow Rescue combines adaptive recovery proposals with explicit execution boundaries and inspectable outcomes. Its central promise is to help an authorized operations team recover the workflow while preserving the customer's reviewed permissions.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federation-php-architecture-blocked.trycloudflare.com"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gen-lang-client-0915819772.web.app/downloads/workflow-rescue-demo.mp4" TargetMode="External"/><Relationship Id="rId5" Type="http://schemas.openxmlformats.org/officeDocument/2006/relationships/hyperlink" Target="https://github.com/abhi14dodiya/workflow-rescue-sustainx"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temporal.io/blog/compensating-actions-part-of-a-complete-breakfast-with-sagas"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docs.stripe.com/api/idempotent_requests" TargetMode="External"/><Relationship Id="rId5" Type="http://schemas.openxmlformats.org/officeDocument/2006/relationships/hyperlink" Target="https://docs.stripe.com/webhooks" TargetMode="Externa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356616" y="2880360"/>
            <a:ext cx="8412480" cy="193852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100">
              <a:latin typeface="Google Sans Flex SemiBold"/>
              <a:ea typeface="Google Sans Flex SemiBold"/>
              <a:cs typeface="Google Sans Flex SemiBold"/>
              <a:sym typeface="Google Sans Flex SemiBold"/>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sp>
        <p:nvSpPr>
          <p:cNvPr id="57" name="TextBox 56"/>
          <p:cNvSpPr txBox="1"/>
          <p:nvPr/>
        </p:nvSpPr>
        <p:spPr>
          <a:xfrm>
            <a:off x="393192" y="2926080"/>
            <a:ext cx="8138160" cy="356616"/>
          </a:xfrm>
          <a:prstGeom prst="rect">
            <a:avLst/>
          </a:prstGeom>
          <a:noFill/>
        </p:spPr>
        <p:txBody>
          <a:bodyPr wrap="square" lIns="0" tIns="0" rIns="0" bIns="0">
            <a:spAutoFit/>
          </a:bodyPr>
          <a:lstStyle/>
          <a:p>
            <a:pPr algn="l">
              <a:spcAft>
                <a:spcPts val="0"/>
              </a:spcAft>
              <a:defRPr sz="2200" b="1">
                <a:solidFill>
                  <a:srgbClr val="172336"/>
                </a:solidFill>
                <a:latin typeface="Aptos"/>
              </a:defRPr>
            </a:pPr>
            <a:r>
              <a:t>Team Details</a:t>
            </a:r>
          </a:p>
        </p:txBody>
      </p:sp>
      <p:sp>
        <p:nvSpPr>
          <p:cNvPr id="58" name="TextBox 57"/>
          <p:cNvSpPr txBox="1"/>
          <p:nvPr/>
        </p:nvSpPr>
        <p:spPr>
          <a:xfrm>
            <a:off x="402336" y="3410712"/>
            <a:ext cx="3566160" cy="457200"/>
          </a:xfrm>
          <a:prstGeom prst="rect">
            <a:avLst/>
          </a:prstGeom>
          <a:noFill/>
        </p:spPr>
        <p:txBody>
          <a:bodyPr wrap="square" lIns="0" tIns="0" rIns="0" bIns="0">
            <a:spAutoFit/>
          </a:bodyPr>
          <a:lstStyle/>
          <a:p>
            <a:pPr algn="l">
              <a:spcAft>
                <a:spcPts val="0"/>
              </a:spcAft>
              <a:defRPr sz="2700" b="1">
                <a:solidFill>
                  <a:srgbClr val="2864DF"/>
                </a:solidFill>
                <a:latin typeface="Aptos"/>
              </a:defRPr>
            </a:pPr>
            <a:r>
              <a:t>sustAInX</a:t>
            </a:r>
          </a:p>
        </p:txBody>
      </p:sp>
      <p:sp>
        <p:nvSpPr>
          <p:cNvPr id="59" name="TextBox 58"/>
          <p:cNvSpPr txBox="1"/>
          <p:nvPr/>
        </p:nvSpPr>
        <p:spPr>
          <a:xfrm>
            <a:off x="4389120" y="3447288"/>
            <a:ext cx="4297680" cy="411480"/>
          </a:xfrm>
          <a:prstGeom prst="rect">
            <a:avLst/>
          </a:prstGeom>
          <a:noFill/>
        </p:spPr>
        <p:txBody>
          <a:bodyPr wrap="square" lIns="0" tIns="0" rIns="0" bIns="0">
            <a:spAutoFit/>
          </a:bodyPr>
          <a:lstStyle/>
          <a:p>
            <a:pPr algn="l">
              <a:spcAft>
                <a:spcPts val="0"/>
              </a:spcAft>
              <a:defRPr sz="2300" b="1">
                <a:solidFill>
                  <a:srgbClr val="172336"/>
                </a:solidFill>
                <a:latin typeface="Aptos"/>
              </a:defRPr>
            </a:pPr>
            <a:r>
              <a:t>Workflow Rescue</a:t>
            </a:r>
          </a:p>
        </p:txBody>
      </p:sp>
      <p:sp>
        <p:nvSpPr>
          <p:cNvPr id="60" name="TextBox 59"/>
          <p:cNvSpPr txBox="1"/>
          <p:nvPr/>
        </p:nvSpPr>
        <p:spPr>
          <a:xfrm>
            <a:off x="411480" y="3840480"/>
            <a:ext cx="8183879" cy="400110"/>
          </a:xfrm>
          <a:prstGeom prst="rect">
            <a:avLst/>
          </a:prstGeom>
          <a:noFill/>
        </p:spPr>
        <p:txBody>
          <a:bodyPr wrap="square" lIns="0" tIns="0" rIns="0" bIns="0">
            <a:spAutoFit/>
          </a:bodyPr>
          <a:lstStyle/>
          <a:p>
            <a:pPr algn="l">
              <a:spcAft>
                <a:spcPts val="0"/>
              </a:spcAft>
              <a:defRPr sz="1300" b="0">
                <a:solidFill>
                  <a:srgbClr val="53637C"/>
                </a:solidFill>
                <a:latin typeface="Aptos"/>
              </a:defRPr>
            </a:pPr>
            <a:r>
              <a:rPr dirty="0"/>
              <a:t>Team leader name:</a:t>
            </a:r>
            <a:r>
              <a:rPr lang="en-IN" dirty="0"/>
              <a:t>Abhishek Dodiya</a:t>
            </a:r>
          </a:p>
          <a:p>
            <a:pPr algn="l">
              <a:spcAft>
                <a:spcPts val="0"/>
              </a:spcAft>
              <a:defRPr sz="1300" b="0">
                <a:solidFill>
                  <a:srgbClr val="53637C"/>
                </a:solidFill>
                <a:latin typeface="Aptos"/>
              </a:defRPr>
            </a:pPr>
            <a:r>
              <a:rPr lang="en-IN" dirty="0"/>
              <a:t>Team member</a:t>
            </a:r>
            <a:r>
              <a:rPr lang="en-IN"/>
              <a:t>: Tapaswini </a:t>
            </a:r>
            <a:r>
              <a:rPr lang="en-IN" dirty="0"/>
              <a:t>Palo</a:t>
            </a:r>
            <a:endParaRPr dirty="0"/>
          </a:p>
        </p:txBody>
      </p:sp>
      <p:sp>
        <p:nvSpPr>
          <p:cNvPr id="61" name="TextBox 60"/>
          <p:cNvSpPr txBox="1"/>
          <p:nvPr/>
        </p:nvSpPr>
        <p:spPr>
          <a:xfrm>
            <a:off x="411480" y="4261104"/>
            <a:ext cx="8183879" cy="502920"/>
          </a:xfrm>
          <a:prstGeom prst="rect">
            <a:avLst/>
          </a:prstGeom>
          <a:noFill/>
        </p:spPr>
        <p:txBody>
          <a:bodyPr wrap="square" lIns="0" tIns="0" rIns="0" bIns="0">
            <a:spAutoFit/>
          </a:bodyPr>
          <a:lstStyle/>
          <a:p>
            <a:pPr algn="l">
              <a:spcAft>
                <a:spcPts val="0"/>
              </a:spcAft>
              <a:defRPr sz="1600" b="0">
                <a:solidFill>
                  <a:srgbClr val="172336"/>
                </a:solidFill>
                <a:latin typeface="Aptos"/>
              </a:defRPr>
            </a:pPr>
            <a:r>
              <a:t>Problem: Payment succeeded, but the order stalled. Recover it using verified evidence and the customer's permissions.</a:t>
            </a:r>
          </a:p>
        </p:txBody>
      </p:sp>
      <p:sp>
        <p:nvSpPr>
          <p:cNvPr id="62" name="TextBox 61"/>
          <p:cNvSpPr txBox="1"/>
          <p:nvPr/>
        </p:nvSpPr>
        <p:spPr>
          <a:xfrm>
            <a:off x="411480" y="4828032"/>
            <a:ext cx="8183879" cy="201168"/>
          </a:xfrm>
          <a:prstGeom prst="rect">
            <a:avLst/>
          </a:prstGeom>
          <a:noFill/>
        </p:spPr>
        <p:txBody>
          <a:bodyPr wrap="square" lIns="0" tIns="0" rIns="0" bIns="0">
            <a:spAutoFit/>
          </a:bodyPr>
          <a:lstStyle/>
          <a:p>
            <a:pPr algn="l">
              <a:spcAft>
                <a:spcPts val="0"/>
              </a:spcAft>
              <a:defRPr sz="950" b="0">
                <a:solidFill>
                  <a:srgbClr val="53637C"/>
                </a:solidFill>
                <a:latin typeface="Aptos"/>
              </a:defRPr>
            </a:pPr>
            <a:r>
              <a:t>Theme: Future of Work &amp; Enterprise Productivity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5"/>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Workflow Rescue is an operator's recovery workspace for an order stranded between services.</a:t>
            </a:r>
          </a:p>
        </p:txBody>
      </p:sp>
      <p:sp>
        <p:nvSpPr>
          <p:cNvPr id="73" name="TextBox 72"/>
          <p:cNvSpPr txBox="1"/>
          <p:nvPr/>
        </p:nvSpPr>
        <p:spPr>
          <a:xfrm>
            <a:off x="393192" y="1682496"/>
            <a:ext cx="4480560" cy="1133856"/>
          </a:xfrm>
          <a:prstGeom prst="rect">
            <a:avLst/>
          </a:prstGeom>
          <a:noFill/>
        </p:spPr>
        <p:txBody>
          <a:bodyPr wrap="square" lIns="0" tIns="0" rIns="0" bIns="0">
            <a:spAutoFit/>
          </a:bodyPr>
          <a:lstStyle/>
          <a:p>
            <a:pPr algn="l">
              <a:spcAft>
                <a:spcPts val="0"/>
              </a:spcAft>
              <a:defRPr sz="2900" b="1">
                <a:solidFill>
                  <a:srgbClr val="172336"/>
                </a:solidFill>
                <a:latin typeface="Aptos"/>
              </a:defRPr>
            </a:pPr>
            <a:r>
              <a:t>Payment received.</a:t>
            </a:r>
          </a:p>
          <a:p>
            <a:pPr algn="l">
              <a:spcAft>
                <a:spcPts val="0"/>
              </a:spcAft>
              <a:defRPr sz="2900" b="1">
                <a:solidFill>
                  <a:srgbClr val="172336"/>
                </a:solidFill>
                <a:latin typeface="Aptos"/>
              </a:defRPr>
            </a:pPr>
            <a:r>
              <a:t>Order interrupted.</a:t>
            </a:r>
          </a:p>
        </p:txBody>
      </p:sp>
      <p:sp>
        <p:nvSpPr>
          <p:cNvPr id="74" name="TextBox 73"/>
          <p:cNvSpPr txBox="1"/>
          <p:nvPr/>
        </p:nvSpPr>
        <p:spPr>
          <a:xfrm>
            <a:off x="411480" y="2862072"/>
            <a:ext cx="4315968" cy="841248"/>
          </a:xfrm>
          <a:prstGeom prst="rect">
            <a:avLst/>
          </a:prstGeom>
          <a:noFill/>
        </p:spPr>
        <p:txBody>
          <a:bodyPr wrap="square" lIns="0" tIns="0" rIns="0" bIns="0">
            <a:spAutoFit/>
          </a:bodyPr>
          <a:lstStyle/>
          <a:p>
            <a:pPr algn="l">
              <a:spcAft>
                <a:spcPts val="0"/>
              </a:spcAft>
              <a:defRPr sz="1800" b="0">
                <a:solidFill>
                  <a:srgbClr val="172336"/>
                </a:solidFill>
                <a:latin typeface="Aptos"/>
              </a:defRPr>
            </a:pPr>
            <a:r>
              <a:t>An operations agent must reconcile the payment, find permitted stock and confirm what happened.</a:t>
            </a:r>
          </a:p>
        </p:txBody>
      </p:sp>
      <p:sp>
        <p:nvSpPr>
          <p:cNvPr id="75" name="Rounded Rectangle 74"/>
          <p:cNvSpPr/>
          <p:nvPr/>
        </p:nvSpPr>
        <p:spPr>
          <a:xfrm>
            <a:off x="384048" y="3858768"/>
            <a:ext cx="4352544" cy="603504"/>
          </a:xfrm>
          <a:prstGeom prst="roundRect">
            <a:avLst>
              <a:gd name="adj" fmla="val 90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48640" y="3968496"/>
            <a:ext cx="4023360" cy="429768"/>
          </a:xfrm>
          <a:prstGeom prst="rect">
            <a:avLst/>
          </a:prstGeom>
          <a:noFill/>
        </p:spPr>
        <p:txBody>
          <a:bodyPr wrap="square" lIns="0" tIns="0" rIns="0" bIns="0">
            <a:spAutoFit/>
          </a:bodyPr>
          <a:lstStyle/>
          <a:p>
            <a:pPr algn="l">
              <a:spcAft>
                <a:spcPts val="0"/>
              </a:spcAft>
              <a:defRPr sz="1400" b="1">
                <a:solidFill>
                  <a:srgbClr val="2864DF"/>
                </a:solidFill>
                <a:latin typeface="Aptos"/>
              </a:defRPr>
            </a:pPr>
            <a:r>
              <a:t>Demo mandate: original item, same price, at most one day late.</a:t>
            </a:r>
          </a:p>
        </p:txBody>
      </p:sp>
      <p:sp>
        <p:nvSpPr>
          <p:cNvPr id="77" name="Rounded Rectangle 76"/>
          <p:cNvSpPr/>
          <p:nvPr/>
        </p:nvSpPr>
        <p:spPr>
          <a:xfrm>
            <a:off x="5166360" y="1682496"/>
            <a:ext cx="3575304" cy="914400"/>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5166360" y="1682496"/>
            <a:ext cx="41148" cy="914400"/>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312664" y="1792224"/>
            <a:ext cx="3282696"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Reconstruct the facts</a:t>
            </a:r>
          </a:p>
        </p:txBody>
      </p:sp>
      <p:sp>
        <p:nvSpPr>
          <p:cNvPr id="80" name="TextBox 79"/>
          <p:cNvSpPr txBox="1"/>
          <p:nvPr/>
        </p:nvSpPr>
        <p:spPr>
          <a:xfrm>
            <a:off x="5312664" y="2212848"/>
            <a:ext cx="3282696" cy="301751"/>
          </a:xfrm>
          <a:prstGeom prst="rect">
            <a:avLst/>
          </a:prstGeom>
          <a:noFill/>
        </p:spPr>
        <p:txBody>
          <a:bodyPr wrap="square" lIns="0" tIns="0" rIns="0" bIns="0">
            <a:spAutoFit/>
          </a:bodyPr>
          <a:lstStyle/>
          <a:p>
            <a:pPr algn="l">
              <a:spcAft>
                <a:spcPts val="0"/>
              </a:spcAft>
              <a:defRPr sz="1250" b="0">
                <a:solidFill>
                  <a:srgbClr val="172336"/>
                </a:solidFill>
                <a:latin typeface="Aptos"/>
              </a:defRPr>
            </a:pPr>
            <a:r>
              <a:t>Read payment, stock and dispatch.</a:t>
            </a:r>
          </a:p>
        </p:txBody>
      </p:sp>
      <p:sp>
        <p:nvSpPr>
          <p:cNvPr id="81" name="Rounded Rectangle 80"/>
          <p:cNvSpPr/>
          <p:nvPr/>
        </p:nvSpPr>
        <p:spPr>
          <a:xfrm>
            <a:off x="5166360" y="2679192"/>
            <a:ext cx="3575304" cy="914400"/>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5166360" y="2679192"/>
            <a:ext cx="41148" cy="914400"/>
          </a:xfrm>
          <a:prstGeom prst="rect">
            <a:avLst/>
          </a:prstGeom>
          <a:solidFill>
            <a:srgbClr val="755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312664" y="2788920"/>
            <a:ext cx="3282696" cy="384048"/>
          </a:xfrm>
          <a:prstGeom prst="rect">
            <a:avLst/>
          </a:prstGeom>
          <a:noFill/>
        </p:spPr>
        <p:txBody>
          <a:bodyPr wrap="square" lIns="0" tIns="0" rIns="0" bIns="0">
            <a:spAutoFit/>
          </a:bodyPr>
          <a:lstStyle/>
          <a:p>
            <a:pPr algn="l">
              <a:spcAft>
                <a:spcPts val="0"/>
              </a:spcAft>
              <a:defRPr sz="1350" b="1">
                <a:solidFill>
                  <a:srgbClr val="7557DD"/>
                </a:solidFill>
                <a:latin typeface="Aptos"/>
              </a:defRPr>
            </a:pPr>
            <a:r>
              <a:t>Recover within authority</a:t>
            </a:r>
          </a:p>
        </p:txBody>
      </p:sp>
      <p:sp>
        <p:nvSpPr>
          <p:cNvPr id="84" name="TextBox 83"/>
          <p:cNvSpPr txBox="1"/>
          <p:nvPr/>
        </p:nvSpPr>
        <p:spPr>
          <a:xfrm>
            <a:off x="5312664" y="3209544"/>
            <a:ext cx="3282696" cy="301751"/>
          </a:xfrm>
          <a:prstGeom prst="rect">
            <a:avLst/>
          </a:prstGeom>
          <a:noFill/>
        </p:spPr>
        <p:txBody>
          <a:bodyPr wrap="square" lIns="0" tIns="0" rIns="0" bIns="0">
            <a:spAutoFit/>
          </a:bodyPr>
          <a:lstStyle/>
          <a:p>
            <a:pPr algn="l">
              <a:spcAft>
                <a:spcPts val="0"/>
              </a:spcAft>
              <a:defRPr sz="1250" b="0">
                <a:solidFill>
                  <a:srgbClr val="172336"/>
                </a:solidFill>
                <a:latin typeface="Aptos"/>
              </a:defRPr>
            </a:pPr>
            <a:r>
              <a:t>Gemini proposes; code controls writes.</a:t>
            </a:r>
          </a:p>
        </p:txBody>
      </p:sp>
      <p:sp>
        <p:nvSpPr>
          <p:cNvPr id="85" name="Rounded Rectangle 84"/>
          <p:cNvSpPr/>
          <p:nvPr/>
        </p:nvSpPr>
        <p:spPr>
          <a:xfrm>
            <a:off x="5166360" y="3675887"/>
            <a:ext cx="3575304" cy="914400"/>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166360" y="3675887"/>
            <a:ext cx="41148" cy="914400"/>
          </a:xfrm>
          <a:prstGeom prst="rect">
            <a:avLst/>
          </a:prstGeom>
          <a:solidFill>
            <a:srgbClr val="16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5312664" y="3785615"/>
            <a:ext cx="3282696" cy="384048"/>
          </a:xfrm>
          <a:prstGeom prst="rect">
            <a:avLst/>
          </a:prstGeom>
          <a:noFill/>
        </p:spPr>
        <p:txBody>
          <a:bodyPr wrap="square" lIns="0" tIns="0" rIns="0" bIns="0">
            <a:spAutoFit/>
          </a:bodyPr>
          <a:lstStyle/>
          <a:p>
            <a:pPr algn="l">
              <a:spcAft>
                <a:spcPts val="0"/>
              </a:spcAft>
              <a:defRPr sz="1350" b="1">
                <a:solidFill>
                  <a:srgbClr val="16845A"/>
                </a:solidFill>
                <a:latin typeface="Aptos"/>
              </a:defRPr>
            </a:pPr>
            <a:r>
              <a:t>Verify the outcome</a:t>
            </a:r>
          </a:p>
        </p:txBody>
      </p:sp>
      <p:sp>
        <p:nvSpPr>
          <p:cNvPr id="88" name="TextBox 87"/>
          <p:cNvSpPr txBox="1"/>
          <p:nvPr/>
        </p:nvSpPr>
        <p:spPr>
          <a:xfrm>
            <a:off x="5312664" y="4206240"/>
            <a:ext cx="3282696" cy="301751"/>
          </a:xfrm>
          <a:prstGeom prst="rect">
            <a:avLst/>
          </a:prstGeom>
          <a:noFill/>
        </p:spPr>
        <p:txBody>
          <a:bodyPr wrap="square" lIns="0" tIns="0" rIns="0" bIns="0">
            <a:spAutoFit/>
          </a:bodyPr>
          <a:lstStyle/>
          <a:p>
            <a:pPr algn="l">
              <a:spcAft>
                <a:spcPts val="0"/>
              </a:spcAft>
              <a:defRPr sz="1250" b="0">
                <a:solidFill>
                  <a:srgbClr val="172336"/>
                </a:solidFill>
                <a:latin typeface="Aptos"/>
              </a:defRPr>
            </a:pPr>
            <a:r>
              <a:t>Confirm the state or request review.</a:t>
            </a:r>
          </a:p>
        </p:txBody>
      </p:sp>
      <p:sp>
        <p:nvSpPr>
          <p:cNvPr id="89" name="TextBox 88"/>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Synthetic business services. No production customer data.</a:t>
            </a:r>
          </a:p>
        </p:txBody>
      </p:sp>
      <p:sp>
        <p:nvSpPr>
          <p:cNvPr id="90" name="TextBox 89"/>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6"/>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Opportunities</a:t>
            </a:r>
            <a:endParaRPr sz="1600">
              <a:latin typeface="Google Sans Flex SemiBold"/>
              <a:ea typeface="Google Sans Flex SemiBold"/>
              <a:cs typeface="Google Sans Flex SemiBold"/>
              <a:sym typeface="Google Sans Flex SemiBold"/>
            </a:endParaRPr>
          </a:p>
        </p:txBody>
      </p:sp>
      <p:sp>
        <p:nvSpPr>
          <p:cNvPr id="80" name="TextBox 79"/>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An evidence-linked recovery layer for the operator who must decide what happens next.</a:t>
            </a:r>
          </a:p>
        </p:txBody>
      </p:sp>
      <p:sp>
        <p:nvSpPr>
          <p:cNvPr id="81" name="Rounded Rectangle 80"/>
          <p:cNvSpPr/>
          <p:nvPr/>
        </p:nvSpPr>
        <p:spPr>
          <a:xfrm>
            <a:off x="393192" y="1709928"/>
            <a:ext cx="2660904" cy="248716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393192" y="1709928"/>
            <a:ext cx="41148" cy="2487168"/>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39496" y="1819656"/>
            <a:ext cx="2368296" cy="384048"/>
          </a:xfrm>
          <a:prstGeom prst="rect">
            <a:avLst/>
          </a:prstGeom>
          <a:noFill/>
        </p:spPr>
        <p:txBody>
          <a:bodyPr wrap="square" lIns="0" tIns="0" rIns="0" bIns="0">
            <a:spAutoFit/>
          </a:bodyPr>
          <a:lstStyle/>
          <a:p>
            <a:pPr algn="l">
              <a:spcAft>
                <a:spcPts val="0"/>
              </a:spcAft>
              <a:defRPr sz="1500" b="1">
                <a:solidFill>
                  <a:srgbClr val="2864DF"/>
                </a:solidFill>
                <a:latin typeface="Aptos"/>
              </a:defRPr>
            </a:pPr>
            <a:r>
              <a:t>How different is it?</a:t>
            </a:r>
          </a:p>
        </p:txBody>
      </p:sp>
      <p:sp>
        <p:nvSpPr>
          <p:cNvPr id="84" name="TextBox 83"/>
          <p:cNvSpPr txBox="1"/>
          <p:nvPr/>
        </p:nvSpPr>
        <p:spPr>
          <a:xfrm>
            <a:off x="539496" y="2240280"/>
            <a:ext cx="2368296" cy="1874520"/>
          </a:xfrm>
          <a:prstGeom prst="rect">
            <a:avLst/>
          </a:prstGeom>
          <a:noFill/>
        </p:spPr>
        <p:txBody>
          <a:bodyPr wrap="square" lIns="0" tIns="0" rIns="0" bIns="0">
            <a:spAutoFit/>
          </a:bodyPr>
          <a:lstStyle/>
          <a:p>
            <a:pPr algn="l">
              <a:spcAft>
                <a:spcPts val="0"/>
              </a:spcAft>
              <a:defRPr sz="1300" b="0">
                <a:solidFill>
                  <a:srgbClr val="172336"/>
                </a:solidFill>
                <a:latin typeface="Aptos"/>
              </a:defRPr>
            </a:pPr>
            <a:r>
              <a:t>Beyond a retry button: a stock conflict triggers fresh evidence and a revised proposal.</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Designed to complement existing workflow engines.</a:t>
            </a:r>
          </a:p>
        </p:txBody>
      </p:sp>
      <p:sp>
        <p:nvSpPr>
          <p:cNvPr id="85" name="Rounded Rectangle 84"/>
          <p:cNvSpPr/>
          <p:nvPr/>
        </p:nvSpPr>
        <p:spPr>
          <a:xfrm>
            <a:off x="3236976" y="1709928"/>
            <a:ext cx="2660904" cy="248716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3236976" y="1709928"/>
            <a:ext cx="41148" cy="2487168"/>
          </a:xfrm>
          <a:prstGeom prst="rect">
            <a:avLst/>
          </a:prstGeom>
          <a:solidFill>
            <a:srgbClr val="755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3383280" y="1819656"/>
            <a:ext cx="2368296" cy="384048"/>
          </a:xfrm>
          <a:prstGeom prst="rect">
            <a:avLst/>
          </a:prstGeom>
          <a:noFill/>
        </p:spPr>
        <p:txBody>
          <a:bodyPr wrap="square" lIns="0" tIns="0" rIns="0" bIns="0">
            <a:spAutoFit/>
          </a:bodyPr>
          <a:lstStyle/>
          <a:p>
            <a:pPr algn="l">
              <a:spcAft>
                <a:spcPts val="0"/>
              </a:spcAft>
              <a:defRPr sz="1500" b="1">
                <a:solidFill>
                  <a:srgbClr val="7557DD"/>
                </a:solidFill>
                <a:latin typeface="Aptos"/>
              </a:defRPr>
            </a:pPr>
            <a:r>
              <a:t>How does it solve it?</a:t>
            </a:r>
          </a:p>
        </p:txBody>
      </p:sp>
      <p:sp>
        <p:nvSpPr>
          <p:cNvPr id="88" name="TextBox 87"/>
          <p:cNvSpPr txBox="1"/>
          <p:nvPr/>
        </p:nvSpPr>
        <p:spPr>
          <a:xfrm>
            <a:off x="3383280" y="2240280"/>
            <a:ext cx="2368296" cy="1874520"/>
          </a:xfrm>
          <a:prstGeom prst="rect">
            <a:avLst/>
          </a:prstGeom>
          <a:noFill/>
        </p:spPr>
        <p:txBody>
          <a:bodyPr wrap="square" lIns="0" tIns="0" rIns="0" bIns="0">
            <a:spAutoFit/>
          </a:bodyPr>
          <a:lstStyle/>
          <a:p>
            <a:pPr algn="l">
              <a:spcAft>
                <a:spcPts val="0"/>
              </a:spcAft>
              <a:defRPr sz="1300" b="0">
                <a:solidFill>
                  <a:srgbClr val="172336"/>
                </a:solidFill>
                <a:latin typeface="Aptos"/>
              </a:defRPr>
            </a:pPr>
            <a:r>
              <a:t>Join customer permission, authoritative receipts and guarded execution in one incident.</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Uncertainty becomes an explicit handoff.</a:t>
            </a:r>
          </a:p>
        </p:txBody>
      </p:sp>
      <p:sp>
        <p:nvSpPr>
          <p:cNvPr id="89" name="Rounded Rectangle 88"/>
          <p:cNvSpPr/>
          <p:nvPr/>
        </p:nvSpPr>
        <p:spPr>
          <a:xfrm>
            <a:off x="6080760" y="1709928"/>
            <a:ext cx="2660904" cy="248716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6080760" y="1709928"/>
            <a:ext cx="41148" cy="2487168"/>
          </a:xfrm>
          <a:prstGeom prst="rect">
            <a:avLst/>
          </a:prstGeom>
          <a:solidFill>
            <a:srgbClr val="16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6227064" y="1819656"/>
            <a:ext cx="2368296" cy="384048"/>
          </a:xfrm>
          <a:prstGeom prst="rect">
            <a:avLst/>
          </a:prstGeom>
          <a:noFill/>
        </p:spPr>
        <p:txBody>
          <a:bodyPr wrap="square" lIns="0" tIns="0" rIns="0" bIns="0">
            <a:spAutoFit/>
          </a:bodyPr>
          <a:lstStyle/>
          <a:p>
            <a:pPr algn="l">
              <a:spcAft>
                <a:spcPts val="0"/>
              </a:spcAft>
              <a:defRPr sz="1500" b="1">
                <a:solidFill>
                  <a:srgbClr val="16845A"/>
                </a:solidFill>
                <a:latin typeface="Aptos"/>
              </a:defRPr>
            </a:pPr>
            <a:r>
              <a:t>USP of the solution</a:t>
            </a:r>
          </a:p>
        </p:txBody>
      </p:sp>
      <p:sp>
        <p:nvSpPr>
          <p:cNvPr id="92" name="TextBox 91"/>
          <p:cNvSpPr txBox="1"/>
          <p:nvPr/>
        </p:nvSpPr>
        <p:spPr>
          <a:xfrm>
            <a:off x="6227064" y="2240280"/>
            <a:ext cx="2368296" cy="1874520"/>
          </a:xfrm>
          <a:prstGeom prst="rect">
            <a:avLst/>
          </a:prstGeom>
          <a:noFill/>
        </p:spPr>
        <p:txBody>
          <a:bodyPr wrap="square" lIns="0" tIns="0" rIns="0" bIns="0">
            <a:spAutoFit/>
          </a:bodyPr>
          <a:lstStyle/>
          <a:p>
            <a:pPr algn="l">
              <a:spcAft>
                <a:spcPts val="0"/>
              </a:spcAft>
              <a:defRPr sz="1300" b="0">
                <a:solidFill>
                  <a:srgbClr val="172336"/>
                </a:solidFill>
                <a:latin typeface="Aptos"/>
              </a:defRPr>
            </a:pPr>
            <a:r>
              <a:t>Writes require valid evidence. Completed recoveries pass independent checks.</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Operators and reviewers inspect the same record.</a:t>
            </a:r>
          </a:p>
        </p:txBody>
      </p:sp>
      <p:sp>
        <p:nvSpPr>
          <p:cNvPr id="93" name="TextBox 92"/>
          <p:cNvSpPr txBox="1"/>
          <p:nvPr/>
        </p:nvSpPr>
        <p:spPr>
          <a:xfrm>
            <a:off x="457200" y="4325112"/>
            <a:ext cx="8138160" cy="274320"/>
          </a:xfrm>
          <a:prstGeom prst="rect">
            <a:avLst/>
          </a:prstGeom>
          <a:noFill/>
        </p:spPr>
        <p:txBody>
          <a:bodyPr wrap="square" lIns="0" tIns="0" rIns="0" bIns="0">
            <a:spAutoFit/>
          </a:bodyPr>
          <a:lstStyle/>
          <a:p>
            <a:pPr algn="l">
              <a:spcAft>
                <a:spcPts val="0"/>
              </a:spcAft>
              <a:defRPr sz="1100" b="0">
                <a:solidFill>
                  <a:srgbClr val="53637C"/>
                </a:solidFill>
                <a:latin typeface="Aptos"/>
              </a:defRPr>
            </a:pPr>
            <a:r>
              <a:t>Target users: order operations • finance reconciliation • engineering reliability • internal control review</a:t>
            </a:r>
          </a:p>
        </p:txBody>
      </p:sp>
      <p:sp>
        <p:nvSpPr>
          <p:cNvPr id="94" name="TextBox 93"/>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Adoption requires the app owner's scoped API permissions. No authority over third-party transactions.</a:t>
            </a:r>
          </a:p>
        </p:txBody>
      </p:sp>
      <p:sp>
        <p:nvSpPr>
          <p:cNvPr id="95" name="TextBox 94"/>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7"/>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One incident, from customer intent to an inspectable business outcome.</a:t>
            </a:r>
          </a:p>
        </p:txBody>
      </p:sp>
      <p:sp>
        <p:nvSpPr>
          <p:cNvPr id="89" name="Rounded Rectangle 88"/>
          <p:cNvSpPr/>
          <p:nvPr/>
        </p:nvSpPr>
        <p:spPr>
          <a:xfrm>
            <a:off x="393192" y="1673352"/>
            <a:ext cx="2660904" cy="129844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393192" y="1673352"/>
            <a:ext cx="41148" cy="1298448"/>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39496" y="1783080"/>
            <a:ext cx="2368296"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01  Custom incidents</a:t>
            </a:r>
          </a:p>
        </p:txBody>
      </p:sp>
      <p:sp>
        <p:nvSpPr>
          <p:cNvPr id="92" name="TextBox 91"/>
          <p:cNvSpPr txBox="1"/>
          <p:nvPr/>
        </p:nvSpPr>
        <p:spPr>
          <a:xfrm>
            <a:off x="539496" y="2203704"/>
            <a:ext cx="2368296" cy="685799"/>
          </a:xfrm>
          <a:prstGeom prst="rect">
            <a:avLst/>
          </a:prstGeom>
          <a:noFill/>
        </p:spPr>
        <p:txBody>
          <a:bodyPr wrap="square" lIns="0" tIns="0" rIns="0" bIns="0">
            <a:spAutoFit/>
          </a:bodyPr>
          <a:lstStyle/>
          <a:p>
            <a:pPr algn="l">
              <a:spcAft>
                <a:spcPts val="0"/>
              </a:spcAft>
              <a:defRPr sz="1300" b="0">
                <a:solidFill>
                  <a:srgbClr val="172336"/>
                </a:solidFill>
                <a:latin typeface="Aptos"/>
              </a:defRPr>
            </a:pPr>
            <a:r>
              <a:t>Edit synthetic evidence and permissions, or import JSON.</a:t>
            </a:r>
          </a:p>
        </p:txBody>
      </p:sp>
      <p:sp>
        <p:nvSpPr>
          <p:cNvPr id="93" name="Rounded Rectangle 92"/>
          <p:cNvSpPr/>
          <p:nvPr/>
        </p:nvSpPr>
        <p:spPr>
          <a:xfrm>
            <a:off x="3236976" y="1673352"/>
            <a:ext cx="2660904" cy="129844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3236976" y="1673352"/>
            <a:ext cx="41148" cy="1298448"/>
          </a:xfrm>
          <a:prstGeom prst="rect">
            <a:avLst/>
          </a:prstGeom>
          <a:solidFill>
            <a:srgbClr val="755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3383280" y="1783080"/>
            <a:ext cx="2368296" cy="384048"/>
          </a:xfrm>
          <a:prstGeom prst="rect">
            <a:avLst/>
          </a:prstGeom>
          <a:noFill/>
        </p:spPr>
        <p:txBody>
          <a:bodyPr wrap="square" lIns="0" tIns="0" rIns="0" bIns="0">
            <a:spAutoFit/>
          </a:bodyPr>
          <a:lstStyle/>
          <a:p>
            <a:pPr algn="l">
              <a:spcAft>
                <a:spcPts val="0"/>
              </a:spcAft>
              <a:defRPr sz="1350" b="1">
                <a:solidFill>
                  <a:srgbClr val="7557DD"/>
                </a:solidFill>
                <a:latin typeface="Aptos"/>
              </a:defRPr>
            </a:pPr>
            <a:r>
              <a:t>02  Evidence gathering</a:t>
            </a:r>
          </a:p>
        </p:txBody>
      </p:sp>
      <p:sp>
        <p:nvSpPr>
          <p:cNvPr id="96" name="TextBox 95"/>
          <p:cNvSpPr txBox="1"/>
          <p:nvPr/>
        </p:nvSpPr>
        <p:spPr>
          <a:xfrm>
            <a:off x="3383280" y="2203704"/>
            <a:ext cx="2368296" cy="685799"/>
          </a:xfrm>
          <a:prstGeom prst="rect">
            <a:avLst/>
          </a:prstGeom>
          <a:noFill/>
        </p:spPr>
        <p:txBody>
          <a:bodyPr wrap="square" lIns="0" tIns="0" rIns="0" bIns="0">
            <a:spAutoFit/>
          </a:bodyPr>
          <a:lstStyle/>
          <a:p>
            <a:pPr algn="l">
              <a:spcAft>
                <a:spcPts val="0"/>
              </a:spcAft>
              <a:defRPr sz="1300" b="0">
                <a:solidFill>
                  <a:srgbClr val="172336"/>
                </a:solidFill>
                <a:latin typeface="Aptos"/>
              </a:defRPr>
            </a:pPr>
            <a:r>
              <a:t>Read payment, inventory and dispatch before planning.</a:t>
            </a:r>
          </a:p>
        </p:txBody>
      </p:sp>
      <p:sp>
        <p:nvSpPr>
          <p:cNvPr id="97" name="Rounded Rectangle 96"/>
          <p:cNvSpPr/>
          <p:nvPr/>
        </p:nvSpPr>
        <p:spPr>
          <a:xfrm>
            <a:off x="6080759" y="1673352"/>
            <a:ext cx="2660904" cy="129844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6080759" y="1673352"/>
            <a:ext cx="41148" cy="1298448"/>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6227064" y="1783080"/>
            <a:ext cx="2368296"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03  Adaptive recovery</a:t>
            </a:r>
          </a:p>
        </p:txBody>
      </p:sp>
      <p:sp>
        <p:nvSpPr>
          <p:cNvPr id="100" name="TextBox 99"/>
          <p:cNvSpPr txBox="1"/>
          <p:nvPr/>
        </p:nvSpPr>
        <p:spPr>
          <a:xfrm>
            <a:off x="6227064" y="2203704"/>
            <a:ext cx="2368296" cy="685799"/>
          </a:xfrm>
          <a:prstGeom prst="rect">
            <a:avLst/>
          </a:prstGeom>
          <a:noFill/>
        </p:spPr>
        <p:txBody>
          <a:bodyPr wrap="square" lIns="0" tIns="0" rIns="0" bIns="0">
            <a:spAutoFit/>
          </a:bodyPr>
          <a:lstStyle/>
          <a:p>
            <a:pPr algn="l">
              <a:spcAft>
                <a:spcPts val="0"/>
              </a:spcAft>
              <a:defRPr sz="1300" b="0">
                <a:solidFill>
                  <a:srgbClr val="172336"/>
                </a:solidFill>
                <a:latin typeface="Aptos"/>
              </a:defRPr>
            </a:pPr>
            <a:r>
              <a:t>Refresh evidence and replan when stock changes.</a:t>
            </a:r>
          </a:p>
        </p:txBody>
      </p:sp>
      <p:sp>
        <p:nvSpPr>
          <p:cNvPr id="101" name="Rounded Rectangle 100"/>
          <p:cNvSpPr/>
          <p:nvPr/>
        </p:nvSpPr>
        <p:spPr>
          <a:xfrm>
            <a:off x="393192" y="3118104"/>
            <a:ext cx="2660904" cy="129844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393192" y="3118104"/>
            <a:ext cx="41148" cy="1298448"/>
          </a:xfrm>
          <a:prstGeom prst="rect">
            <a:avLst/>
          </a:prstGeom>
          <a:solidFill>
            <a:srgbClr val="16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539496" y="3227832"/>
            <a:ext cx="2368296" cy="384048"/>
          </a:xfrm>
          <a:prstGeom prst="rect">
            <a:avLst/>
          </a:prstGeom>
          <a:noFill/>
        </p:spPr>
        <p:txBody>
          <a:bodyPr wrap="square" lIns="0" tIns="0" rIns="0" bIns="0">
            <a:spAutoFit/>
          </a:bodyPr>
          <a:lstStyle/>
          <a:p>
            <a:pPr algn="l">
              <a:spcAft>
                <a:spcPts val="0"/>
              </a:spcAft>
              <a:defRPr sz="1350" b="1">
                <a:solidFill>
                  <a:srgbClr val="16845A"/>
                </a:solidFill>
                <a:latin typeface="Aptos"/>
              </a:defRPr>
            </a:pPr>
            <a:r>
              <a:t>04  Execution guards</a:t>
            </a:r>
          </a:p>
        </p:txBody>
      </p:sp>
      <p:sp>
        <p:nvSpPr>
          <p:cNvPr id="104" name="TextBox 103"/>
          <p:cNvSpPr txBox="1"/>
          <p:nvPr/>
        </p:nvSpPr>
        <p:spPr>
          <a:xfrm>
            <a:off x="539496" y="3648456"/>
            <a:ext cx="2368296" cy="685799"/>
          </a:xfrm>
          <a:prstGeom prst="rect">
            <a:avLst/>
          </a:prstGeom>
          <a:noFill/>
        </p:spPr>
        <p:txBody>
          <a:bodyPr wrap="square" lIns="0" tIns="0" rIns="0" bIns="0">
            <a:spAutoFit/>
          </a:bodyPr>
          <a:lstStyle/>
          <a:p>
            <a:pPr algn="l">
              <a:spcAft>
                <a:spcPts val="0"/>
              </a:spcAft>
              <a:defRPr sz="1300" b="0">
                <a:solidFill>
                  <a:srgbClr val="172336"/>
                </a:solidFill>
                <a:latin typeface="Aptos"/>
              </a:defRPr>
            </a:pPr>
            <a:r>
              <a:t>Enforce evidence, permissions, versions and idempotency.</a:t>
            </a:r>
          </a:p>
        </p:txBody>
      </p:sp>
      <p:sp>
        <p:nvSpPr>
          <p:cNvPr id="105" name="Rounded Rectangle 104"/>
          <p:cNvSpPr/>
          <p:nvPr/>
        </p:nvSpPr>
        <p:spPr>
          <a:xfrm>
            <a:off x="3236976" y="3118104"/>
            <a:ext cx="2660904" cy="129844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3236976" y="3118104"/>
            <a:ext cx="41148" cy="1298448"/>
          </a:xfrm>
          <a:prstGeom prst="rect">
            <a:avLst/>
          </a:prstGeom>
          <a:solidFill>
            <a:srgbClr val="16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3383280" y="3227832"/>
            <a:ext cx="2368296" cy="384048"/>
          </a:xfrm>
          <a:prstGeom prst="rect">
            <a:avLst/>
          </a:prstGeom>
          <a:noFill/>
        </p:spPr>
        <p:txBody>
          <a:bodyPr wrap="square" lIns="0" tIns="0" rIns="0" bIns="0">
            <a:spAutoFit/>
          </a:bodyPr>
          <a:lstStyle/>
          <a:p>
            <a:pPr algn="l">
              <a:spcAft>
                <a:spcPts val="0"/>
              </a:spcAft>
              <a:defRPr sz="1350" b="1">
                <a:solidFill>
                  <a:srgbClr val="16845A"/>
                </a:solidFill>
                <a:latin typeface="Aptos"/>
              </a:defRPr>
            </a:pPr>
            <a:r>
              <a:t>05  Outcome checks</a:t>
            </a:r>
          </a:p>
        </p:txBody>
      </p:sp>
      <p:sp>
        <p:nvSpPr>
          <p:cNvPr id="108" name="TextBox 107"/>
          <p:cNvSpPr txBox="1"/>
          <p:nvPr/>
        </p:nvSpPr>
        <p:spPr>
          <a:xfrm>
            <a:off x="3383280" y="3648456"/>
            <a:ext cx="2368296" cy="685799"/>
          </a:xfrm>
          <a:prstGeom prst="rect">
            <a:avLst/>
          </a:prstGeom>
          <a:noFill/>
        </p:spPr>
        <p:txBody>
          <a:bodyPr wrap="square" lIns="0" tIns="0" rIns="0" bIns="0">
            <a:spAutoFit/>
          </a:bodyPr>
          <a:lstStyle/>
          <a:p>
            <a:pPr algn="l">
              <a:spcAft>
                <a:spcPts val="0"/>
              </a:spcAft>
              <a:defRPr sz="1300" b="0">
                <a:solidFill>
                  <a:srgbClr val="172336"/>
                </a:solidFill>
                <a:latin typeface="Aptos"/>
              </a:defRPr>
            </a:pPr>
            <a:r>
              <a:t>Verify the business state or escalate for review.</a:t>
            </a:r>
          </a:p>
        </p:txBody>
      </p:sp>
      <p:sp>
        <p:nvSpPr>
          <p:cNvPr id="109" name="Rounded Rectangle 108"/>
          <p:cNvSpPr/>
          <p:nvPr/>
        </p:nvSpPr>
        <p:spPr>
          <a:xfrm>
            <a:off x="6080759" y="3118104"/>
            <a:ext cx="2660904" cy="129844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6080759" y="3118104"/>
            <a:ext cx="41148" cy="1298448"/>
          </a:xfrm>
          <a:prstGeom prst="rect">
            <a:avLst/>
          </a:prstGeom>
          <a:solidFill>
            <a:srgbClr val="755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6227064" y="3227832"/>
            <a:ext cx="2368296" cy="384048"/>
          </a:xfrm>
          <a:prstGeom prst="rect">
            <a:avLst/>
          </a:prstGeom>
          <a:noFill/>
        </p:spPr>
        <p:txBody>
          <a:bodyPr wrap="square" lIns="0" tIns="0" rIns="0" bIns="0">
            <a:spAutoFit/>
          </a:bodyPr>
          <a:lstStyle/>
          <a:p>
            <a:pPr algn="l">
              <a:spcAft>
                <a:spcPts val="0"/>
              </a:spcAft>
              <a:defRPr sz="1350" b="1">
                <a:solidFill>
                  <a:srgbClr val="7557DD"/>
                </a:solidFill>
                <a:latin typeface="Aptos"/>
              </a:defRPr>
            </a:pPr>
            <a:r>
              <a:t>06  Audit and history</a:t>
            </a:r>
          </a:p>
        </p:txBody>
      </p:sp>
      <p:sp>
        <p:nvSpPr>
          <p:cNvPr id="112" name="TextBox 111"/>
          <p:cNvSpPr txBox="1"/>
          <p:nvPr/>
        </p:nvSpPr>
        <p:spPr>
          <a:xfrm>
            <a:off x="6227064" y="3648456"/>
            <a:ext cx="2368296" cy="685799"/>
          </a:xfrm>
          <a:prstGeom prst="rect">
            <a:avLst/>
          </a:prstGeom>
          <a:noFill/>
        </p:spPr>
        <p:txBody>
          <a:bodyPr wrap="square" lIns="0" tIns="0" rIns="0" bIns="0">
            <a:spAutoFit/>
          </a:bodyPr>
          <a:lstStyle/>
          <a:p>
            <a:pPr algn="l">
              <a:spcAft>
                <a:spcPts val="0"/>
              </a:spcAft>
              <a:defRPr sz="1300" b="0">
                <a:solidFill>
                  <a:srgbClr val="172336"/>
                </a:solidFill>
                <a:latin typeface="Aptos"/>
              </a:defRPr>
            </a:pPr>
            <a:r>
              <a:t>Inspect receipts, replay events and export the audit.</a:t>
            </a:r>
          </a:p>
        </p:txBody>
      </p:sp>
      <p:sp>
        <p:nvSpPr>
          <p:cNvPr id="113" name="TextBox 112"/>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Replay is read-only playback of recorded events. A fresh run makes new model calls.</a:t>
            </a:r>
          </a:p>
        </p:txBody>
      </p:sp>
      <p:sp>
        <p:nvSpPr>
          <p:cNvPr id="114" name="TextBox 113"/>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8"/>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The controller gathers mandatory evidence; Gemini chooses a recovery and adapts to change.</a:t>
            </a:r>
          </a:p>
        </p:txBody>
      </p:sp>
      <p:sp>
        <p:nvSpPr>
          <p:cNvPr id="97" name="Rounded Rectangle 96"/>
          <p:cNvSpPr/>
          <p:nvPr/>
        </p:nvSpPr>
        <p:spPr>
          <a:xfrm>
            <a:off x="411480" y="1737360"/>
            <a:ext cx="2258568" cy="1133856"/>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411480" y="1737360"/>
            <a:ext cx="41148" cy="1133856"/>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557784" y="1847088"/>
            <a:ext cx="1965960"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1  Incident + mandate</a:t>
            </a:r>
          </a:p>
        </p:txBody>
      </p:sp>
      <p:sp>
        <p:nvSpPr>
          <p:cNvPr id="100" name="TextBox 99"/>
          <p:cNvSpPr txBox="1"/>
          <p:nvPr/>
        </p:nvSpPr>
        <p:spPr>
          <a:xfrm>
            <a:off x="557784" y="2267712"/>
            <a:ext cx="1965960" cy="521207"/>
          </a:xfrm>
          <a:prstGeom prst="rect">
            <a:avLst/>
          </a:prstGeom>
          <a:noFill/>
        </p:spPr>
        <p:txBody>
          <a:bodyPr wrap="square" lIns="0" tIns="0" rIns="0" bIns="0">
            <a:spAutoFit/>
          </a:bodyPr>
          <a:lstStyle/>
          <a:p>
            <a:pPr algn="l">
              <a:spcAft>
                <a:spcPts val="0"/>
              </a:spcAft>
              <a:defRPr sz="1150" b="0">
                <a:solidFill>
                  <a:srgbClr val="172336"/>
                </a:solidFill>
                <a:latin typeface="Aptos"/>
              </a:defRPr>
            </a:pPr>
            <a:r>
              <a:t>Operator edits or imports</a:t>
            </a:r>
          </a:p>
          <a:p>
            <a:pPr algn="l">
              <a:spcAft>
                <a:spcPts val="0"/>
              </a:spcAft>
              <a:defRPr sz="1150" b="0">
                <a:solidFill>
                  <a:srgbClr val="172336"/>
                </a:solidFill>
                <a:latin typeface="Aptos"/>
              </a:defRPr>
            </a:pPr>
            <a:r>
              <a:t>a synthetic incident.</a:t>
            </a:r>
          </a:p>
        </p:txBody>
      </p:sp>
      <p:sp>
        <p:nvSpPr>
          <p:cNvPr id="101" name="Rounded Rectangle 100"/>
          <p:cNvSpPr/>
          <p:nvPr/>
        </p:nvSpPr>
        <p:spPr>
          <a:xfrm>
            <a:off x="3438144" y="1737360"/>
            <a:ext cx="2258568" cy="1133856"/>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3438144" y="1737360"/>
            <a:ext cx="41148" cy="1133856"/>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3584448" y="1847088"/>
            <a:ext cx="1965960"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2  Controller observes</a:t>
            </a:r>
          </a:p>
        </p:txBody>
      </p:sp>
      <p:sp>
        <p:nvSpPr>
          <p:cNvPr id="104" name="TextBox 103"/>
          <p:cNvSpPr txBox="1"/>
          <p:nvPr/>
        </p:nvSpPr>
        <p:spPr>
          <a:xfrm>
            <a:off x="3584448" y="2267712"/>
            <a:ext cx="1965960" cy="521207"/>
          </a:xfrm>
          <a:prstGeom prst="rect">
            <a:avLst/>
          </a:prstGeom>
          <a:noFill/>
        </p:spPr>
        <p:txBody>
          <a:bodyPr wrap="square" lIns="0" tIns="0" rIns="0" bIns="0">
            <a:spAutoFit/>
          </a:bodyPr>
          <a:lstStyle/>
          <a:p>
            <a:pPr algn="l">
              <a:spcAft>
                <a:spcPts val="0"/>
              </a:spcAft>
              <a:defRPr sz="1150" b="0">
                <a:solidFill>
                  <a:srgbClr val="172336"/>
                </a:solidFill>
                <a:latin typeface="Aptos"/>
              </a:defRPr>
            </a:pPr>
            <a:r>
              <a:t>Mandatory payment, stock</a:t>
            </a:r>
          </a:p>
          <a:p>
            <a:pPr algn="l">
              <a:spcAft>
                <a:spcPts val="0"/>
              </a:spcAft>
              <a:defRPr sz="1150" b="0">
                <a:solidFill>
                  <a:srgbClr val="172336"/>
                </a:solidFill>
                <a:latin typeface="Aptos"/>
              </a:defRPr>
            </a:pPr>
            <a:r>
              <a:t>and dispatch reads.</a:t>
            </a:r>
          </a:p>
        </p:txBody>
      </p:sp>
      <p:sp>
        <p:nvSpPr>
          <p:cNvPr id="105" name="Rounded Rectangle 104"/>
          <p:cNvSpPr/>
          <p:nvPr/>
        </p:nvSpPr>
        <p:spPr>
          <a:xfrm>
            <a:off x="6464808" y="1737360"/>
            <a:ext cx="2258568" cy="1133856"/>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6464808" y="1737360"/>
            <a:ext cx="41148" cy="1133856"/>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611112" y="1847088"/>
            <a:ext cx="1965960"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3  Gemini proposes</a:t>
            </a:r>
          </a:p>
        </p:txBody>
      </p:sp>
      <p:sp>
        <p:nvSpPr>
          <p:cNvPr id="108" name="TextBox 107"/>
          <p:cNvSpPr txBox="1"/>
          <p:nvPr/>
        </p:nvSpPr>
        <p:spPr>
          <a:xfrm>
            <a:off x="6611112" y="2267712"/>
            <a:ext cx="1965960" cy="521207"/>
          </a:xfrm>
          <a:prstGeom prst="rect">
            <a:avLst/>
          </a:prstGeom>
          <a:noFill/>
        </p:spPr>
        <p:txBody>
          <a:bodyPr wrap="square" lIns="0" tIns="0" rIns="0" bIns="0">
            <a:spAutoFit/>
          </a:bodyPr>
          <a:lstStyle/>
          <a:p>
            <a:pPr algn="l">
              <a:spcAft>
                <a:spcPts val="0"/>
              </a:spcAft>
              <a:defRPr sz="1150" b="0">
                <a:solidFill>
                  <a:srgbClr val="172336"/>
                </a:solidFill>
                <a:latin typeface="Aptos"/>
              </a:defRPr>
            </a:pPr>
            <a:r>
              <a:t>Recovery action based on</a:t>
            </a:r>
          </a:p>
          <a:p>
            <a:pPr algn="l">
              <a:spcAft>
                <a:spcPts val="0"/>
              </a:spcAft>
              <a:defRPr sz="1150" b="0">
                <a:solidFill>
                  <a:srgbClr val="172336"/>
                </a:solidFill>
                <a:latin typeface="Aptos"/>
              </a:defRPr>
            </a:pPr>
            <a:r>
              <a:t>the observed evidence.</a:t>
            </a:r>
          </a:p>
        </p:txBody>
      </p:sp>
      <p:sp>
        <p:nvSpPr>
          <p:cNvPr id="109" name="Rounded Rectangle 108"/>
          <p:cNvSpPr/>
          <p:nvPr/>
        </p:nvSpPr>
        <p:spPr>
          <a:xfrm>
            <a:off x="6464808" y="3392424"/>
            <a:ext cx="2258568" cy="1133856"/>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6464808" y="3392424"/>
            <a:ext cx="41148" cy="1133856"/>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6611112" y="3502152"/>
            <a:ext cx="1965960"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4  Controller checks</a:t>
            </a:r>
          </a:p>
        </p:txBody>
      </p:sp>
      <p:sp>
        <p:nvSpPr>
          <p:cNvPr id="112" name="TextBox 111"/>
          <p:cNvSpPr txBox="1"/>
          <p:nvPr/>
        </p:nvSpPr>
        <p:spPr>
          <a:xfrm>
            <a:off x="6611112" y="3922776"/>
            <a:ext cx="1965960" cy="521207"/>
          </a:xfrm>
          <a:prstGeom prst="rect">
            <a:avLst/>
          </a:prstGeom>
          <a:noFill/>
        </p:spPr>
        <p:txBody>
          <a:bodyPr wrap="square" lIns="0" tIns="0" rIns="0" bIns="0">
            <a:spAutoFit/>
          </a:bodyPr>
          <a:lstStyle/>
          <a:p>
            <a:pPr algn="l">
              <a:spcAft>
                <a:spcPts val="0"/>
              </a:spcAft>
              <a:defRPr sz="1150" b="0">
                <a:solidFill>
                  <a:srgbClr val="172336"/>
                </a:solidFill>
                <a:latin typeface="Aptos"/>
              </a:defRPr>
            </a:pPr>
            <a:r>
              <a:t>Permissions • versions</a:t>
            </a:r>
          </a:p>
          <a:p>
            <a:pPr algn="l">
              <a:spcAft>
                <a:spcPts val="0"/>
              </a:spcAft>
              <a:defRPr sz="1150" b="0">
                <a:solidFill>
                  <a:srgbClr val="172336"/>
                </a:solidFill>
                <a:latin typeface="Aptos"/>
              </a:defRPr>
            </a:pPr>
            <a:r>
              <a:t>evidence • idempotency</a:t>
            </a:r>
          </a:p>
        </p:txBody>
      </p:sp>
      <p:sp>
        <p:nvSpPr>
          <p:cNvPr id="113" name="Rounded Rectangle 112"/>
          <p:cNvSpPr/>
          <p:nvPr/>
        </p:nvSpPr>
        <p:spPr>
          <a:xfrm>
            <a:off x="3438144" y="3392424"/>
            <a:ext cx="2258568" cy="1133856"/>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3438144" y="3392424"/>
            <a:ext cx="41148" cy="1133856"/>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3584448" y="3502152"/>
            <a:ext cx="1965960"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5  Execute allowed step</a:t>
            </a:r>
          </a:p>
        </p:txBody>
      </p:sp>
      <p:sp>
        <p:nvSpPr>
          <p:cNvPr id="116" name="TextBox 115"/>
          <p:cNvSpPr txBox="1"/>
          <p:nvPr/>
        </p:nvSpPr>
        <p:spPr>
          <a:xfrm>
            <a:off x="3584448" y="3922776"/>
            <a:ext cx="1965960" cy="521207"/>
          </a:xfrm>
          <a:prstGeom prst="rect">
            <a:avLst/>
          </a:prstGeom>
          <a:noFill/>
        </p:spPr>
        <p:txBody>
          <a:bodyPr wrap="square" lIns="0" tIns="0" rIns="0" bIns="0">
            <a:spAutoFit/>
          </a:bodyPr>
          <a:lstStyle/>
          <a:p>
            <a:pPr algn="l">
              <a:spcAft>
                <a:spcPts val="0"/>
              </a:spcAft>
              <a:defRPr sz="1150" b="0">
                <a:solidFill>
                  <a:srgbClr val="172336"/>
                </a:solidFill>
                <a:latin typeface="Aptos"/>
              </a:defRPr>
            </a:pPr>
            <a:r>
              <a:t>Record the write receipt.</a:t>
            </a:r>
          </a:p>
          <a:p>
            <a:pPr algn="l">
              <a:spcAft>
                <a:spcPts val="0"/>
              </a:spcAft>
              <a:defRPr sz="1150" b="0">
                <a:solidFill>
                  <a:srgbClr val="172336"/>
                </a:solidFill>
                <a:latin typeface="Aptos"/>
              </a:defRPr>
            </a:pPr>
            <a:r>
              <a:t>Observe the changed state.</a:t>
            </a:r>
          </a:p>
        </p:txBody>
      </p:sp>
      <p:sp>
        <p:nvSpPr>
          <p:cNvPr id="117" name="Rounded Rectangle 116"/>
          <p:cNvSpPr/>
          <p:nvPr/>
        </p:nvSpPr>
        <p:spPr>
          <a:xfrm>
            <a:off x="411480" y="3392424"/>
            <a:ext cx="2258568" cy="1133856"/>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411480" y="3392424"/>
            <a:ext cx="41148" cy="1133856"/>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557784" y="3502152"/>
            <a:ext cx="1965960"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6  Verify or hand off</a:t>
            </a:r>
          </a:p>
        </p:txBody>
      </p:sp>
      <p:sp>
        <p:nvSpPr>
          <p:cNvPr id="120" name="TextBox 119"/>
          <p:cNvSpPr txBox="1"/>
          <p:nvPr/>
        </p:nvSpPr>
        <p:spPr>
          <a:xfrm>
            <a:off x="557784" y="3922776"/>
            <a:ext cx="1965960" cy="521207"/>
          </a:xfrm>
          <a:prstGeom prst="rect">
            <a:avLst/>
          </a:prstGeom>
          <a:noFill/>
        </p:spPr>
        <p:txBody>
          <a:bodyPr wrap="square" lIns="0" tIns="0" rIns="0" bIns="0">
            <a:spAutoFit/>
          </a:bodyPr>
          <a:lstStyle/>
          <a:p>
            <a:pPr algn="l">
              <a:spcAft>
                <a:spcPts val="0"/>
              </a:spcAft>
              <a:defRPr sz="1150" b="0">
                <a:solidFill>
                  <a:srgbClr val="172336"/>
                </a:solidFill>
                <a:latin typeface="Aptos"/>
              </a:defRPr>
            </a:pPr>
            <a:r>
              <a:t>Independent ledger checks</a:t>
            </a:r>
          </a:p>
          <a:p>
            <a:pPr algn="l">
              <a:spcAft>
                <a:spcPts val="0"/>
              </a:spcAft>
              <a:defRPr sz="1150" b="0">
                <a:solidFill>
                  <a:srgbClr val="172336"/>
                </a:solidFill>
                <a:latin typeface="Aptos"/>
              </a:defRPr>
            </a:pPr>
            <a:r>
              <a:t>plus exportable audit.</a:t>
            </a:r>
          </a:p>
        </p:txBody>
      </p:sp>
      <p:cxnSp>
        <p:nvCxnSpPr>
          <p:cNvPr id="121" name="Connector 120"/>
          <p:cNvCxnSpPr/>
          <p:nvPr/>
        </p:nvCxnSpPr>
        <p:spPr>
          <a:xfrm>
            <a:off x="2697480" y="2221992"/>
            <a:ext cx="704088"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5724144" y="2221992"/>
            <a:ext cx="704088"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589520" y="2779776"/>
            <a:ext cx="0" cy="576072"/>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5724144" y="3895344"/>
            <a:ext cx="694944"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a:off x="2697480" y="3895344"/>
            <a:ext cx="704088"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2423160" y="2843784"/>
            <a:ext cx="4279392" cy="310896"/>
          </a:xfrm>
          <a:prstGeom prst="rect">
            <a:avLst/>
          </a:prstGeom>
          <a:noFill/>
        </p:spPr>
        <p:txBody>
          <a:bodyPr wrap="square" lIns="0" tIns="0" rIns="0" bIns="0">
            <a:spAutoFit/>
          </a:bodyPr>
          <a:lstStyle/>
          <a:p>
            <a:pPr algn="ctr">
              <a:spcAft>
                <a:spcPts val="0"/>
              </a:spcAft>
              <a:defRPr sz="1200" b="1">
                <a:solidFill>
                  <a:srgbClr val="946000"/>
                </a:solidFill>
                <a:latin typeface="Aptos"/>
              </a:defRPr>
            </a:pPr>
            <a:r>
              <a:t>Blocked stale proposal → refresh evidence → replan</a:t>
            </a:r>
          </a:p>
        </p:txBody>
      </p:sp>
      <p:sp>
        <p:nvSpPr>
          <p:cNvPr id="127" name="TextBox 126"/>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Bounded proposal loop. Unknown payment or irreversible dispatch leads to operator review.</a:t>
            </a:r>
          </a:p>
        </p:txBody>
      </p:sp>
      <p:sp>
        <p:nvSpPr>
          <p:cNvPr id="128" name="TextBox 127"/>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9"/>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Wireframes / implemented interface</a:t>
            </a:r>
            <a:endParaRPr sz="1600">
              <a:latin typeface="Google Sans Flex Medium"/>
              <a:ea typeface="Google Sans Flex Medium"/>
              <a:cs typeface="Google Sans Flex Medium"/>
              <a:sym typeface="Google Sans Flex Medium"/>
            </a:endParaRPr>
          </a:p>
        </p:txBody>
      </p:sp>
      <p:sp>
        <p:nvSpPr>
          <p:cNvPr id="104" name="TextBox 103"/>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The incident editor accepts new inputs. Permissions are explicit, separate from the customer note.</a:t>
            </a:r>
          </a:p>
        </p:txBody>
      </p:sp>
      <p:sp>
        <p:nvSpPr>
          <p:cNvPr id="105" name="TextBox 104"/>
          <p:cNvSpPr txBox="1"/>
          <p:nvPr/>
        </p:nvSpPr>
        <p:spPr>
          <a:xfrm>
            <a:off x="420624" y="1627632"/>
            <a:ext cx="8229600" cy="274320"/>
          </a:xfrm>
          <a:prstGeom prst="rect">
            <a:avLst/>
          </a:prstGeom>
          <a:noFill/>
        </p:spPr>
        <p:txBody>
          <a:bodyPr wrap="square" lIns="0" tIns="0" rIns="0" bIns="0">
            <a:spAutoFit/>
          </a:bodyPr>
          <a:lstStyle/>
          <a:p>
            <a:pPr algn="l">
              <a:spcAft>
                <a:spcPts val="0"/>
              </a:spcAft>
              <a:defRPr sz="1300" b="1">
                <a:solidFill>
                  <a:srgbClr val="2864DF"/>
                </a:solidFill>
                <a:latin typeface="Aptos"/>
              </a:defRPr>
            </a:pPr>
            <a:r>
              <a:t>Evidence: original stock 2 → incoming stock 7 → approved delay 1 day</a:t>
            </a:r>
          </a:p>
        </p:txBody>
      </p:sp>
      <p:pic>
        <p:nvPicPr>
          <p:cNvPr id="106" name="Picture 105" descr="pitch-incident-values.png"/>
          <p:cNvPicPr>
            <a:picLocks noChangeAspect="1"/>
          </p:cNvPicPr>
          <p:nvPr/>
        </p:nvPicPr>
        <p:blipFill>
          <a:blip r:embed="rId5"/>
          <a:stretch>
            <a:fillRect/>
          </a:stretch>
        </p:blipFill>
        <p:spPr>
          <a:xfrm>
            <a:off x="402336" y="1943884"/>
            <a:ext cx="8321040" cy="1863807"/>
          </a:xfrm>
          <a:prstGeom prst="rect">
            <a:avLst/>
          </a:prstGeom>
        </p:spPr>
      </p:pic>
      <p:sp>
        <p:nvSpPr>
          <p:cNvPr id="107" name="TextBox 106"/>
          <p:cNvSpPr txBox="1"/>
          <p:nvPr/>
        </p:nvSpPr>
        <p:spPr>
          <a:xfrm>
            <a:off x="420624" y="3822191"/>
            <a:ext cx="8229600" cy="274320"/>
          </a:xfrm>
          <a:prstGeom prst="rect">
            <a:avLst/>
          </a:prstGeom>
          <a:noFill/>
        </p:spPr>
        <p:txBody>
          <a:bodyPr wrap="square" lIns="0" tIns="0" rIns="0" bIns="0">
            <a:spAutoFit/>
          </a:bodyPr>
          <a:lstStyle/>
          <a:p>
            <a:pPr algn="l">
              <a:spcAft>
                <a:spcPts val="0"/>
              </a:spcAft>
              <a:defRPr sz="1200" b="1">
                <a:solidFill>
                  <a:srgbClr val="7557DD"/>
                </a:solidFill>
                <a:latin typeface="Aptos"/>
              </a:defRPr>
            </a:pPr>
            <a:r>
              <a:t>Explicit permissions: delay allowed; substitution forbidden; stock conflict enabled</a:t>
            </a:r>
          </a:p>
        </p:txBody>
      </p:sp>
      <p:pic>
        <p:nvPicPr>
          <p:cNvPr id="108" name="Picture 107" descr="pitch-incident-permissions.png"/>
          <p:cNvPicPr>
            <a:picLocks noChangeAspect="1"/>
          </p:cNvPicPr>
          <p:nvPr/>
        </p:nvPicPr>
        <p:blipFill>
          <a:blip r:embed="rId6"/>
          <a:stretch>
            <a:fillRect/>
          </a:stretch>
        </p:blipFill>
        <p:spPr>
          <a:xfrm>
            <a:off x="1391100" y="4096512"/>
            <a:ext cx="6343510" cy="493776"/>
          </a:xfrm>
          <a:prstGeom prst="rect">
            <a:avLst/>
          </a:prstGeom>
        </p:spPr>
      </p:pic>
      <p:sp>
        <p:nvSpPr>
          <p:cNvPr id="109" name="TextBox 108"/>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Cropped views of the actual editor using the video's incident. All service records are synthetic.</a:t>
            </a:r>
          </a:p>
        </p:txBody>
      </p:sp>
      <p:sp>
        <p:nvSpPr>
          <p:cNvPr id="110" name="TextBox 109"/>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20"/>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Architecture diagram of the proposed solution</a:t>
            </a:r>
            <a:endParaRPr sz="1600">
              <a:latin typeface="Google Sans Flex Medium"/>
              <a:ea typeface="Google Sans Flex Medium"/>
              <a:cs typeface="Google Sans Flex Medium"/>
              <a:sym typeface="Google Sans Flex Medium"/>
            </a:endParaRPr>
          </a:p>
        </p:txBody>
      </p:sp>
      <p:sp>
        <p:nvSpPr>
          <p:cNvPr id="112" name="TextBox 111"/>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Gemini proposes actions. The backend enforces authority and verifies the resulting state.</a:t>
            </a:r>
          </a:p>
        </p:txBody>
      </p:sp>
      <p:sp>
        <p:nvSpPr>
          <p:cNvPr id="113" name="Rounded Rectangle 112"/>
          <p:cNvSpPr/>
          <p:nvPr/>
        </p:nvSpPr>
        <p:spPr>
          <a:xfrm>
            <a:off x="393192" y="1755648"/>
            <a:ext cx="2029968" cy="1033271"/>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393192" y="1755648"/>
            <a:ext cx="41148" cy="1033271"/>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539496" y="1865376"/>
            <a:ext cx="1737360"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React + Three.js</a:t>
            </a:r>
          </a:p>
        </p:txBody>
      </p:sp>
      <p:sp>
        <p:nvSpPr>
          <p:cNvPr id="116" name="TextBox 115"/>
          <p:cNvSpPr txBox="1"/>
          <p:nvPr/>
        </p:nvSpPr>
        <p:spPr>
          <a:xfrm>
            <a:off x="539496" y="2286000"/>
            <a:ext cx="1737360" cy="420623"/>
          </a:xfrm>
          <a:prstGeom prst="rect">
            <a:avLst/>
          </a:prstGeom>
          <a:noFill/>
        </p:spPr>
        <p:txBody>
          <a:bodyPr wrap="square" lIns="0" tIns="0" rIns="0" bIns="0">
            <a:spAutoFit/>
          </a:bodyPr>
          <a:lstStyle/>
          <a:p>
            <a:pPr algn="l">
              <a:spcAft>
                <a:spcPts val="0"/>
              </a:spcAft>
              <a:defRPr sz="1200" b="0">
                <a:solidFill>
                  <a:srgbClr val="172336"/>
                </a:solidFill>
                <a:latin typeface="Aptos"/>
              </a:defRPr>
            </a:pPr>
            <a:r>
              <a:t>Incident desk</a:t>
            </a:r>
          </a:p>
          <a:p>
            <a:pPr algn="l">
              <a:spcAft>
                <a:spcPts val="0"/>
              </a:spcAft>
              <a:defRPr sz="1200" b="0">
                <a:solidFill>
                  <a:srgbClr val="172336"/>
                </a:solidFill>
                <a:latin typeface="Aptos"/>
              </a:defRPr>
            </a:pPr>
            <a:r>
              <a:t>Evidence and audit UI</a:t>
            </a:r>
          </a:p>
        </p:txBody>
      </p:sp>
      <p:sp>
        <p:nvSpPr>
          <p:cNvPr id="117" name="Rounded Rectangle 116"/>
          <p:cNvSpPr/>
          <p:nvPr/>
        </p:nvSpPr>
        <p:spPr>
          <a:xfrm>
            <a:off x="2907792" y="1755648"/>
            <a:ext cx="2514600" cy="1033271"/>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2907792" y="1755648"/>
            <a:ext cx="41148" cy="1033271"/>
          </a:xfrm>
          <a:prstGeom prst="rect">
            <a:avLst/>
          </a:prstGeom>
          <a:solidFill>
            <a:srgbClr val="755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3054096" y="1865376"/>
            <a:ext cx="2221992" cy="384048"/>
          </a:xfrm>
          <a:prstGeom prst="rect">
            <a:avLst/>
          </a:prstGeom>
          <a:noFill/>
        </p:spPr>
        <p:txBody>
          <a:bodyPr wrap="square" lIns="0" tIns="0" rIns="0" bIns="0">
            <a:spAutoFit/>
          </a:bodyPr>
          <a:lstStyle/>
          <a:p>
            <a:pPr algn="l">
              <a:spcAft>
                <a:spcPts val="0"/>
              </a:spcAft>
              <a:defRPr sz="1350" b="1">
                <a:solidFill>
                  <a:srgbClr val="7557DD"/>
                </a:solidFill>
                <a:latin typeface="Aptos"/>
              </a:defRPr>
            </a:pPr>
            <a:r>
              <a:t>FastAPI controller</a:t>
            </a:r>
          </a:p>
        </p:txBody>
      </p:sp>
      <p:sp>
        <p:nvSpPr>
          <p:cNvPr id="120" name="TextBox 119"/>
          <p:cNvSpPr txBox="1"/>
          <p:nvPr/>
        </p:nvSpPr>
        <p:spPr>
          <a:xfrm>
            <a:off x="3054096" y="2286000"/>
            <a:ext cx="2221992" cy="420623"/>
          </a:xfrm>
          <a:prstGeom prst="rect">
            <a:avLst/>
          </a:prstGeom>
          <a:noFill/>
        </p:spPr>
        <p:txBody>
          <a:bodyPr wrap="square" lIns="0" tIns="0" rIns="0" bIns="0">
            <a:spAutoFit/>
          </a:bodyPr>
          <a:lstStyle/>
          <a:p>
            <a:pPr algn="l">
              <a:spcAft>
                <a:spcPts val="0"/>
              </a:spcAft>
              <a:defRPr sz="1200" b="0">
                <a:solidFill>
                  <a:srgbClr val="172336"/>
                </a:solidFill>
                <a:latin typeface="Aptos"/>
              </a:defRPr>
            </a:pPr>
            <a:r>
              <a:t>Bounded agent loop</a:t>
            </a:r>
          </a:p>
          <a:p>
            <a:pPr algn="l">
              <a:spcAft>
                <a:spcPts val="0"/>
              </a:spcAft>
              <a:defRPr sz="1200" b="0">
                <a:solidFill>
                  <a:srgbClr val="172336"/>
                </a:solidFill>
                <a:latin typeface="Aptos"/>
              </a:defRPr>
            </a:pPr>
            <a:r>
              <a:t>Authority + verification</a:t>
            </a:r>
          </a:p>
        </p:txBody>
      </p:sp>
      <p:sp>
        <p:nvSpPr>
          <p:cNvPr id="121" name="Rounded Rectangle 120"/>
          <p:cNvSpPr/>
          <p:nvPr/>
        </p:nvSpPr>
        <p:spPr>
          <a:xfrm>
            <a:off x="6035040" y="1755648"/>
            <a:ext cx="2679192" cy="1033271"/>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6035040" y="1755648"/>
            <a:ext cx="41148" cy="1033271"/>
          </a:xfrm>
          <a:prstGeom prst="rect">
            <a:avLst/>
          </a:prstGeom>
          <a:solidFill>
            <a:srgbClr val="16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6181344" y="1865376"/>
            <a:ext cx="2386584" cy="384048"/>
          </a:xfrm>
          <a:prstGeom prst="rect">
            <a:avLst/>
          </a:prstGeom>
          <a:noFill/>
        </p:spPr>
        <p:txBody>
          <a:bodyPr wrap="square" lIns="0" tIns="0" rIns="0" bIns="0">
            <a:spAutoFit/>
          </a:bodyPr>
          <a:lstStyle/>
          <a:p>
            <a:pPr algn="l">
              <a:spcAft>
                <a:spcPts val="0"/>
              </a:spcAft>
              <a:defRPr sz="1350" b="1">
                <a:solidFill>
                  <a:srgbClr val="16845A"/>
                </a:solidFill>
                <a:latin typeface="Aptos"/>
              </a:defRPr>
            </a:pPr>
            <a:r>
              <a:t>Gemini API</a:t>
            </a:r>
          </a:p>
        </p:txBody>
      </p:sp>
      <p:sp>
        <p:nvSpPr>
          <p:cNvPr id="124" name="TextBox 123"/>
          <p:cNvSpPr txBox="1"/>
          <p:nvPr/>
        </p:nvSpPr>
        <p:spPr>
          <a:xfrm>
            <a:off x="6181344" y="2286000"/>
            <a:ext cx="2386584" cy="420623"/>
          </a:xfrm>
          <a:prstGeom prst="rect">
            <a:avLst/>
          </a:prstGeom>
          <a:noFill/>
        </p:spPr>
        <p:txBody>
          <a:bodyPr wrap="square" lIns="0" tIns="0" rIns="0" bIns="0">
            <a:spAutoFit/>
          </a:bodyPr>
          <a:lstStyle/>
          <a:p>
            <a:pPr algn="l">
              <a:spcAft>
                <a:spcPts val="0"/>
              </a:spcAft>
              <a:defRPr sz="1200" b="0">
                <a:solidFill>
                  <a:srgbClr val="172336"/>
                </a:solidFill>
                <a:latin typeface="Aptos"/>
              </a:defRPr>
            </a:pPr>
            <a:r>
              <a:t>Structured recovery proposals</a:t>
            </a:r>
          </a:p>
          <a:p>
            <a:pPr algn="l">
              <a:spcAft>
                <a:spcPts val="0"/>
              </a:spcAft>
              <a:defRPr sz="1200" b="0">
                <a:solidFill>
                  <a:srgbClr val="172336"/>
                </a:solidFill>
                <a:latin typeface="Aptos"/>
              </a:defRPr>
            </a:pPr>
            <a:r>
              <a:t>API key stays server-side</a:t>
            </a:r>
          </a:p>
        </p:txBody>
      </p:sp>
      <p:cxnSp>
        <p:nvCxnSpPr>
          <p:cNvPr id="125" name="Connector 124"/>
          <p:cNvCxnSpPr/>
          <p:nvPr/>
        </p:nvCxnSpPr>
        <p:spPr>
          <a:xfrm>
            <a:off x="2450592" y="2276856"/>
            <a:ext cx="420624"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68112" y="2276856"/>
            <a:ext cx="530352"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2907792" y="3118104"/>
            <a:ext cx="2514600" cy="1060704"/>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2907792" y="3118104"/>
            <a:ext cx="41148" cy="1060704"/>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3054096" y="3227832"/>
            <a:ext cx="2221992" cy="384048"/>
          </a:xfrm>
          <a:prstGeom prst="rect">
            <a:avLst/>
          </a:prstGeom>
          <a:noFill/>
        </p:spPr>
        <p:txBody>
          <a:bodyPr wrap="square" lIns="0" tIns="0" rIns="0" bIns="0">
            <a:spAutoFit/>
          </a:bodyPr>
          <a:lstStyle/>
          <a:p>
            <a:pPr algn="l">
              <a:spcAft>
                <a:spcPts val="0"/>
              </a:spcAft>
              <a:defRPr sz="1350" b="1">
                <a:solidFill>
                  <a:srgbClr val="2864DF"/>
                </a:solidFill>
                <a:latin typeface="Aptos"/>
              </a:defRPr>
            </a:pPr>
            <a:r>
              <a:t>Synthetic connectors</a:t>
            </a:r>
          </a:p>
        </p:txBody>
      </p:sp>
      <p:sp>
        <p:nvSpPr>
          <p:cNvPr id="130" name="TextBox 129"/>
          <p:cNvSpPr txBox="1"/>
          <p:nvPr/>
        </p:nvSpPr>
        <p:spPr>
          <a:xfrm>
            <a:off x="3054096" y="3648456"/>
            <a:ext cx="2221992" cy="448055"/>
          </a:xfrm>
          <a:prstGeom prst="rect">
            <a:avLst/>
          </a:prstGeom>
          <a:noFill/>
        </p:spPr>
        <p:txBody>
          <a:bodyPr wrap="square" lIns="0" tIns="0" rIns="0" bIns="0">
            <a:spAutoFit/>
          </a:bodyPr>
          <a:lstStyle/>
          <a:p>
            <a:pPr algn="l">
              <a:spcAft>
                <a:spcPts val="0"/>
              </a:spcAft>
              <a:defRPr sz="1200" b="0">
                <a:solidFill>
                  <a:srgbClr val="172336"/>
                </a:solidFill>
                <a:latin typeface="Aptos"/>
              </a:defRPr>
            </a:pPr>
            <a:r>
              <a:t>Payment ledger • inventory</a:t>
            </a:r>
          </a:p>
          <a:p>
            <a:pPr algn="l">
              <a:spcAft>
                <a:spcPts val="0"/>
              </a:spcAft>
              <a:defRPr sz="1200" b="0">
                <a:solidFill>
                  <a:srgbClr val="172336"/>
                </a:solidFill>
                <a:latin typeface="Aptos"/>
              </a:defRPr>
            </a:pPr>
            <a:r>
              <a:t>Order and dispatch</a:t>
            </a:r>
          </a:p>
        </p:txBody>
      </p:sp>
      <p:cxnSp>
        <p:nvCxnSpPr>
          <p:cNvPr id="131" name="Connector 130"/>
          <p:cNvCxnSpPr/>
          <p:nvPr/>
        </p:nvCxnSpPr>
        <p:spPr>
          <a:xfrm>
            <a:off x="4160520" y="2825496"/>
            <a:ext cx="0" cy="256032"/>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sp>
        <p:nvSpPr>
          <p:cNvPr id="132" name="Rounded Rectangle 131"/>
          <p:cNvSpPr/>
          <p:nvPr/>
        </p:nvSpPr>
        <p:spPr>
          <a:xfrm>
            <a:off x="420624" y="3172968"/>
            <a:ext cx="1993392" cy="265176"/>
          </a:xfrm>
          <a:prstGeom prst="roundRect">
            <a:avLst>
              <a:gd name="adj" fmla="val 9000"/>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493776" y="3204972"/>
            <a:ext cx="1847088" cy="201168"/>
          </a:xfrm>
          <a:prstGeom prst="rect">
            <a:avLst/>
          </a:prstGeom>
          <a:noFill/>
        </p:spPr>
        <p:txBody>
          <a:bodyPr wrap="square" lIns="0" tIns="0" rIns="0" bIns="0">
            <a:spAutoFit/>
          </a:bodyPr>
          <a:lstStyle/>
          <a:p>
            <a:pPr algn="l">
              <a:spcAft>
                <a:spcPts val="0"/>
              </a:spcAft>
              <a:defRPr sz="950" b="1">
                <a:solidFill>
                  <a:srgbClr val="16845A"/>
                </a:solidFill>
                <a:latin typeface="Aptos"/>
              </a:defRPr>
            </a:pPr>
            <a:r>
              <a:t>Firebase: verified</a:t>
            </a:r>
          </a:p>
        </p:txBody>
      </p:sp>
      <p:sp>
        <p:nvSpPr>
          <p:cNvPr id="134" name="Rounded Rectangle 133"/>
          <p:cNvSpPr/>
          <p:nvPr/>
        </p:nvSpPr>
        <p:spPr>
          <a:xfrm>
            <a:off x="420624" y="3611880"/>
            <a:ext cx="1993392" cy="265176"/>
          </a:xfrm>
          <a:prstGeom prst="roundRect">
            <a:avLst>
              <a:gd name="adj" fmla="val 9000"/>
            </a:avLst>
          </a:prstGeom>
          <a:solidFill>
            <a:srgbClr val="FFF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493776" y="3643884"/>
            <a:ext cx="1847088" cy="201168"/>
          </a:xfrm>
          <a:prstGeom prst="rect">
            <a:avLst/>
          </a:prstGeom>
          <a:noFill/>
        </p:spPr>
        <p:txBody>
          <a:bodyPr wrap="square" lIns="0" tIns="0" rIns="0" bIns="0">
            <a:spAutoFit/>
          </a:bodyPr>
          <a:lstStyle/>
          <a:p>
            <a:pPr algn="l">
              <a:spcAft>
                <a:spcPts val="0"/>
              </a:spcAft>
              <a:defRPr sz="950" b="1">
                <a:solidFill>
                  <a:srgbClr val="946000"/>
                </a:solidFill>
                <a:latin typeface="Aptos"/>
              </a:defRPr>
            </a:pPr>
            <a:r>
              <a:t>Cloud Run: pending</a:t>
            </a:r>
          </a:p>
        </p:txBody>
      </p:sp>
      <p:sp>
        <p:nvSpPr>
          <p:cNvPr id="136" name="Rounded Rectangle 135"/>
          <p:cNvSpPr/>
          <p:nvPr/>
        </p:nvSpPr>
        <p:spPr>
          <a:xfrm>
            <a:off x="6035040" y="3118104"/>
            <a:ext cx="2679192" cy="1060704"/>
          </a:xfrm>
          <a:prstGeom prst="roundRect">
            <a:avLst>
              <a:gd name="adj" fmla="val 9000"/>
            </a:avLst>
          </a:prstGeom>
          <a:solidFill>
            <a:srgbClr val="EBF7F0"/>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6035040" y="3118104"/>
            <a:ext cx="41148" cy="1060704"/>
          </a:xfrm>
          <a:prstGeom prst="rect">
            <a:avLst/>
          </a:prstGeom>
          <a:solidFill>
            <a:srgbClr val="16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6181344" y="3227832"/>
            <a:ext cx="2386584" cy="384048"/>
          </a:xfrm>
          <a:prstGeom prst="rect">
            <a:avLst/>
          </a:prstGeom>
          <a:noFill/>
        </p:spPr>
        <p:txBody>
          <a:bodyPr wrap="square" lIns="0" tIns="0" rIns="0" bIns="0">
            <a:spAutoFit/>
          </a:bodyPr>
          <a:lstStyle/>
          <a:p>
            <a:pPr algn="l">
              <a:spcAft>
                <a:spcPts val="0"/>
              </a:spcAft>
              <a:defRPr sz="1350" b="1">
                <a:solidFill>
                  <a:srgbClr val="16845A"/>
                </a:solidFill>
                <a:latin typeface="Aptos"/>
              </a:defRPr>
            </a:pPr>
            <a:r>
              <a:t>Firestore audit store</a:t>
            </a:r>
          </a:p>
        </p:txBody>
      </p:sp>
      <p:sp>
        <p:nvSpPr>
          <p:cNvPr id="139" name="TextBox 138"/>
          <p:cNvSpPr txBox="1"/>
          <p:nvPr/>
        </p:nvSpPr>
        <p:spPr>
          <a:xfrm>
            <a:off x="6181344" y="3648456"/>
            <a:ext cx="2386584" cy="448055"/>
          </a:xfrm>
          <a:prstGeom prst="rect">
            <a:avLst/>
          </a:prstGeom>
          <a:noFill/>
        </p:spPr>
        <p:txBody>
          <a:bodyPr wrap="square" lIns="0" tIns="0" rIns="0" bIns="0">
            <a:spAutoFit/>
          </a:bodyPr>
          <a:lstStyle/>
          <a:p>
            <a:pPr algn="l">
              <a:spcAft>
                <a:spcPts val="0"/>
              </a:spcAft>
              <a:defRPr sz="1200" b="0">
                <a:solidFill>
                  <a:srgbClr val="172336"/>
                </a:solidFill>
                <a:latin typeface="Aptos"/>
              </a:defRPr>
            </a:pPr>
            <a:r>
              <a:t>Saved report restored</a:t>
            </a:r>
          </a:p>
          <a:p>
            <a:pPr algn="l">
              <a:spcAft>
                <a:spcPts val="0"/>
              </a:spcAft>
              <a:defRPr sz="1200" b="0">
                <a:solidFill>
                  <a:srgbClr val="172336"/>
                </a:solidFill>
                <a:latin typeface="Aptos"/>
              </a:defRPr>
            </a:pPr>
            <a:r>
              <a:t>after server restart</a:t>
            </a:r>
          </a:p>
        </p:txBody>
      </p:sp>
      <p:cxnSp>
        <p:nvCxnSpPr>
          <p:cNvPr id="140" name="Connector 139"/>
          <p:cNvCxnSpPr/>
          <p:nvPr/>
        </p:nvCxnSpPr>
        <p:spPr>
          <a:xfrm>
            <a:off x="5468112" y="2670048"/>
            <a:ext cx="530352" cy="713232"/>
          </a:xfrm>
          <a:prstGeom prst="line">
            <a:avLst/>
          </a:prstGeom>
          <a:ln w="19050">
            <a:solidFill>
              <a:srgbClr val="16845A"/>
            </a:solidFill>
            <a:tailEnd type="triangle"/>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Current backend: temporary Google Cloud Shell demo. Persistent Cloud Run hosting is not yet deployed.</a:t>
            </a:r>
          </a:p>
        </p:txBody>
      </p:sp>
      <p:sp>
        <p:nvSpPr>
          <p:cNvPr id="142" name="TextBox 141"/>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21"/>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Technologies to be used in the solution</a:t>
            </a:r>
            <a:endParaRPr sz="1600">
              <a:latin typeface="Google Sans Flex Medium"/>
              <a:ea typeface="Google Sans Flex Medium"/>
              <a:cs typeface="Google Sans Flex Medium"/>
              <a:sym typeface="Google Sans Flex Medium"/>
            </a:endParaRPr>
          </a:p>
        </p:txBody>
      </p:sp>
      <p:sp>
        <p:nvSpPr>
          <p:cNvPr id="120" name="TextBox 119"/>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Current implementation and deployment status.</a:t>
            </a:r>
          </a:p>
        </p:txBody>
      </p:sp>
      <p:sp>
        <p:nvSpPr>
          <p:cNvPr id="121" name="Rectangle 120"/>
          <p:cNvSpPr/>
          <p:nvPr/>
        </p:nvSpPr>
        <p:spPr>
          <a:xfrm>
            <a:off x="393192" y="1728216"/>
            <a:ext cx="8321040" cy="3977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530352" y="1787651"/>
            <a:ext cx="1783080" cy="274320"/>
          </a:xfrm>
          <a:prstGeom prst="rect">
            <a:avLst/>
          </a:prstGeom>
          <a:noFill/>
        </p:spPr>
        <p:txBody>
          <a:bodyPr wrap="square" lIns="0" tIns="0" rIns="0" bIns="0">
            <a:spAutoFit/>
          </a:bodyPr>
          <a:lstStyle/>
          <a:p>
            <a:pPr algn="l">
              <a:spcAft>
                <a:spcPts val="0"/>
              </a:spcAft>
              <a:defRPr sz="1200" b="1">
                <a:solidFill>
                  <a:srgbClr val="172336"/>
                </a:solidFill>
                <a:latin typeface="Aptos"/>
              </a:defRPr>
            </a:pPr>
            <a:r>
              <a:t>Gemini API</a:t>
            </a:r>
          </a:p>
        </p:txBody>
      </p:sp>
      <p:sp>
        <p:nvSpPr>
          <p:cNvPr id="123" name="TextBox 122"/>
          <p:cNvSpPr txBox="1"/>
          <p:nvPr/>
        </p:nvSpPr>
        <p:spPr>
          <a:xfrm>
            <a:off x="2304288" y="1787651"/>
            <a:ext cx="4279392" cy="274320"/>
          </a:xfrm>
          <a:prstGeom prst="rect">
            <a:avLst/>
          </a:prstGeom>
          <a:noFill/>
        </p:spPr>
        <p:txBody>
          <a:bodyPr wrap="square" lIns="0" tIns="0" rIns="0" bIns="0">
            <a:spAutoFit/>
          </a:bodyPr>
          <a:lstStyle/>
          <a:p>
            <a:pPr algn="l">
              <a:spcAft>
                <a:spcPts val="0"/>
              </a:spcAft>
              <a:defRPr sz="1130" b="0">
                <a:solidFill>
                  <a:srgbClr val="53637C"/>
                </a:solidFill>
                <a:latin typeface="Aptos"/>
              </a:defRPr>
            </a:pPr>
            <a:r>
              <a:t>Evidence-linked recovery proposal and conflict replanning</a:t>
            </a:r>
          </a:p>
        </p:txBody>
      </p:sp>
      <p:sp>
        <p:nvSpPr>
          <p:cNvPr id="124" name="Rounded Rectangle 123"/>
          <p:cNvSpPr/>
          <p:nvPr/>
        </p:nvSpPr>
        <p:spPr>
          <a:xfrm>
            <a:off x="6766560" y="1786737"/>
            <a:ext cx="1801368" cy="265176"/>
          </a:xfrm>
          <a:prstGeom prst="roundRect">
            <a:avLst>
              <a:gd name="adj" fmla="val 9000"/>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839712" y="1818741"/>
            <a:ext cx="1655064" cy="201168"/>
          </a:xfrm>
          <a:prstGeom prst="rect">
            <a:avLst/>
          </a:prstGeom>
          <a:noFill/>
        </p:spPr>
        <p:txBody>
          <a:bodyPr wrap="square" lIns="0" tIns="0" rIns="0" bIns="0">
            <a:spAutoFit/>
          </a:bodyPr>
          <a:lstStyle/>
          <a:p>
            <a:pPr algn="l">
              <a:spcAft>
                <a:spcPts val="0"/>
              </a:spcAft>
              <a:defRPr sz="950" b="1">
                <a:solidFill>
                  <a:srgbClr val="16845A"/>
                </a:solidFill>
                <a:latin typeface="Aptos"/>
              </a:defRPr>
            </a:pPr>
            <a:r>
              <a:t>Live suite passed</a:t>
            </a:r>
          </a:p>
        </p:txBody>
      </p:sp>
      <p:sp>
        <p:nvSpPr>
          <p:cNvPr id="126" name="Rectangle 125"/>
          <p:cNvSpPr/>
          <p:nvPr/>
        </p:nvSpPr>
        <p:spPr>
          <a:xfrm>
            <a:off x="393192" y="2162556"/>
            <a:ext cx="8321040" cy="3977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530352" y="2221991"/>
            <a:ext cx="1783080" cy="274320"/>
          </a:xfrm>
          <a:prstGeom prst="rect">
            <a:avLst/>
          </a:prstGeom>
          <a:noFill/>
        </p:spPr>
        <p:txBody>
          <a:bodyPr wrap="square" lIns="0" tIns="0" rIns="0" bIns="0">
            <a:spAutoFit/>
          </a:bodyPr>
          <a:lstStyle/>
          <a:p>
            <a:pPr algn="l">
              <a:spcAft>
                <a:spcPts val="0"/>
              </a:spcAft>
              <a:defRPr sz="1200" b="1">
                <a:solidFill>
                  <a:srgbClr val="172336"/>
                </a:solidFill>
                <a:latin typeface="Aptos"/>
              </a:defRPr>
            </a:pPr>
            <a:r>
              <a:t>Firebase Hosting</a:t>
            </a:r>
          </a:p>
        </p:txBody>
      </p:sp>
      <p:sp>
        <p:nvSpPr>
          <p:cNvPr id="128" name="TextBox 127"/>
          <p:cNvSpPr txBox="1"/>
          <p:nvPr/>
        </p:nvSpPr>
        <p:spPr>
          <a:xfrm>
            <a:off x="2304288" y="2221991"/>
            <a:ext cx="4279392" cy="274320"/>
          </a:xfrm>
          <a:prstGeom prst="rect">
            <a:avLst/>
          </a:prstGeom>
          <a:noFill/>
        </p:spPr>
        <p:txBody>
          <a:bodyPr wrap="square" lIns="0" tIns="0" rIns="0" bIns="0">
            <a:spAutoFit/>
          </a:bodyPr>
          <a:lstStyle/>
          <a:p>
            <a:pPr algn="l">
              <a:spcAft>
                <a:spcPts val="0"/>
              </a:spcAft>
              <a:defRPr sz="1130" b="0">
                <a:solidFill>
                  <a:srgbClr val="53637C"/>
                </a:solidFill>
                <a:latin typeface="Aptos"/>
              </a:defRPr>
            </a:pPr>
            <a:r>
              <a:t>Public submission portal and prototype entry link</a:t>
            </a:r>
          </a:p>
        </p:txBody>
      </p:sp>
      <p:sp>
        <p:nvSpPr>
          <p:cNvPr id="129" name="Rounded Rectangle 128"/>
          <p:cNvSpPr/>
          <p:nvPr/>
        </p:nvSpPr>
        <p:spPr>
          <a:xfrm>
            <a:off x="6766560" y="2221077"/>
            <a:ext cx="1801368" cy="265176"/>
          </a:xfrm>
          <a:prstGeom prst="roundRect">
            <a:avLst>
              <a:gd name="adj" fmla="val 9000"/>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839712" y="2253081"/>
            <a:ext cx="1655064" cy="201168"/>
          </a:xfrm>
          <a:prstGeom prst="rect">
            <a:avLst/>
          </a:prstGeom>
          <a:noFill/>
        </p:spPr>
        <p:txBody>
          <a:bodyPr wrap="square" lIns="0" tIns="0" rIns="0" bIns="0">
            <a:spAutoFit/>
          </a:bodyPr>
          <a:lstStyle/>
          <a:p>
            <a:pPr algn="l">
              <a:spcAft>
                <a:spcPts val="0"/>
              </a:spcAft>
              <a:defRPr sz="950" b="1">
                <a:solidFill>
                  <a:srgbClr val="16845A"/>
                </a:solidFill>
                <a:latin typeface="Aptos"/>
              </a:defRPr>
            </a:pPr>
            <a:r>
              <a:t>Verified</a:t>
            </a:r>
          </a:p>
        </p:txBody>
      </p:sp>
      <p:sp>
        <p:nvSpPr>
          <p:cNvPr id="131" name="Rectangle 130"/>
          <p:cNvSpPr/>
          <p:nvPr/>
        </p:nvSpPr>
        <p:spPr>
          <a:xfrm>
            <a:off x="393192" y="2596896"/>
            <a:ext cx="8321040" cy="3977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530352" y="2656332"/>
            <a:ext cx="1783080" cy="274320"/>
          </a:xfrm>
          <a:prstGeom prst="rect">
            <a:avLst/>
          </a:prstGeom>
          <a:noFill/>
        </p:spPr>
        <p:txBody>
          <a:bodyPr wrap="square" lIns="0" tIns="0" rIns="0" bIns="0">
            <a:spAutoFit/>
          </a:bodyPr>
          <a:lstStyle/>
          <a:p>
            <a:pPr algn="l">
              <a:spcAft>
                <a:spcPts val="0"/>
              </a:spcAft>
              <a:defRPr sz="1200" b="1">
                <a:solidFill>
                  <a:srgbClr val="172336"/>
                </a:solidFill>
                <a:latin typeface="Aptos"/>
              </a:defRPr>
            </a:pPr>
            <a:r>
              <a:t>Firestore</a:t>
            </a:r>
          </a:p>
        </p:txBody>
      </p:sp>
      <p:sp>
        <p:nvSpPr>
          <p:cNvPr id="133" name="TextBox 132"/>
          <p:cNvSpPr txBox="1"/>
          <p:nvPr/>
        </p:nvSpPr>
        <p:spPr>
          <a:xfrm>
            <a:off x="2304288" y="2656332"/>
            <a:ext cx="4279392" cy="274320"/>
          </a:xfrm>
          <a:prstGeom prst="rect">
            <a:avLst/>
          </a:prstGeom>
          <a:noFill/>
        </p:spPr>
        <p:txBody>
          <a:bodyPr wrap="square" lIns="0" tIns="0" rIns="0" bIns="0">
            <a:spAutoFit/>
          </a:bodyPr>
          <a:lstStyle/>
          <a:p>
            <a:pPr algn="l">
              <a:spcAft>
                <a:spcPts val="0"/>
              </a:spcAft>
              <a:defRPr sz="1130" b="0">
                <a:solidFill>
                  <a:srgbClr val="53637C"/>
                </a:solidFill>
                <a:latin typeface="Aptos"/>
              </a:defRPr>
            </a:pPr>
            <a:r>
              <a:t>Persist completed run evidence for later review</a:t>
            </a:r>
          </a:p>
        </p:txBody>
      </p:sp>
      <p:sp>
        <p:nvSpPr>
          <p:cNvPr id="134" name="Rounded Rectangle 133"/>
          <p:cNvSpPr/>
          <p:nvPr/>
        </p:nvSpPr>
        <p:spPr>
          <a:xfrm>
            <a:off x="6766560" y="2655417"/>
            <a:ext cx="1801368" cy="265176"/>
          </a:xfrm>
          <a:prstGeom prst="roundRect">
            <a:avLst>
              <a:gd name="adj" fmla="val 9000"/>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6839712" y="2687421"/>
            <a:ext cx="1655064" cy="201168"/>
          </a:xfrm>
          <a:prstGeom prst="rect">
            <a:avLst/>
          </a:prstGeom>
          <a:noFill/>
        </p:spPr>
        <p:txBody>
          <a:bodyPr wrap="square" lIns="0" tIns="0" rIns="0" bIns="0">
            <a:spAutoFit/>
          </a:bodyPr>
          <a:lstStyle/>
          <a:p>
            <a:pPr algn="l">
              <a:spcAft>
                <a:spcPts val="0"/>
              </a:spcAft>
              <a:defRPr sz="950" b="1">
                <a:solidFill>
                  <a:srgbClr val="16845A"/>
                </a:solidFill>
                <a:latin typeface="Aptos"/>
              </a:defRPr>
            </a:pPr>
            <a:r>
              <a:t>Verified</a:t>
            </a:r>
          </a:p>
        </p:txBody>
      </p:sp>
      <p:sp>
        <p:nvSpPr>
          <p:cNvPr id="136" name="Rectangle 135"/>
          <p:cNvSpPr/>
          <p:nvPr/>
        </p:nvSpPr>
        <p:spPr>
          <a:xfrm>
            <a:off x="393192" y="3031235"/>
            <a:ext cx="8321040" cy="3977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530352" y="3090671"/>
            <a:ext cx="1783080" cy="274320"/>
          </a:xfrm>
          <a:prstGeom prst="rect">
            <a:avLst/>
          </a:prstGeom>
          <a:noFill/>
        </p:spPr>
        <p:txBody>
          <a:bodyPr wrap="square" lIns="0" tIns="0" rIns="0" bIns="0">
            <a:spAutoFit/>
          </a:bodyPr>
          <a:lstStyle/>
          <a:p>
            <a:pPr algn="l">
              <a:spcAft>
                <a:spcPts val="0"/>
              </a:spcAft>
              <a:defRPr sz="1200" b="1">
                <a:solidFill>
                  <a:srgbClr val="172336"/>
                </a:solidFill>
                <a:latin typeface="Aptos"/>
              </a:defRPr>
            </a:pPr>
            <a:r>
              <a:t>Cloud Run</a:t>
            </a:r>
          </a:p>
        </p:txBody>
      </p:sp>
      <p:sp>
        <p:nvSpPr>
          <p:cNvPr id="138" name="TextBox 137"/>
          <p:cNvSpPr txBox="1"/>
          <p:nvPr/>
        </p:nvSpPr>
        <p:spPr>
          <a:xfrm>
            <a:off x="2304288" y="3090671"/>
            <a:ext cx="4279392" cy="274320"/>
          </a:xfrm>
          <a:prstGeom prst="rect">
            <a:avLst/>
          </a:prstGeom>
          <a:noFill/>
        </p:spPr>
        <p:txBody>
          <a:bodyPr wrap="square" lIns="0" tIns="0" rIns="0" bIns="0">
            <a:spAutoFit/>
          </a:bodyPr>
          <a:lstStyle/>
          <a:p>
            <a:pPr algn="l">
              <a:spcAft>
                <a:spcPts val="0"/>
              </a:spcAft>
              <a:defRPr sz="1130" b="0">
                <a:solidFill>
                  <a:srgbClr val="53637C"/>
                </a:solidFill>
                <a:latin typeface="Aptos"/>
              </a:defRPr>
            </a:pPr>
            <a:r>
              <a:t>Managed runtime for the FastAPI service</a:t>
            </a:r>
          </a:p>
        </p:txBody>
      </p:sp>
      <p:sp>
        <p:nvSpPr>
          <p:cNvPr id="139" name="Rounded Rectangle 138"/>
          <p:cNvSpPr/>
          <p:nvPr/>
        </p:nvSpPr>
        <p:spPr>
          <a:xfrm>
            <a:off x="6766560" y="3089757"/>
            <a:ext cx="1801368" cy="265176"/>
          </a:xfrm>
          <a:prstGeom prst="roundRect">
            <a:avLst>
              <a:gd name="adj" fmla="val 9000"/>
            </a:avLst>
          </a:prstGeom>
          <a:solidFill>
            <a:srgbClr val="FFF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6839712" y="3121761"/>
            <a:ext cx="1655064" cy="201168"/>
          </a:xfrm>
          <a:prstGeom prst="rect">
            <a:avLst/>
          </a:prstGeom>
          <a:noFill/>
        </p:spPr>
        <p:txBody>
          <a:bodyPr wrap="square" lIns="0" tIns="0" rIns="0" bIns="0">
            <a:spAutoFit/>
          </a:bodyPr>
          <a:lstStyle/>
          <a:p>
            <a:pPr algn="l">
              <a:spcAft>
                <a:spcPts val="0"/>
              </a:spcAft>
              <a:defRPr sz="950" b="1">
                <a:solidFill>
                  <a:srgbClr val="946000"/>
                </a:solidFill>
                <a:latin typeface="Aptos"/>
              </a:defRPr>
            </a:pPr>
            <a:r>
              <a:t>Pending deployment</a:t>
            </a:r>
          </a:p>
        </p:txBody>
      </p:sp>
      <p:sp>
        <p:nvSpPr>
          <p:cNvPr id="141" name="Rectangle 140"/>
          <p:cNvSpPr/>
          <p:nvPr/>
        </p:nvSpPr>
        <p:spPr>
          <a:xfrm>
            <a:off x="393192" y="3465576"/>
            <a:ext cx="8321040" cy="3977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530352" y="3525012"/>
            <a:ext cx="1783080" cy="274320"/>
          </a:xfrm>
          <a:prstGeom prst="rect">
            <a:avLst/>
          </a:prstGeom>
          <a:noFill/>
        </p:spPr>
        <p:txBody>
          <a:bodyPr wrap="square" lIns="0" tIns="0" rIns="0" bIns="0">
            <a:spAutoFit/>
          </a:bodyPr>
          <a:lstStyle/>
          <a:p>
            <a:pPr algn="l">
              <a:spcAft>
                <a:spcPts val="0"/>
              </a:spcAft>
              <a:defRPr sz="1200" b="1">
                <a:solidFill>
                  <a:srgbClr val="172336"/>
                </a:solidFill>
                <a:latin typeface="Aptos"/>
              </a:defRPr>
            </a:pPr>
            <a:r>
              <a:t>React / Three.js</a:t>
            </a:r>
          </a:p>
        </p:txBody>
      </p:sp>
      <p:sp>
        <p:nvSpPr>
          <p:cNvPr id="143" name="TextBox 142"/>
          <p:cNvSpPr txBox="1"/>
          <p:nvPr/>
        </p:nvSpPr>
        <p:spPr>
          <a:xfrm>
            <a:off x="2304288" y="3525012"/>
            <a:ext cx="4279392" cy="274320"/>
          </a:xfrm>
          <a:prstGeom prst="rect">
            <a:avLst/>
          </a:prstGeom>
          <a:noFill/>
        </p:spPr>
        <p:txBody>
          <a:bodyPr wrap="square" lIns="0" tIns="0" rIns="0" bIns="0">
            <a:spAutoFit/>
          </a:bodyPr>
          <a:lstStyle/>
          <a:p>
            <a:pPr algn="l">
              <a:spcAft>
                <a:spcPts val="0"/>
              </a:spcAft>
              <a:defRPr sz="1130" b="0">
                <a:solidFill>
                  <a:srgbClr val="53637C"/>
                </a:solidFill>
                <a:latin typeface="Aptos"/>
              </a:defRPr>
            </a:pPr>
            <a:r>
              <a:t>Responsive recovery desk, service views and replay</a:t>
            </a:r>
          </a:p>
        </p:txBody>
      </p:sp>
      <p:sp>
        <p:nvSpPr>
          <p:cNvPr id="144" name="Rounded Rectangle 143"/>
          <p:cNvSpPr/>
          <p:nvPr/>
        </p:nvSpPr>
        <p:spPr>
          <a:xfrm>
            <a:off x="6766560" y="3524097"/>
            <a:ext cx="1801368" cy="265176"/>
          </a:xfrm>
          <a:prstGeom prst="roundRect">
            <a:avLst>
              <a:gd name="adj" fmla="val 9000"/>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6839712" y="3556101"/>
            <a:ext cx="1655064" cy="201168"/>
          </a:xfrm>
          <a:prstGeom prst="rect">
            <a:avLst/>
          </a:prstGeom>
          <a:noFill/>
        </p:spPr>
        <p:txBody>
          <a:bodyPr wrap="square" lIns="0" tIns="0" rIns="0" bIns="0">
            <a:spAutoFit/>
          </a:bodyPr>
          <a:lstStyle/>
          <a:p>
            <a:pPr algn="l">
              <a:spcAft>
                <a:spcPts val="0"/>
              </a:spcAft>
              <a:defRPr sz="950" b="1">
                <a:solidFill>
                  <a:srgbClr val="16845A"/>
                </a:solidFill>
                <a:latin typeface="Aptos"/>
              </a:defRPr>
            </a:pPr>
            <a:r>
              <a:t>Implemented</a:t>
            </a:r>
          </a:p>
        </p:txBody>
      </p:sp>
      <p:sp>
        <p:nvSpPr>
          <p:cNvPr id="146" name="Rectangle 145"/>
          <p:cNvSpPr/>
          <p:nvPr/>
        </p:nvSpPr>
        <p:spPr>
          <a:xfrm>
            <a:off x="393192" y="3899915"/>
            <a:ext cx="8321040" cy="3977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530352" y="3959352"/>
            <a:ext cx="1783080" cy="274320"/>
          </a:xfrm>
          <a:prstGeom prst="rect">
            <a:avLst/>
          </a:prstGeom>
          <a:noFill/>
        </p:spPr>
        <p:txBody>
          <a:bodyPr wrap="square" lIns="0" tIns="0" rIns="0" bIns="0">
            <a:spAutoFit/>
          </a:bodyPr>
          <a:lstStyle/>
          <a:p>
            <a:pPr algn="l">
              <a:spcAft>
                <a:spcPts val="0"/>
              </a:spcAft>
              <a:defRPr sz="1200" b="1">
                <a:solidFill>
                  <a:srgbClr val="172336"/>
                </a:solidFill>
                <a:latin typeface="Aptos"/>
              </a:defRPr>
            </a:pPr>
            <a:r>
              <a:t>FastAPI / Pydantic</a:t>
            </a:r>
          </a:p>
        </p:txBody>
      </p:sp>
      <p:sp>
        <p:nvSpPr>
          <p:cNvPr id="148" name="TextBox 147"/>
          <p:cNvSpPr txBox="1"/>
          <p:nvPr/>
        </p:nvSpPr>
        <p:spPr>
          <a:xfrm>
            <a:off x="2304288" y="3959352"/>
            <a:ext cx="4279392" cy="274320"/>
          </a:xfrm>
          <a:prstGeom prst="rect">
            <a:avLst/>
          </a:prstGeom>
          <a:noFill/>
        </p:spPr>
        <p:txBody>
          <a:bodyPr wrap="square" lIns="0" tIns="0" rIns="0" bIns="0">
            <a:spAutoFit/>
          </a:bodyPr>
          <a:lstStyle/>
          <a:p>
            <a:pPr algn="l">
              <a:spcAft>
                <a:spcPts val="0"/>
              </a:spcAft>
              <a:defRPr sz="1130" b="0">
                <a:solidFill>
                  <a:srgbClr val="53637C"/>
                </a:solidFill>
                <a:latin typeface="Aptos"/>
              </a:defRPr>
            </a:pPr>
            <a:r>
              <a:t>Typed proposals, execution guards and verification</a:t>
            </a:r>
          </a:p>
        </p:txBody>
      </p:sp>
      <p:sp>
        <p:nvSpPr>
          <p:cNvPr id="149" name="Rounded Rectangle 148"/>
          <p:cNvSpPr/>
          <p:nvPr/>
        </p:nvSpPr>
        <p:spPr>
          <a:xfrm>
            <a:off x="6766560" y="3958437"/>
            <a:ext cx="1801368" cy="265176"/>
          </a:xfrm>
          <a:prstGeom prst="roundRect">
            <a:avLst>
              <a:gd name="adj" fmla="val 9000"/>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6839712" y="3990441"/>
            <a:ext cx="1655064" cy="201168"/>
          </a:xfrm>
          <a:prstGeom prst="rect">
            <a:avLst/>
          </a:prstGeom>
          <a:noFill/>
        </p:spPr>
        <p:txBody>
          <a:bodyPr wrap="square" lIns="0" tIns="0" rIns="0" bIns="0">
            <a:spAutoFit/>
          </a:bodyPr>
          <a:lstStyle/>
          <a:p>
            <a:pPr algn="l">
              <a:spcAft>
                <a:spcPts val="0"/>
              </a:spcAft>
              <a:defRPr sz="950" b="1">
                <a:solidFill>
                  <a:srgbClr val="16845A"/>
                </a:solidFill>
                <a:latin typeface="Aptos"/>
              </a:defRPr>
            </a:pPr>
            <a:r>
              <a:t>Implemented</a:t>
            </a:r>
          </a:p>
        </p:txBody>
      </p:sp>
      <p:sp>
        <p:nvSpPr>
          <p:cNvPr id="151" name="TextBox 150"/>
          <p:cNvSpPr txBox="1"/>
          <p:nvPr/>
        </p:nvSpPr>
        <p:spPr>
          <a:xfrm>
            <a:off x="466344" y="4480560"/>
            <a:ext cx="8129016" cy="228600"/>
          </a:xfrm>
          <a:prstGeom prst="rect">
            <a:avLst/>
          </a:prstGeom>
          <a:noFill/>
        </p:spPr>
        <p:txBody>
          <a:bodyPr wrap="square" lIns="0" tIns="0" rIns="0" bIns="0">
            <a:spAutoFit/>
          </a:bodyPr>
          <a:lstStyle/>
          <a:p>
            <a:pPr algn="l">
              <a:spcAft>
                <a:spcPts val="0"/>
              </a:spcAft>
              <a:defRPr sz="1019" b="0">
                <a:solidFill>
                  <a:srgbClr val="53637C"/>
                </a:solidFill>
                <a:latin typeface="Aptos"/>
              </a:defRPr>
            </a:pPr>
            <a:r>
              <a:t>Verified model: gemini-3.5-flash-lite. No automatic fallback to a paid model.</a:t>
            </a:r>
          </a:p>
        </p:txBody>
      </p:sp>
      <p:sp>
        <p:nvSpPr>
          <p:cNvPr id="152" name="TextBox 151"/>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Firebase hosts the materials page; the interactive backend currently runs in Cloud Shell.</a:t>
            </a:r>
          </a:p>
        </p:txBody>
      </p:sp>
      <p:sp>
        <p:nvSpPr>
          <p:cNvPr id="153" name="TextBox 152"/>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2"/>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Estimated implementation cost (optional)</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A free-tier prototype today; a metered pilot budget before any production rollout.</a:t>
            </a:r>
          </a:p>
        </p:txBody>
      </p:sp>
      <p:sp>
        <p:nvSpPr>
          <p:cNvPr id="129" name="Rounded Rectangle 128"/>
          <p:cNvSpPr/>
          <p:nvPr/>
        </p:nvSpPr>
        <p:spPr>
          <a:xfrm>
            <a:off x="393192" y="1700784"/>
            <a:ext cx="3977639" cy="2706624"/>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393192" y="1700784"/>
            <a:ext cx="41148" cy="2706624"/>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539496" y="1810512"/>
            <a:ext cx="3685031" cy="384048"/>
          </a:xfrm>
          <a:prstGeom prst="rect">
            <a:avLst/>
          </a:prstGeom>
          <a:noFill/>
        </p:spPr>
        <p:txBody>
          <a:bodyPr wrap="square" lIns="0" tIns="0" rIns="0" bIns="0">
            <a:spAutoFit/>
          </a:bodyPr>
          <a:lstStyle/>
          <a:p>
            <a:pPr algn="l">
              <a:spcAft>
                <a:spcPts val="0"/>
              </a:spcAft>
              <a:defRPr sz="1500" b="1">
                <a:solidFill>
                  <a:srgbClr val="2864DF"/>
                </a:solidFill>
                <a:latin typeface="Aptos"/>
              </a:defRPr>
            </a:pPr>
            <a:r>
              <a:t>Prototype resources</a:t>
            </a:r>
          </a:p>
        </p:txBody>
      </p:sp>
      <p:sp>
        <p:nvSpPr>
          <p:cNvPr id="132" name="TextBox 131"/>
          <p:cNvSpPr txBox="1"/>
          <p:nvPr/>
        </p:nvSpPr>
        <p:spPr>
          <a:xfrm>
            <a:off x="539496" y="2231136"/>
            <a:ext cx="3685031" cy="2093976"/>
          </a:xfrm>
          <a:prstGeom prst="rect">
            <a:avLst/>
          </a:prstGeom>
          <a:noFill/>
        </p:spPr>
        <p:txBody>
          <a:bodyPr wrap="square" lIns="0" tIns="0" rIns="0" bIns="0">
            <a:spAutoFit/>
          </a:bodyPr>
          <a:lstStyle/>
          <a:p>
            <a:pPr algn="l">
              <a:spcAft>
                <a:spcPts val="0"/>
              </a:spcAft>
              <a:defRPr sz="1400" b="0">
                <a:solidFill>
                  <a:srgbClr val="172336"/>
                </a:solidFill>
                <a:latin typeface="Aptos"/>
              </a:defRPr>
            </a:pPr>
            <a:r>
              <a:t>Gemini Developer API: confirmed Free tier.</a:t>
            </a:r>
          </a:p>
          <a:p>
            <a:pPr algn="l">
              <a:spcAft>
                <a:spcPts val="0"/>
              </a:spcAft>
              <a:defRPr sz="1400" b="0">
                <a:solidFill>
                  <a:srgbClr val="172336"/>
                </a:solidFill>
                <a:latin typeface="Aptos"/>
              </a:defRPr>
            </a:pPr>
            <a:endParaRPr/>
          </a:p>
          <a:p>
            <a:pPr algn="l">
              <a:spcAft>
                <a:spcPts val="0"/>
              </a:spcAft>
              <a:defRPr sz="1400" b="0">
                <a:solidFill>
                  <a:srgbClr val="172336"/>
                </a:solidFill>
                <a:latin typeface="Aptos"/>
              </a:defRPr>
            </a:pPr>
            <a:r>
              <a:t>Firebase and Firestore: free allowances, project billing disabled.</a:t>
            </a:r>
          </a:p>
          <a:p>
            <a:pPr algn="l">
              <a:spcAft>
                <a:spcPts val="0"/>
              </a:spcAft>
              <a:defRPr sz="1400" b="0">
                <a:solidFill>
                  <a:srgbClr val="172336"/>
                </a:solidFill>
                <a:latin typeface="Aptos"/>
              </a:defRPr>
            </a:pPr>
            <a:endParaRPr/>
          </a:p>
          <a:p>
            <a:pPr algn="l">
              <a:spcAft>
                <a:spcPts val="0"/>
              </a:spcAft>
              <a:defRPr sz="1400" b="0">
                <a:solidFill>
                  <a:srgbClr val="172336"/>
                </a:solidFill>
                <a:latin typeface="Aptos"/>
              </a:defRPr>
            </a:pPr>
            <a:r>
              <a:t>Cloud Shell: temporary development host.</a:t>
            </a:r>
          </a:p>
        </p:txBody>
      </p:sp>
      <p:sp>
        <p:nvSpPr>
          <p:cNvPr id="133" name="Rounded Rectangle 132"/>
          <p:cNvSpPr/>
          <p:nvPr/>
        </p:nvSpPr>
        <p:spPr>
          <a:xfrm>
            <a:off x="4617720" y="1700784"/>
            <a:ext cx="4096512" cy="2706624"/>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4617720" y="1700784"/>
            <a:ext cx="41148" cy="2706624"/>
          </a:xfrm>
          <a:prstGeom prst="rect">
            <a:avLst/>
          </a:prstGeom>
          <a:solidFill>
            <a:srgbClr val="755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4764024" y="1810512"/>
            <a:ext cx="3803904" cy="384048"/>
          </a:xfrm>
          <a:prstGeom prst="rect">
            <a:avLst/>
          </a:prstGeom>
          <a:noFill/>
        </p:spPr>
        <p:txBody>
          <a:bodyPr wrap="square" lIns="0" tIns="0" rIns="0" bIns="0">
            <a:spAutoFit/>
          </a:bodyPr>
          <a:lstStyle/>
          <a:p>
            <a:pPr algn="l">
              <a:spcAft>
                <a:spcPts val="0"/>
              </a:spcAft>
              <a:defRPr sz="1500" b="1">
                <a:solidFill>
                  <a:srgbClr val="7557DD"/>
                </a:solidFill>
                <a:latin typeface="Aptos"/>
              </a:defRPr>
            </a:pPr>
            <a:r>
              <a:t>Pilot cost model</a:t>
            </a:r>
          </a:p>
        </p:txBody>
      </p:sp>
      <p:sp>
        <p:nvSpPr>
          <p:cNvPr id="136" name="TextBox 135"/>
          <p:cNvSpPr txBox="1"/>
          <p:nvPr/>
        </p:nvSpPr>
        <p:spPr>
          <a:xfrm>
            <a:off x="4764024" y="2231136"/>
            <a:ext cx="3803904" cy="2093976"/>
          </a:xfrm>
          <a:prstGeom prst="rect">
            <a:avLst/>
          </a:prstGeom>
          <a:noFill/>
        </p:spPr>
        <p:txBody>
          <a:bodyPr wrap="square" lIns="0" tIns="0" rIns="0" bIns="0">
            <a:spAutoFit/>
          </a:bodyPr>
          <a:lstStyle/>
          <a:p>
            <a:pPr algn="l">
              <a:spcAft>
                <a:spcPts val="0"/>
              </a:spcAft>
              <a:defRPr sz="1400" b="0">
                <a:solidFill>
                  <a:srgbClr val="172336"/>
                </a:solidFill>
                <a:latin typeface="Aptos"/>
              </a:defRPr>
            </a:pPr>
            <a:r>
              <a:t>One-time: connector development, permissions and operational testing.</a:t>
            </a:r>
          </a:p>
          <a:p>
            <a:pPr algn="l">
              <a:spcAft>
                <a:spcPts val="0"/>
              </a:spcAft>
              <a:defRPr sz="1400" b="0">
                <a:solidFill>
                  <a:srgbClr val="172336"/>
                </a:solidFill>
                <a:latin typeface="Aptos"/>
              </a:defRPr>
            </a:pPr>
            <a:endParaRPr/>
          </a:p>
          <a:p>
            <a:pPr algn="l">
              <a:spcAft>
                <a:spcPts val="0"/>
              </a:spcAft>
              <a:defRPr sz="1400" b="0">
                <a:solidFill>
                  <a:srgbClr val="172336"/>
                </a:solidFill>
                <a:latin typeface="Aptos"/>
              </a:defRPr>
            </a:pPr>
            <a:r>
              <a:t>Recurring: inference, hosting, storage and human review.</a:t>
            </a:r>
          </a:p>
          <a:p>
            <a:pPr algn="l">
              <a:spcAft>
                <a:spcPts val="0"/>
              </a:spcAft>
              <a:defRPr sz="1400" b="0">
                <a:solidFill>
                  <a:srgbClr val="172336"/>
                </a:solidFill>
                <a:latin typeface="Aptos"/>
              </a:defRPr>
            </a:pPr>
            <a:endParaRPr/>
          </a:p>
          <a:p>
            <a:pPr algn="l">
              <a:spcAft>
                <a:spcPts val="0"/>
              </a:spcAft>
              <a:defRPr sz="1400" b="0">
                <a:solidFill>
                  <a:srgbClr val="172336"/>
                </a:solidFill>
                <a:latin typeface="Aptos"/>
              </a:defRPr>
            </a:pPr>
            <a:r>
              <a:t>Price after measuring pilot volumes.</a:t>
            </a:r>
          </a:p>
        </p:txBody>
      </p:sp>
      <p:sp>
        <p:nvSpPr>
          <p:cNvPr id="137" name="TextBox 136"/>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Cloud Run is not deployed. A free allowance is not a hard spending cap; no production cost estimate is claimed.</a:t>
            </a:r>
          </a:p>
        </p:txBody>
      </p:sp>
      <p:sp>
        <p:nvSpPr>
          <p:cNvPr id="138" name="TextBox 137"/>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23"/>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Actual video run: stale stock rejected, original item recovered, audit saved in Firestore.</a:t>
            </a:r>
          </a:p>
        </p:txBody>
      </p:sp>
      <p:pic>
        <p:nvPicPr>
          <p:cNvPr id="137" name="Picture 136" descr="custom-gemini-verification.png"/>
          <p:cNvPicPr>
            <a:picLocks noChangeAspect="1"/>
          </p:cNvPicPr>
          <p:nvPr/>
        </p:nvPicPr>
        <p:blipFill>
          <a:blip r:embed="rId5"/>
          <a:stretch>
            <a:fillRect/>
          </a:stretch>
        </p:blipFill>
        <p:spPr>
          <a:xfrm>
            <a:off x="1173260" y="1627632"/>
            <a:ext cx="6760902" cy="2843784"/>
          </a:xfrm>
          <a:prstGeom prst="rect">
            <a:avLst/>
          </a:prstGeom>
        </p:spPr>
      </p:pic>
      <p:sp>
        <p:nvSpPr>
          <p:cNvPr id="138" name="TextBox 137"/>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Gemini 3.5 Flash-Lite • 4 model proposals + 3 initial reads • 1 blocked proposal • 46.4 seconds including pacing.</a:t>
            </a:r>
          </a:p>
        </p:txBody>
      </p:sp>
      <p:sp>
        <p:nvSpPr>
          <p:cNvPr id="139" name="TextBox 138"/>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24"/>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Six reviewed synthetic scenarios, plus automated controller and interface checks.</a:t>
            </a:r>
          </a:p>
        </p:txBody>
      </p:sp>
      <p:sp>
        <p:nvSpPr>
          <p:cNvPr id="145" name="TextBox 144"/>
          <p:cNvSpPr txBox="1"/>
          <p:nvPr/>
        </p:nvSpPr>
        <p:spPr>
          <a:xfrm>
            <a:off x="438912" y="1682496"/>
            <a:ext cx="2907792" cy="347472"/>
          </a:xfrm>
          <a:prstGeom prst="rect">
            <a:avLst/>
          </a:prstGeom>
          <a:noFill/>
        </p:spPr>
        <p:txBody>
          <a:bodyPr wrap="square" lIns="0" tIns="0" rIns="0" bIns="0">
            <a:spAutoFit/>
          </a:bodyPr>
          <a:lstStyle/>
          <a:p>
            <a:pPr algn="l">
              <a:spcAft>
                <a:spcPts val="0"/>
              </a:spcAft>
              <a:defRPr sz="2200" b="1">
                <a:solidFill>
                  <a:srgbClr val="16845A"/>
                </a:solidFill>
                <a:latin typeface="Aptos"/>
              </a:defRPr>
            </a:pPr>
            <a:r>
              <a:t>6/6 live Gemini</a:t>
            </a:r>
          </a:p>
        </p:txBody>
      </p:sp>
      <p:sp>
        <p:nvSpPr>
          <p:cNvPr id="146" name="TextBox 145"/>
          <p:cNvSpPr txBox="1"/>
          <p:nvPr/>
        </p:nvSpPr>
        <p:spPr>
          <a:xfrm>
            <a:off x="3410712" y="1691640"/>
            <a:ext cx="2496312" cy="301752"/>
          </a:xfrm>
          <a:prstGeom prst="rect">
            <a:avLst/>
          </a:prstGeom>
          <a:noFill/>
        </p:spPr>
        <p:txBody>
          <a:bodyPr wrap="square" lIns="0" tIns="0" rIns="0" bIns="0">
            <a:spAutoFit/>
          </a:bodyPr>
          <a:lstStyle/>
          <a:p>
            <a:pPr algn="l">
              <a:spcAft>
                <a:spcPts val="0"/>
              </a:spcAft>
              <a:defRPr sz="2000" b="1">
                <a:solidFill>
                  <a:srgbClr val="2864DF"/>
                </a:solidFill>
                <a:latin typeface="Aptos"/>
              </a:defRPr>
            </a:pPr>
            <a:r>
              <a:t>83 Python tests</a:t>
            </a:r>
          </a:p>
        </p:txBody>
      </p:sp>
      <p:sp>
        <p:nvSpPr>
          <p:cNvPr id="147" name="TextBox 146"/>
          <p:cNvSpPr txBox="1"/>
          <p:nvPr/>
        </p:nvSpPr>
        <p:spPr>
          <a:xfrm>
            <a:off x="6291072" y="1691640"/>
            <a:ext cx="2340864" cy="301752"/>
          </a:xfrm>
          <a:prstGeom prst="rect">
            <a:avLst/>
          </a:prstGeom>
          <a:noFill/>
        </p:spPr>
        <p:txBody>
          <a:bodyPr wrap="square" lIns="0" tIns="0" rIns="0" bIns="0">
            <a:spAutoFit/>
          </a:bodyPr>
          <a:lstStyle/>
          <a:p>
            <a:pPr algn="l">
              <a:spcAft>
                <a:spcPts val="0"/>
              </a:spcAft>
              <a:defRPr sz="2000" b="1">
                <a:solidFill>
                  <a:srgbClr val="2864DF"/>
                </a:solidFill>
                <a:latin typeface="Aptos"/>
              </a:defRPr>
            </a:pPr>
            <a:r>
              <a:t>8 JavaScript tests</a:t>
            </a:r>
          </a:p>
        </p:txBody>
      </p:sp>
      <p:sp>
        <p:nvSpPr>
          <p:cNvPr id="148" name="TextBox 147"/>
          <p:cNvSpPr txBox="1"/>
          <p:nvPr/>
        </p:nvSpPr>
        <p:spPr>
          <a:xfrm>
            <a:off x="521207" y="2258568"/>
            <a:ext cx="2743200" cy="237744"/>
          </a:xfrm>
          <a:prstGeom prst="rect">
            <a:avLst/>
          </a:prstGeom>
          <a:noFill/>
        </p:spPr>
        <p:txBody>
          <a:bodyPr wrap="square" lIns="0" tIns="0" rIns="0" bIns="0">
            <a:spAutoFit/>
          </a:bodyPr>
          <a:lstStyle/>
          <a:p>
            <a:pPr algn="l">
              <a:spcAft>
                <a:spcPts val="0"/>
              </a:spcAft>
              <a:defRPr sz="1000" b="1">
                <a:solidFill>
                  <a:srgbClr val="53637C"/>
                </a:solidFill>
                <a:latin typeface="Aptos"/>
              </a:defRPr>
            </a:pPr>
            <a:r>
              <a:t>Scenario</a:t>
            </a:r>
          </a:p>
        </p:txBody>
      </p:sp>
      <p:sp>
        <p:nvSpPr>
          <p:cNvPr id="149" name="TextBox 148"/>
          <p:cNvSpPr txBox="1"/>
          <p:nvPr/>
        </p:nvSpPr>
        <p:spPr>
          <a:xfrm>
            <a:off x="3337560" y="2258568"/>
            <a:ext cx="1673352" cy="237744"/>
          </a:xfrm>
          <a:prstGeom prst="rect">
            <a:avLst/>
          </a:prstGeom>
          <a:noFill/>
        </p:spPr>
        <p:txBody>
          <a:bodyPr wrap="square" lIns="0" tIns="0" rIns="0" bIns="0">
            <a:spAutoFit/>
          </a:bodyPr>
          <a:lstStyle/>
          <a:p>
            <a:pPr algn="l">
              <a:spcAft>
                <a:spcPts val="0"/>
              </a:spcAft>
              <a:defRPr sz="1000" b="1">
                <a:solidFill>
                  <a:srgbClr val="53637C"/>
                </a:solidFill>
                <a:latin typeface="Aptos"/>
              </a:defRPr>
            </a:pPr>
            <a:r>
              <a:t>Expected</a:t>
            </a:r>
          </a:p>
        </p:txBody>
      </p:sp>
      <p:sp>
        <p:nvSpPr>
          <p:cNvPr id="150" name="TextBox 149"/>
          <p:cNvSpPr txBox="1"/>
          <p:nvPr/>
        </p:nvSpPr>
        <p:spPr>
          <a:xfrm>
            <a:off x="5184648" y="2258568"/>
            <a:ext cx="1618488" cy="237744"/>
          </a:xfrm>
          <a:prstGeom prst="rect">
            <a:avLst/>
          </a:prstGeom>
          <a:noFill/>
        </p:spPr>
        <p:txBody>
          <a:bodyPr wrap="square" lIns="0" tIns="0" rIns="0" bIns="0">
            <a:spAutoFit/>
          </a:bodyPr>
          <a:lstStyle/>
          <a:p>
            <a:pPr algn="l">
              <a:spcAft>
                <a:spcPts val="0"/>
              </a:spcAft>
              <a:defRPr sz="1000" b="1">
                <a:solidFill>
                  <a:srgbClr val="53637C"/>
                </a:solidFill>
                <a:latin typeface="Aptos"/>
              </a:defRPr>
            </a:pPr>
            <a:r>
              <a:t>Gemini outcome</a:t>
            </a:r>
          </a:p>
        </p:txBody>
      </p:sp>
      <p:sp>
        <p:nvSpPr>
          <p:cNvPr id="151" name="TextBox 150"/>
          <p:cNvSpPr txBox="1"/>
          <p:nvPr/>
        </p:nvSpPr>
        <p:spPr>
          <a:xfrm>
            <a:off x="7187184" y="2258568"/>
            <a:ext cx="1353312" cy="237744"/>
          </a:xfrm>
          <a:prstGeom prst="rect">
            <a:avLst/>
          </a:prstGeom>
          <a:noFill/>
        </p:spPr>
        <p:txBody>
          <a:bodyPr wrap="square" lIns="0" tIns="0" rIns="0" bIns="0">
            <a:spAutoFit/>
          </a:bodyPr>
          <a:lstStyle/>
          <a:p>
            <a:pPr algn="l">
              <a:spcAft>
                <a:spcPts val="0"/>
              </a:spcAft>
              <a:defRPr sz="1000" b="1">
                <a:solidFill>
                  <a:srgbClr val="53637C"/>
                </a:solidFill>
                <a:latin typeface="Aptos"/>
              </a:defRPr>
            </a:pPr>
            <a:r>
              <a:t>Model calls</a:t>
            </a:r>
          </a:p>
        </p:txBody>
      </p:sp>
      <p:sp>
        <p:nvSpPr>
          <p:cNvPr id="152" name="Rectangle 151"/>
          <p:cNvSpPr/>
          <p:nvPr/>
        </p:nvSpPr>
        <p:spPr>
          <a:xfrm>
            <a:off x="411480" y="2564892"/>
            <a:ext cx="8302752" cy="256946"/>
          </a:xfrm>
          <a:prstGeom prst="rect">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521207" y="2587752"/>
            <a:ext cx="269748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stock race</a:t>
            </a:r>
          </a:p>
        </p:txBody>
      </p:sp>
      <p:sp>
        <p:nvSpPr>
          <p:cNvPr id="154" name="TextBox 153"/>
          <p:cNvSpPr txBox="1"/>
          <p:nvPr/>
        </p:nvSpPr>
        <p:spPr>
          <a:xfrm>
            <a:off x="3337560" y="2587752"/>
            <a:ext cx="1673352"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recovered</a:t>
            </a:r>
          </a:p>
        </p:txBody>
      </p:sp>
      <p:sp>
        <p:nvSpPr>
          <p:cNvPr id="155" name="TextBox 154"/>
          <p:cNvSpPr txBox="1"/>
          <p:nvPr/>
        </p:nvSpPr>
        <p:spPr>
          <a:xfrm>
            <a:off x="5184648" y="2587752"/>
            <a:ext cx="1618488"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recovered</a:t>
            </a:r>
          </a:p>
        </p:txBody>
      </p:sp>
      <p:sp>
        <p:nvSpPr>
          <p:cNvPr id="156" name="TextBox 155"/>
          <p:cNvSpPr txBox="1"/>
          <p:nvPr/>
        </p:nvSpPr>
        <p:spPr>
          <a:xfrm>
            <a:off x="7525512" y="2587752"/>
            <a:ext cx="59436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4</a:t>
            </a:r>
          </a:p>
        </p:txBody>
      </p:sp>
      <p:sp>
        <p:nvSpPr>
          <p:cNvPr id="157" name="Rectangle 156"/>
          <p:cNvSpPr/>
          <p:nvPr/>
        </p:nvSpPr>
        <p:spPr>
          <a:xfrm>
            <a:off x="411480" y="2830068"/>
            <a:ext cx="8302752" cy="256946"/>
          </a:xfrm>
          <a:prstGeom prst="rect">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521207" y="2852928"/>
            <a:ext cx="269748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straight recovery</a:t>
            </a:r>
          </a:p>
        </p:txBody>
      </p:sp>
      <p:sp>
        <p:nvSpPr>
          <p:cNvPr id="159" name="TextBox 158"/>
          <p:cNvSpPr txBox="1"/>
          <p:nvPr/>
        </p:nvSpPr>
        <p:spPr>
          <a:xfrm>
            <a:off x="3337560" y="2852928"/>
            <a:ext cx="1673352"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recovered</a:t>
            </a:r>
          </a:p>
        </p:txBody>
      </p:sp>
      <p:sp>
        <p:nvSpPr>
          <p:cNvPr id="160" name="TextBox 159"/>
          <p:cNvSpPr txBox="1"/>
          <p:nvPr/>
        </p:nvSpPr>
        <p:spPr>
          <a:xfrm>
            <a:off x="5184648" y="2852928"/>
            <a:ext cx="1618488"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recovered</a:t>
            </a:r>
          </a:p>
        </p:txBody>
      </p:sp>
      <p:sp>
        <p:nvSpPr>
          <p:cNvPr id="161" name="TextBox 160"/>
          <p:cNvSpPr txBox="1"/>
          <p:nvPr/>
        </p:nvSpPr>
        <p:spPr>
          <a:xfrm>
            <a:off x="7525512" y="2852928"/>
            <a:ext cx="59436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2</a:t>
            </a:r>
          </a:p>
        </p:txBody>
      </p:sp>
      <p:sp>
        <p:nvSpPr>
          <p:cNvPr id="162" name="Rectangle 161"/>
          <p:cNvSpPr/>
          <p:nvPr/>
        </p:nvSpPr>
        <p:spPr>
          <a:xfrm>
            <a:off x="411480" y="3095244"/>
            <a:ext cx="8302752" cy="256946"/>
          </a:xfrm>
          <a:prstGeom prst="rect">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521207" y="3118104"/>
            <a:ext cx="269748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cancel order</a:t>
            </a:r>
          </a:p>
        </p:txBody>
      </p:sp>
      <p:sp>
        <p:nvSpPr>
          <p:cNvPr id="164" name="TextBox 163"/>
          <p:cNvSpPr txBox="1"/>
          <p:nvPr/>
        </p:nvSpPr>
        <p:spPr>
          <a:xfrm>
            <a:off x="3337560" y="3118104"/>
            <a:ext cx="1673352"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cancelled</a:t>
            </a:r>
          </a:p>
        </p:txBody>
      </p:sp>
      <p:sp>
        <p:nvSpPr>
          <p:cNvPr id="165" name="TextBox 164"/>
          <p:cNvSpPr txBox="1"/>
          <p:nvPr/>
        </p:nvSpPr>
        <p:spPr>
          <a:xfrm>
            <a:off x="5184648" y="3118104"/>
            <a:ext cx="1618488"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cancelled</a:t>
            </a:r>
          </a:p>
        </p:txBody>
      </p:sp>
      <p:sp>
        <p:nvSpPr>
          <p:cNvPr id="166" name="TextBox 165"/>
          <p:cNvSpPr txBox="1"/>
          <p:nvPr/>
        </p:nvSpPr>
        <p:spPr>
          <a:xfrm>
            <a:off x="7525512" y="3118104"/>
            <a:ext cx="59436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3</a:t>
            </a:r>
          </a:p>
        </p:txBody>
      </p:sp>
      <p:sp>
        <p:nvSpPr>
          <p:cNvPr id="167" name="Rectangle 166"/>
          <p:cNvSpPr/>
          <p:nvPr/>
        </p:nvSpPr>
        <p:spPr>
          <a:xfrm>
            <a:off x="411480" y="3360420"/>
            <a:ext cx="8302752" cy="256946"/>
          </a:xfrm>
          <a:prstGeom prst="rect">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521207" y="3383280"/>
            <a:ext cx="269748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unknown payment</a:t>
            </a:r>
          </a:p>
        </p:txBody>
      </p:sp>
      <p:sp>
        <p:nvSpPr>
          <p:cNvPr id="169" name="TextBox 168"/>
          <p:cNvSpPr txBox="1"/>
          <p:nvPr/>
        </p:nvSpPr>
        <p:spPr>
          <a:xfrm>
            <a:off x="3337560" y="3383280"/>
            <a:ext cx="1673352"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escalated</a:t>
            </a:r>
          </a:p>
        </p:txBody>
      </p:sp>
      <p:sp>
        <p:nvSpPr>
          <p:cNvPr id="170" name="TextBox 169"/>
          <p:cNvSpPr txBox="1"/>
          <p:nvPr/>
        </p:nvSpPr>
        <p:spPr>
          <a:xfrm>
            <a:off x="5184648" y="3383280"/>
            <a:ext cx="1618488"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escalated</a:t>
            </a:r>
          </a:p>
        </p:txBody>
      </p:sp>
      <p:sp>
        <p:nvSpPr>
          <p:cNvPr id="171" name="TextBox 170"/>
          <p:cNvSpPr txBox="1"/>
          <p:nvPr/>
        </p:nvSpPr>
        <p:spPr>
          <a:xfrm>
            <a:off x="7525512" y="3383280"/>
            <a:ext cx="59436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1</a:t>
            </a:r>
          </a:p>
        </p:txBody>
      </p:sp>
      <p:sp>
        <p:nvSpPr>
          <p:cNvPr id="172" name="Rectangle 171"/>
          <p:cNvSpPr/>
          <p:nvPr/>
        </p:nvSpPr>
        <p:spPr>
          <a:xfrm>
            <a:off x="411480" y="3625596"/>
            <a:ext cx="8302752" cy="256946"/>
          </a:xfrm>
          <a:prstGeom prst="rect">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521207" y="3648456"/>
            <a:ext cx="269748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approved substitute</a:t>
            </a:r>
          </a:p>
        </p:txBody>
      </p:sp>
      <p:sp>
        <p:nvSpPr>
          <p:cNvPr id="174" name="TextBox 173"/>
          <p:cNvSpPr txBox="1"/>
          <p:nvPr/>
        </p:nvSpPr>
        <p:spPr>
          <a:xfrm>
            <a:off x="3337560" y="3648456"/>
            <a:ext cx="1673352"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recovered</a:t>
            </a:r>
          </a:p>
        </p:txBody>
      </p:sp>
      <p:sp>
        <p:nvSpPr>
          <p:cNvPr id="175" name="TextBox 174"/>
          <p:cNvSpPr txBox="1"/>
          <p:nvPr/>
        </p:nvSpPr>
        <p:spPr>
          <a:xfrm>
            <a:off x="5184648" y="3648456"/>
            <a:ext cx="1618488"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recovered</a:t>
            </a:r>
          </a:p>
        </p:txBody>
      </p:sp>
      <p:sp>
        <p:nvSpPr>
          <p:cNvPr id="176" name="TextBox 175"/>
          <p:cNvSpPr txBox="1"/>
          <p:nvPr/>
        </p:nvSpPr>
        <p:spPr>
          <a:xfrm>
            <a:off x="7525512" y="3648456"/>
            <a:ext cx="59436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2</a:t>
            </a:r>
          </a:p>
        </p:txBody>
      </p:sp>
      <p:sp>
        <p:nvSpPr>
          <p:cNvPr id="177" name="Rectangle 176"/>
          <p:cNvSpPr/>
          <p:nvPr/>
        </p:nvSpPr>
        <p:spPr>
          <a:xfrm>
            <a:off x="411480" y="3890772"/>
            <a:ext cx="8302752" cy="256946"/>
          </a:xfrm>
          <a:prstGeom prst="rect">
            <a:avLst/>
          </a:prstGeom>
          <a:solidFill>
            <a:srgbClr val="E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521207" y="3913632"/>
            <a:ext cx="269748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already dispatched</a:t>
            </a:r>
          </a:p>
        </p:txBody>
      </p:sp>
      <p:sp>
        <p:nvSpPr>
          <p:cNvPr id="179" name="TextBox 178"/>
          <p:cNvSpPr txBox="1"/>
          <p:nvPr/>
        </p:nvSpPr>
        <p:spPr>
          <a:xfrm>
            <a:off x="3337560" y="3913632"/>
            <a:ext cx="1673352"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escalated</a:t>
            </a:r>
          </a:p>
        </p:txBody>
      </p:sp>
      <p:sp>
        <p:nvSpPr>
          <p:cNvPr id="180" name="TextBox 179"/>
          <p:cNvSpPr txBox="1"/>
          <p:nvPr/>
        </p:nvSpPr>
        <p:spPr>
          <a:xfrm>
            <a:off x="5184648" y="3913632"/>
            <a:ext cx="1618488"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escalated</a:t>
            </a:r>
          </a:p>
        </p:txBody>
      </p:sp>
      <p:sp>
        <p:nvSpPr>
          <p:cNvPr id="181" name="TextBox 180"/>
          <p:cNvSpPr txBox="1"/>
          <p:nvPr/>
        </p:nvSpPr>
        <p:spPr>
          <a:xfrm>
            <a:off x="7525512" y="3913632"/>
            <a:ext cx="594360" cy="237744"/>
          </a:xfrm>
          <a:prstGeom prst="rect">
            <a:avLst/>
          </a:prstGeom>
          <a:noFill/>
        </p:spPr>
        <p:txBody>
          <a:bodyPr wrap="square" lIns="0" tIns="0" rIns="0" bIns="0">
            <a:spAutoFit/>
          </a:bodyPr>
          <a:lstStyle/>
          <a:p>
            <a:pPr algn="l">
              <a:spcAft>
                <a:spcPts val="0"/>
              </a:spcAft>
              <a:defRPr sz="1030" b="0">
                <a:solidFill>
                  <a:srgbClr val="16845A"/>
                </a:solidFill>
                <a:latin typeface="Aptos"/>
              </a:defRPr>
            </a:pPr>
            <a:r>
              <a:t>1</a:t>
            </a:r>
          </a:p>
        </p:txBody>
      </p:sp>
      <p:sp>
        <p:nvSpPr>
          <p:cNvPr id="182" name="TextBox 181"/>
          <p:cNvSpPr txBox="1"/>
          <p:nvPr/>
        </p:nvSpPr>
        <p:spPr>
          <a:xfrm>
            <a:off x="475488" y="4261104"/>
            <a:ext cx="8229600" cy="310896"/>
          </a:xfrm>
          <a:prstGeom prst="rect">
            <a:avLst/>
          </a:prstGeom>
          <a:noFill/>
        </p:spPr>
        <p:txBody>
          <a:bodyPr wrap="square" lIns="0" tIns="0" rIns="0" bIns="0">
            <a:spAutoFit/>
          </a:bodyPr>
          <a:lstStyle/>
          <a:p>
            <a:pPr algn="l">
              <a:spcAft>
                <a:spcPts val="0"/>
              </a:spcAft>
              <a:defRPr sz="1150" b="0">
                <a:solidFill>
                  <a:srgbClr val="53637C"/>
                </a:solidFill>
                <a:latin typeface="Aptos"/>
              </a:defRPr>
            </a:pPr>
            <a:r>
              <a:t>Unknown payment and dispatched orders correctly require review. Recovery is not always the safe outcome.</a:t>
            </a:r>
          </a:p>
        </p:txBody>
      </p:sp>
      <p:sp>
        <p:nvSpPr>
          <p:cNvPr id="183" name="TextBox 182"/>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Gemini 3.5 Flash-Lite • 0 safety-check failures in these runs. Development cases, not a held-out accuracy benchmark.</a:t>
            </a:r>
          </a:p>
        </p:txBody>
      </p:sp>
      <p:sp>
        <p:nvSpPr>
          <p:cNvPr id="184" name="TextBox 183"/>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5"/>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Additional Details/Future Development (if any)</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Move from a controlled demonstration to a measurable customer pilot.</a:t>
            </a:r>
          </a:p>
        </p:txBody>
      </p:sp>
      <p:sp>
        <p:nvSpPr>
          <p:cNvPr id="153" name="Rounded Rectangle 152"/>
          <p:cNvSpPr/>
          <p:nvPr/>
        </p:nvSpPr>
        <p:spPr>
          <a:xfrm>
            <a:off x="393192" y="1728216"/>
            <a:ext cx="2660904" cy="2606040"/>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393192" y="1728216"/>
            <a:ext cx="41148" cy="2606040"/>
          </a:xfrm>
          <a:prstGeom prst="rect">
            <a:avLst/>
          </a:prstGeom>
          <a:solidFill>
            <a:srgbClr val="286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539496" y="1837943"/>
            <a:ext cx="2368296" cy="384048"/>
          </a:xfrm>
          <a:prstGeom prst="rect">
            <a:avLst/>
          </a:prstGeom>
          <a:noFill/>
        </p:spPr>
        <p:txBody>
          <a:bodyPr wrap="square" lIns="0" tIns="0" rIns="0" bIns="0">
            <a:spAutoFit/>
          </a:bodyPr>
          <a:lstStyle/>
          <a:p>
            <a:pPr algn="l">
              <a:spcAft>
                <a:spcPts val="0"/>
              </a:spcAft>
              <a:defRPr sz="1500" b="1">
                <a:solidFill>
                  <a:srgbClr val="2864DF"/>
                </a:solidFill>
                <a:latin typeface="Aptos"/>
              </a:defRPr>
            </a:pPr>
            <a:r>
              <a:t>1  Delivery readiness</a:t>
            </a:r>
          </a:p>
        </p:txBody>
      </p:sp>
      <p:sp>
        <p:nvSpPr>
          <p:cNvPr id="156" name="TextBox 155"/>
          <p:cNvSpPr txBox="1"/>
          <p:nvPr/>
        </p:nvSpPr>
        <p:spPr>
          <a:xfrm>
            <a:off x="539496" y="2258568"/>
            <a:ext cx="2368296" cy="1993392"/>
          </a:xfrm>
          <a:prstGeom prst="rect">
            <a:avLst/>
          </a:prstGeom>
          <a:noFill/>
        </p:spPr>
        <p:txBody>
          <a:bodyPr wrap="square" lIns="0" tIns="0" rIns="0" bIns="0">
            <a:spAutoFit/>
          </a:bodyPr>
          <a:lstStyle/>
          <a:p>
            <a:pPr algn="l">
              <a:spcAft>
                <a:spcPts val="0"/>
              </a:spcAft>
              <a:defRPr sz="1300" b="0">
                <a:solidFill>
                  <a:srgbClr val="172336"/>
                </a:solidFill>
                <a:latin typeface="Aptos"/>
              </a:defRPr>
            </a:pPr>
            <a:r>
              <a:t>Deploy the backend to durable hosting.</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Cloud Run remains pending.</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Monitor availability throughout evaluation.</a:t>
            </a:r>
          </a:p>
        </p:txBody>
      </p:sp>
      <p:sp>
        <p:nvSpPr>
          <p:cNvPr id="157" name="Rounded Rectangle 156"/>
          <p:cNvSpPr/>
          <p:nvPr/>
        </p:nvSpPr>
        <p:spPr>
          <a:xfrm>
            <a:off x="3236976" y="1728216"/>
            <a:ext cx="2660904" cy="2606040"/>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3236976" y="1728216"/>
            <a:ext cx="41148" cy="2606040"/>
          </a:xfrm>
          <a:prstGeom prst="rect">
            <a:avLst/>
          </a:prstGeom>
          <a:solidFill>
            <a:srgbClr val="755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3383280" y="1837943"/>
            <a:ext cx="2368296" cy="384048"/>
          </a:xfrm>
          <a:prstGeom prst="rect">
            <a:avLst/>
          </a:prstGeom>
          <a:noFill/>
        </p:spPr>
        <p:txBody>
          <a:bodyPr wrap="square" lIns="0" tIns="0" rIns="0" bIns="0">
            <a:spAutoFit/>
          </a:bodyPr>
          <a:lstStyle/>
          <a:p>
            <a:pPr algn="l">
              <a:spcAft>
                <a:spcPts val="0"/>
              </a:spcAft>
              <a:defRPr sz="1500" b="1">
                <a:solidFill>
                  <a:srgbClr val="7557DD"/>
                </a:solidFill>
                <a:latin typeface="Aptos"/>
              </a:defRPr>
            </a:pPr>
            <a:r>
              <a:t>2  Customer pilot</a:t>
            </a:r>
          </a:p>
        </p:txBody>
      </p:sp>
      <p:sp>
        <p:nvSpPr>
          <p:cNvPr id="160" name="TextBox 159"/>
          <p:cNvSpPr txBox="1"/>
          <p:nvPr/>
        </p:nvSpPr>
        <p:spPr>
          <a:xfrm>
            <a:off x="3383280" y="2258568"/>
            <a:ext cx="2368296" cy="1993392"/>
          </a:xfrm>
          <a:prstGeom prst="rect">
            <a:avLst/>
          </a:prstGeom>
          <a:noFill/>
        </p:spPr>
        <p:txBody>
          <a:bodyPr wrap="square" lIns="0" tIns="0" rIns="0" bIns="0">
            <a:spAutoFit/>
          </a:bodyPr>
          <a:lstStyle/>
          <a:p>
            <a:pPr algn="l">
              <a:spcAft>
                <a:spcPts val="0"/>
              </a:spcAft>
              <a:defRPr sz="1300" b="0">
                <a:solidFill>
                  <a:srgbClr val="172336"/>
                </a:solidFill>
                <a:latin typeface="Aptos"/>
              </a:defRPr>
            </a:pPr>
            <a:r>
              <a:t>Use an owner's sandbox APIs with scoped authority.</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Broaden instruction and incident variation.</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Measure handling time and safe handoff coverage.</a:t>
            </a:r>
          </a:p>
        </p:txBody>
      </p:sp>
      <p:sp>
        <p:nvSpPr>
          <p:cNvPr id="161" name="Rounded Rectangle 160"/>
          <p:cNvSpPr/>
          <p:nvPr/>
        </p:nvSpPr>
        <p:spPr>
          <a:xfrm>
            <a:off x="6080760" y="1728216"/>
            <a:ext cx="2660904" cy="2606040"/>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6080760" y="1728216"/>
            <a:ext cx="41148" cy="2606040"/>
          </a:xfrm>
          <a:prstGeom prst="rect">
            <a:avLst/>
          </a:prstGeom>
          <a:solidFill>
            <a:srgbClr val="16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6227064" y="1837943"/>
            <a:ext cx="2368296" cy="384048"/>
          </a:xfrm>
          <a:prstGeom prst="rect">
            <a:avLst/>
          </a:prstGeom>
          <a:noFill/>
        </p:spPr>
        <p:txBody>
          <a:bodyPr wrap="square" lIns="0" tIns="0" rIns="0" bIns="0">
            <a:spAutoFit/>
          </a:bodyPr>
          <a:lstStyle/>
          <a:p>
            <a:pPr algn="l">
              <a:spcAft>
                <a:spcPts val="0"/>
              </a:spcAft>
              <a:defRPr sz="1500" b="1">
                <a:solidFill>
                  <a:srgbClr val="16845A"/>
                </a:solidFill>
                <a:latin typeface="Aptos"/>
              </a:defRPr>
            </a:pPr>
            <a:r>
              <a:t>3  Production controls</a:t>
            </a:r>
          </a:p>
        </p:txBody>
      </p:sp>
      <p:sp>
        <p:nvSpPr>
          <p:cNvPr id="164" name="TextBox 163"/>
          <p:cNvSpPr txBox="1"/>
          <p:nvPr/>
        </p:nvSpPr>
        <p:spPr>
          <a:xfrm>
            <a:off x="6227064" y="2258568"/>
            <a:ext cx="2368296" cy="1993392"/>
          </a:xfrm>
          <a:prstGeom prst="rect">
            <a:avLst/>
          </a:prstGeom>
          <a:noFill/>
        </p:spPr>
        <p:txBody>
          <a:bodyPr wrap="square" lIns="0" tIns="0" rIns="0" bIns="0">
            <a:spAutoFit/>
          </a:bodyPr>
          <a:lstStyle/>
          <a:p>
            <a:pPr algn="l">
              <a:spcAft>
                <a:spcPts val="0"/>
              </a:spcAft>
              <a:defRPr sz="1300" b="0">
                <a:solidFill>
                  <a:srgbClr val="172336"/>
                </a:solidFill>
                <a:latin typeface="Aptos"/>
              </a:defRPr>
            </a:pPr>
            <a:r>
              <a:t>Service-owned idempotency and durable state.</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Tenant identity, access controls and retention.</a:t>
            </a:r>
          </a:p>
          <a:p>
            <a:pPr algn="l">
              <a:spcAft>
                <a:spcPts val="0"/>
              </a:spcAft>
              <a:defRPr sz="1300" b="0">
                <a:solidFill>
                  <a:srgbClr val="172336"/>
                </a:solidFill>
                <a:latin typeface="Aptos"/>
              </a:defRPr>
            </a:pPr>
            <a:endParaRPr/>
          </a:p>
          <a:p>
            <a:pPr algn="l">
              <a:spcAft>
                <a:spcPts val="0"/>
              </a:spcAft>
              <a:defRPr sz="1300" b="0">
                <a:solidFill>
                  <a:srgbClr val="172336"/>
                </a:solidFill>
                <a:latin typeface="Aptos"/>
              </a:defRPr>
            </a:pPr>
            <a:r>
              <a:t>Tamper-evident records and human approval gates.</a:t>
            </a:r>
          </a:p>
        </p:txBody>
      </p:sp>
      <p:sp>
        <p:nvSpPr>
          <p:cNvPr id="165" name="TextBox 164"/>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Prototype audit is inspectable, but not immutable, certified or independently attested.</a:t>
            </a:r>
          </a:p>
        </p:txBody>
      </p:sp>
      <p:sp>
        <p:nvSpPr>
          <p:cNvPr id="166" name="TextBox 165"/>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26"/>
          <p:cNvSpPr txBox="1"/>
          <p:nvPr/>
        </p:nvSpPr>
        <p:spPr>
          <a:xfrm>
            <a:off x="356616" y="704088"/>
            <a:ext cx="8348472" cy="402336"/>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None/>
              <a:defRPr sz="2300" b="1">
                <a:solidFill>
                  <a:srgbClr val="172336"/>
                </a:solidFill>
                <a:latin typeface="Aptos Display"/>
              </a:defRPr>
            </a:pPr>
            <a:r>
              <a:t>Provide links to your:</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365760" y="1161288"/>
            <a:ext cx="8321040" cy="365760"/>
          </a:xfrm>
          <a:prstGeom prst="rect">
            <a:avLst/>
          </a:prstGeom>
          <a:noFill/>
        </p:spPr>
        <p:txBody>
          <a:bodyPr wrap="square" lIns="0" tIns="0" rIns="0" bIns="0">
            <a:spAutoFit/>
          </a:bodyPr>
          <a:lstStyle/>
          <a:p>
            <a:pPr algn="l">
              <a:spcAft>
                <a:spcPts val="0"/>
              </a:spcAft>
              <a:defRPr sz="1200" b="0">
                <a:solidFill>
                  <a:srgbClr val="53637C"/>
                </a:solidFill>
                <a:latin typeface="Aptos"/>
              </a:defRPr>
            </a:pPr>
            <a:r>
              <a:t>Public source and narrated demonstration. The current prototype link is temporary.</a:t>
            </a:r>
          </a:p>
        </p:txBody>
      </p:sp>
      <p:sp>
        <p:nvSpPr>
          <p:cNvPr id="161" name="Rounded Rectangle 160"/>
          <p:cNvSpPr/>
          <p:nvPr/>
        </p:nvSpPr>
        <p:spPr>
          <a:xfrm>
            <a:off x="411480" y="1746504"/>
            <a:ext cx="8302752" cy="74980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594360" y="1856231"/>
            <a:ext cx="7918704" cy="219456"/>
          </a:xfrm>
          <a:prstGeom prst="rect">
            <a:avLst/>
          </a:prstGeom>
          <a:noFill/>
        </p:spPr>
        <p:txBody>
          <a:bodyPr wrap="square" lIns="0" tIns="0" rIns="0" bIns="0">
            <a:spAutoFit/>
          </a:bodyPr>
          <a:lstStyle/>
          <a:p>
            <a:pPr algn="l">
              <a:spcAft>
                <a:spcPts val="0"/>
              </a:spcAft>
              <a:defRPr sz="1200" b="1">
                <a:solidFill>
                  <a:srgbClr val="2864DF"/>
                </a:solidFill>
                <a:latin typeface="Aptos"/>
              </a:defRPr>
            </a:pPr>
            <a:r>
              <a:t>GitHub Public Repository</a:t>
            </a:r>
          </a:p>
        </p:txBody>
      </p:sp>
      <p:sp>
        <p:nvSpPr>
          <p:cNvPr id="163" name="TextBox 162"/>
          <p:cNvSpPr txBox="1"/>
          <p:nvPr/>
        </p:nvSpPr>
        <p:spPr>
          <a:xfrm>
            <a:off x="594360" y="2167128"/>
            <a:ext cx="7900416" cy="219456"/>
          </a:xfrm>
          <a:prstGeom prst="rect">
            <a:avLst/>
          </a:prstGeom>
          <a:noFill/>
        </p:spPr>
        <p:txBody>
          <a:bodyPr wrap="square" lIns="0" tIns="0" rIns="0" bIns="0">
            <a:spAutoFit/>
          </a:bodyPr>
          <a:lstStyle/>
          <a:p>
            <a:pPr algn="l">
              <a:spcAft>
                <a:spcPts val="0"/>
              </a:spcAft>
              <a:defRPr sz="1080" b="0">
                <a:solidFill>
                  <a:srgbClr val="172336"/>
                </a:solidFill>
                <a:latin typeface="Aptos"/>
              </a:defRPr>
            </a:pPr>
            <a:r>
              <a:rPr>
                <a:hlinkClick r:id="rId5"/>
              </a:rPr>
              <a:t>https://github.com/abhi14dodiya/workflow-rescue-sustainx</a:t>
            </a:r>
          </a:p>
        </p:txBody>
      </p:sp>
      <p:sp>
        <p:nvSpPr>
          <p:cNvPr id="164" name="Rounded Rectangle 163"/>
          <p:cNvSpPr/>
          <p:nvPr/>
        </p:nvSpPr>
        <p:spPr>
          <a:xfrm>
            <a:off x="411480" y="2633472"/>
            <a:ext cx="8302752" cy="74980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594360" y="2743200"/>
            <a:ext cx="7918704" cy="219456"/>
          </a:xfrm>
          <a:prstGeom prst="rect">
            <a:avLst/>
          </a:prstGeom>
          <a:noFill/>
        </p:spPr>
        <p:txBody>
          <a:bodyPr wrap="square" lIns="0" tIns="0" rIns="0" bIns="0">
            <a:spAutoFit/>
          </a:bodyPr>
          <a:lstStyle/>
          <a:p>
            <a:pPr algn="l">
              <a:spcAft>
                <a:spcPts val="0"/>
              </a:spcAft>
              <a:defRPr sz="1200" b="1">
                <a:solidFill>
                  <a:srgbClr val="2864DF"/>
                </a:solidFill>
                <a:latin typeface="Aptos"/>
              </a:defRPr>
            </a:pPr>
            <a:r>
              <a:t>Demo Video Link (3–4 minutes)</a:t>
            </a:r>
          </a:p>
        </p:txBody>
      </p:sp>
      <p:sp>
        <p:nvSpPr>
          <p:cNvPr id="166" name="TextBox 165"/>
          <p:cNvSpPr txBox="1"/>
          <p:nvPr/>
        </p:nvSpPr>
        <p:spPr>
          <a:xfrm>
            <a:off x="594360" y="3054096"/>
            <a:ext cx="7900416" cy="219456"/>
          </a:xfrm>
          <a:prstGeom prst="rect">
            <a:avLst/>
          </a:prstGeom>
          <a:noFill/>
        </p:spPr>
        <p:txBody>
          <a:bodyPr wrap="square" lIns="0" tIns="0" rIns="0" bIns="0">
            <a:spAutoFit/>
          </a:bodyPr>
          <a:lstStyle/>
          <a:p>
            <a:pPr algn="l">
              <a:spcAft>
                <a:spcPts val="0"/>
              </a:spcAft>
              <a:defRPr sz="1080" b="0">
                <a:solidFill>
                  <a:srgbClr val="172336"/>
                </a:solidFill>
                <a:latin typeface="Aptos"/>
              </a:defRPr>
            </a:pPr>
            <a:r>
              <a:rPr>
                <a:hlinkClick r:id="rId6"/>
              </a:rPr>
              <a:t>https://gen-lang-client-0915819772.web.app/downloads/workflow-rescue-demo.mp4</a:t>
            </a:r>
          </a:p>
        </p:txBody>
      </p:sp>
      <p:sp>
        <p:nvSpPr>
          <p:cNvPr id="167" name="Rounded Rectangle 166"/>
          <p:cNvSpPr/>
          <p:nvPr/>
        </p:nvSpPr>
        <p:spPr>
          <a:xfrm>
            <a:off x="411480" y="3520439"/>
            <a:ext cx="8302752" cy="749808"/>
          </a:xfrm>
          <a:prstGeom prst="roundRect">
            <a:avLst>
              <a:gd name="adj" fmla="val 9000"/>
            </a:avLst>
          </a:prstGeom>
          <a:solidFill>
            <a:srgbClr val="EDF3FF"/>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594360" y="3630168"/>
            <a:ext cx="7918704" cy="219456"/>
          </a:xfrm>
          <a:prstGeom prst="rect">
            <a:avLst/>
          </a:prstGeom>
          <a:noFill/>
        </p:spPr>
        <p:txBody>
          <a:bodyPr wrap="square" lIns="0" tIns="0" rIns="0" bIns="0">
            <a:spAutoFit/>
          </a:bodyPr>
          <a:lstStyle/>
          <a:p>
            <a:pPr algn="l">
              <a:spcAft>
                <a:spcPts val="0"/>
              </a:spcAft>
              <a:defRPr sz="1200" b="1">
                <a:solidFill>
                  <a:srgbClr val="2864DF"/>
                </a:solidFill>
                <a:latin typeface="Aptos"/>
              </a:defRPr>
            </a:pPr>
            <a:r>
              <a:t>Product Link — temporary preview</a:t>
            </a:r>
          </a:p>
        </p:txBody>
      </p:sp>
      <p:sp>
        <p:nvSpPr>
          <p:cNvPr id="169" name="TextBox 168"/>
          <p:cNvSpPr txBox="1"/>
          <p:nvPr/>
        </p:nvSpPr>
        <p:spPr>
          <a:xfrm>
            <a:off x="594360" y="3941063"/>
            <a:ext cx="7900416" cy="219456"/>
          </a:xfrm>
          <a:prstGeom prst="rect">
            <a:avLst/>
          </a:prstGeom>
          <a:noFill/>
        </p:spPr>
        <p:txBody>
          <a:bodyPr wrap="square" lIns="0" tIns="0" rIns="0" bIns="0">
            <a:spAutoFit/>
          </a:bodyPr>
          <a:lstStyle/>
          <a:p>
            <a:pPr algn="l">
              <a:spcAft>
                <a:spcPts val="0"/>
              </a:spcAft>
              <a:defRPr sz="1080" b="0">
                <a:solidFill>
                  <a:srgbClr val="172336"/>
                </a:solidFill>
                <a:latin typeface="Aptos"/>
              </a:defRPr>
            </a:pPr>
            <a:r>
              <a:rPr>
                <a:hlinkClick r:id="rId7"/>
              </a:rPr>
              <a:t>https://federation-php-architecture-blocked.trycloudflare.com</a:t>
            </a:r>
          </a:p>
        </p:txBody>
      </p:sp>
      <p:sp>
        <p:nvSpPr>
          <p:cNvPr id="170" name="TextBox 169"/>
          <p:cNvSpPr txBox="1"/>
          <p:nvPr/>
        </p:nvSpPr>
        <p:spPr>
          <a:xfrm>
            <a:off x="521207" y="4489704"/>
            <a:ext cx="8138160" cy="192024"/>
          </a:xfrm>
          <a:prstGeom prst="rect">
            <a:avLst/>
          </a:prstGeom>
          <a:noFill/>
        </p:spPr>
        <p:txBody>
          <a:bodyPr wrap="square" lIns="0" tIns="0" rIns="0" bIns="0">
            <a:spAutoFit/>
          </a:bodyPr>
          <a:lstStyle/>
          <a:p>
            <a:pPr algn="l">
              <a:spcAft>
                <a:spcPts val="0"/>
              </a:spcAft>
              <a:defRPr sz="950" b="0">
                <a:solidFill>
                  <a:srgbClr val="946000"/>
                </a:solidFill>
                <a:latin typeface="Aptos"/>
              </a:defRPr>
            </a:pPr>
            <a:r>
              <a:t>The current product URL is a temporary session demo, not a durable evaluation deployment.</a:t>
            </a:r>
          </a:p>
        </p:txBody>
      </p:sp>
      <p:sp>
        <p:nvSpPr>
          <p:cNvPr id="171" name="TextBox 170"/>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All links must work without the evaluator signing into the team's private accounts.</a:t>
            </a:r>
          </a:p>
        </p:txBody>
      </p:sp>
      <p:sp>
        <p:nvSpPr>
          <p:cNvPr id="172" name="TextBox 171"/>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 name="TextBox 166"/>
          <p:cNvSpPr txBox="1"/>
          <p:nvPr/>
        </p:nvSpPr>
        <p:spPr>
          <a:xfrm>
            <a:off x="393192" y="740664"/>
            <a:ext cx="8321040" cy="438912"/>
          </a:xfrm>
          <a:prstGeom prst="rect">
            <a:avLst/>
          </a:prstGeom>
          <a:noFill/>
        </p:spPr>
        <p:txBody>
          <a:bodyPr wrap="square" lIns="0" tIns="0" rIns="0" bIns="0">
            <a:spAutoFit/>
          </a:bodyPr>
          <a:lstStyle/>
          <a:p>
            <a:pPr algn="l">
              <a:spcAft>
                <a:spcPts val="0"/>
              </a:spcAft>
              <a:defRPr sz="2400" b="1">
                <a:solidFill>
                  <a:srgbClr val="172336"/>
                </a:solidFill>
                <a:latin typeface="Aptos"/>
              </a:defRPr>
            </a:pPr>
            <a:r>
              <a:t>Business value: a pilot hypothesis</a:t>
            </a:r>
          </a:p>
        </p:txBody>
      </p:sp>
      <p:sp>
        <p:nvSpPr>
          <p:cNvPr id="168" name="TextBox 167"/>
          <p:cNvSpPr txBox="1"/>
          <p:nvPr/>
        </p:nvSpPr>
        <p:spPr>
          <a:xfrm>
            <a:off x="420624" y="1316736"/>
            <a:ext cx="8247888" cy="521207"/>
          </a:xfrm>
          <a:prstGeom prst="rect">
            <a:avLst/>
          </a:prstGeom>
          <a:noFill/>
        </p:spPr>
        <p:txBody>
          <a:bodyPr wrap="square" lIns="0" tIns="0" rIns="0" bIns="0">
            <a:spAutoFit/>
          </a:bodyPr>
          <a:lstStyle/>
          <a:p>
            <a:pPr algn="l">
              <a:spcAft>
                <a:spcPts val="0"/>
              </a:spcAft>
              <a:defRPr sz="1700" b="0">
                <a:solidFill>
                  <a:srgbClr val="172336"/>
                </a:solidFill>
                <a:latin typeface="Aptos"/>
              </a:defRPr>
            </a:pPr>
            <a:r>
              <a:t>Reduce the time operators spend reconstructing an incident, while making every permitted recovery inspectable.</a:t>
            </a:r>
          </a:p>
        </p:txBody>
      </p:sp>
      <p:sp>
        <p:nvSpPr>
          <p:cNvPr id="169" name="Rounded Rectangle 168"/>
          <p:cNvSpPr/>
          <p:nvPr/>
        </p:nvSpPr>
        <p:spPr>
          <a:xfrm>
            <a:off x="411480" y="1975104"/>
            <a:ext cx="3931920" cy="2304288"/>
          </a:xfrm>
          <a:prstGeom prst="roundRect">
            <a:avLst>
              <a:gd name="adj" fmla="val 9000"/>
            </a:avLst>
          </a:prstGeom>
          <a:solidFill>
            <a:srgbClr val="EBF7F0"/>
          </a:solidFill>
          <a:ln w="10160">
            <a:solidFill>
              <a:srgbClr val="D8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594360" y="2139696"/>
            <a:ext cx="3566160" cy="274320"/>
          </a:xfrm>
          <a:prstGeom prst="rect">
            <a:avLst/>
          </a:prstGeom>
          <a:noFill/>
        </p:spPr>
        <p:txBody>
          <a:bodyPr wrap="square" lIns="0" tIns="0" rIns="0" bIns="0">
            <a:spAutoFit/>
          </a:bodyPr>
          <a:lstStyle/>
          <a:p>
            <a:pPr algn="l">
              <a:spcAft>
                <a:spcPts val="0"/>
              </a:spcAft>
              <a:defRPr sz="1100" b="1">
                <a:solidFill>
                  <a:srgbClr val="16845A"/>
                </a:solidFill>
                <a:latin typeface="Aptos"/>
              </a:defRPr>
            </a:pPr>
            <a:r>
              <a:t>ILLUSTRATIVE STAFF CAPACITY</a:t>
            </a:r>
          </a:p>
        </p:txBody>
      </p:sp>
      <p:sp>
        <p:nvSpPr>
          <p:cNvPr id="171" name="TextBox 170"/>
          <p:cNvSpPr txBox="1"/>
          <p:nvPr/>
        </p:nvSpPr>
        <p:spPr>
          <a:xfrm>
            <a:off x="594360" y="2560320"/>
            <a:ext cx="3566160" cy="521207"/>
          </a:xfrm>
          <a:prstGeom prst="rect">
            <a:avLst/>
          </a:prstGeom>
          <a:noFill/>
        </p:spPr>
        <p:txBody>
          <a:bodyPr wrap="square" lIns="0" tIns="0" rIns="0" bIns="0">
            <a:spAutoFit/>
          </a:bodyPr>
          <a:lstStyle/>
          <a:p>
            <a:pPr algn="l">
              <a:spcAft>
                <a:spcPts val="0"/>
              </a:spcAft>
              <a:defRPr sz="3100" b="1">
                <a:solidFill>
                  <a:srgbClr val="16845A"/>
                </a:solidFill>
                <a:latin typeface="Aptos"/>
              </a:defRPr>
            </a:pPr>
            <a:r>
              <a:t>$250k / year</a:t>
            </a:r>
          </a:p>
        </p:txBody>
      </p:sp>
      <p:sp>
        <p:nvSpPr>
          <p:cNvPr id="172" name="TextBox 171"/>
          <p:cNvSpPr txBox="1"/>
          <p:nvPr/>
        </p:nvSpPr>
        <p:spPr>
          <a:xfrm>
            <a:off x="594360" y="3236976"/>
            <a:ext cx="3566160" cy="841248"/>
          </a:xfrm>
          <a:prstGeom prst="rect">
            <a:avLst/>
          </a:prstGeom>
          <a:noFill/>
        </p:spPr>
        <p:txBody>
          <a:bodyPr wrap="square" lIns="0" tIns="0" rIns="0" bIns="0">
            <a:spAutoFit/>
          </a:bodyPr>
          <a:lstStyle/>
          <a:p>
            <a:pPr algn="l">
              <a:spcAft>
                <a:spcPts val="0"/>
              </a:spcAft>
              <a:defRPr sz="1300" b="0">
                <a:solidFill>
                  <a:srgbClr val="172336"/>
                </a:solidFill>
                <a:latin typeface="Aptos"/>
              </a:defRPr>
            </a:pPr>
            <a:r>
              <a:t>10m orders × 1% incidents × 50% assisted</a:t>
            </a:r>
          </a:p>
          <a:p>
            <a:pPr algn="l">
              <a:spcAft>
                <a:spcPts val="0"/>
              </a:spcAft>
              <a:defRPr sz="1300" b="0">
                <a:solidFill>
                  <a:srgbClr val="172336"/>
                </a:solidFill>
                <a:latin typeface="Aptos"/>
              </a:defRPr>
            </a:pPr>
            <a:r>
              <a:t>× 10 minutes saved ÷ 60 × $30/hour</a:t>
            </a:r>
          </a:p>
        </p:txBody>
      </p:sp>
      <p:sp>
        <p:nvSpPr>
          <p:cNvPr id="173" name="TextBox 172"/>
          <p:cNvSpPr txBox="1"/>
          <p:nvPr/>
        </p:nvSpPr>
        <p:spPr>
          <a:xfrm>
            <a:off x="4608576" y="2002536"/>
            <a:ext cx="4069080" cy="301752"/>
          </a:xfrm>
          <a:prstGeom prst="rect">
            <a:avLst/>
          </a:prstGeom>
          <a:noFill/>
        </p:spPr>
        <p:txBody>
          <a:bodyPr wrap="square" lIns="0" tIns="0" rIns="0" bIns="0">
            <a:spAutoFit/>
          </a:bodyPr>
          <a:lstStyle/>
          <a:p>
            <a:pPr algn="l">
              <a:spcAft>
                <a:spcPts val="0"/>
              </a:spcAft>
              <a:defRPr sz="1400" b="1">
                <a:solidFill>
                  <a:srgbClr val="172336"/>
                </a:solidFill>
                <a:latin typeface="Aptos"/>
              </a:defRPr>
            </a:pPr>
            <a:r>
              <a:t>Evidence behind the problem</a:t>
            </a:r>
          </a:p>
        </p:txBody>
      </p:sp>
      <p:sp>
        <p:nvSpPr>
          <p:cNvPr id="174" name="TextBox 173"/>
          <p:cNvSpPr txBox="1"/>
          <p:nvPr/>
        </p:nvSpPr>
        <p:spPr>
          <a:xfrm>
            <a:off x="4608576" y="2514600"/>
            <a:ext cx="3986784" cy="310896"/>
          </a:xfrm>
          <a:prstGeom prst="rect">
            <a:avLst/>
          </a:prstGeom>
          <a:noFill/>
        </p:spPr>
        <p:txBody>
          <a:bodyPr wrap="square" lIns="0" tIns="0" rIns="0" bIns="0">
            <a:spAutoFit/>
          </a:bodyPr>
          <a:lstStyle/>
          <a:p>
            <a:pPr algn="l">
              <a:spcAft>
                <a:spcPts val="0"/>
              </a:spcAft>
              <a:defRPr sz="1200" b="1">
                <a:solidFill>
                  <a:srgbClr val="2864DF"/>
                </a:solidFill>
                <a:latin typeface="Aptos"/>
              </a:defRPr>
            </a:pPr>
            <a:r>
              <a:rPr>
                <a:hlinkClick r:id="rId5"/>
              </a:rPr>
              <a:t>Stripe webhook guidance</a:t>
            </a:r>
          </a:p>
        </p:txBody>
      </p:sp>
      <p:sp>
        <p:nvSpPr>
          <p:cNvPr id="175" name="TextBox 174"/>
          <p:cNvSpPr txBox="1"/>
          <p:nvPr/>
        </p:nvSpPr>
        <p:spPr>
          <a:xfrm>
            <a:off x="4608576" y="3035808"/>
            <a:ext cx="3986784" cy="310896"/>
          </a:xfrm>
          <a:prstGeom prst="rect">
            <a:avLst/>
          </a:prstGeom>
          <a:noFill/>
        </p:spPr>
        <p:txBody>
          <a:bodyPr wrap="square" lIns="0" tIns="0" rIns="0" bIns="0">
            <a:spAutoFit/>
          </a:bodyPr>
          <a:lstStyle/>
          <a:p>
            <a:pPr algn="l">
              <a:spcAft>
                <a:spcPts val="0"/>
              </a:spcAft>
              <a:defRPr sz="1200" b="1">
                <a:solidFill>
                  <a:srgbClr val="2864DF"/>
                </a:solidFill>
                <a:latin typeface="Aptos"/>
              </a:defRPr>
            </a:pPr>
            <a:r>
              <a:rPr>
                <a:hlinkClick r:id="rId6"/>
              </a:rPr>
              <a:t>Stripe idempotent requests</a:t>
            </a:r>
          </a:p>
        </p:txBody>
      </p:sp>
      <p:sp>
        <p:nvSpPr>
          <p:cNvPr id="176" name="TextBox 175"/>
          <p:cNvSpPr txBox="1"/>
          <p:nvPr/>
        </p:nvSpPr>
        <p:spPr>
          <a:xfrm>
            <a:off x="4608576" y="3557015"/>
            <a:ext cx="3986784" cy="310896"/>
          </a:xfrm>
          <a:prstGeom prst="rect">
            <a:avLst/>
          </a:prstGeom>
          <a:noFill/>
        </p:spPr>
        <p:txBody>
          <a:bodyPr wrap="square" lIns="0" tIns="0" rIns="0" bIns="0">
            <a:spAutoFit/>
          </a:bodyPr>
          <a:lstStyle/>
          <a:p>
            <a:pPr algn="l">
              <a:spcAft>
                <a:spcPts val="0"/>
              </a:spcAft>
              <a:defRPr sz="1200" b="1">
                <a:solidFill>
                  <a:srgbClr val="2864DF"/>
                </a:solidFill>
                <a:latin typeface="Aptos"/>
              </a:defRPr>
            </a:pPr>
            <a:r>
              <a:rPr>
                <a:hlinkClick r:id="rId7"/>
              </a:rPr>
              <a:t>Temporal sagas and compensation</a:t>
            </a:r>
          </a:p>
        </p:txBody>
      </p:sp>
      <p:sp>
        <p:nvSpPr>
          <p:cNvPr id="177" name="TextBox 176"/>
          <p:cNvSpPr txBox="1"/>
          <p:nvPr/>
        </p:nvSpPr>
        <p:spPr>
          <a:xfrm>
            <a:off x="4608576" y="4105656"/>
            <a:ext cx="3986784" cy="374904"/>
          </a:xfrm>
          <a:prstGeom prst="rect">
            <a:avLst/>
          </a:prstGeom>
          <a:noFill/>
        </p:spPr>
        <p:txBody>
          <a:bodyPr wrap="square" lIns="0" tIns="0" rIns="0" bIns="0">
            <a:spAutoFit/>
          </a:bodyPr>
          <a:lstStyle/>
          <a:p>
            <a:pPr algn="l">
              <a:spcAft>
                <a:spcPts val="0"/>
              </a:spcAft>
              <a:defRPr sz="1150" b="0">
                <a:solidFill>
                  <a:srgbClr val="53637C"/>
                </a:solidFill>
                <a:latin typeface="Aptos"/>
              </a:defRPr>
            </a:pPr>
            <a:r>
              <a:t>Measure handling time, safe coverage and review effort in a pilot.</a:t>
            </a:r>
          </a:p>
        </p:txBody>
      </p:sp>
      <p:sp>
        <p:nvSpPr>
          <p:cNvPr id="178" name="TextBox 177"/>
          <p:cNvSpPr txBox="1"/>
          <p:nvPr/>
        </p:nvSpPr>
        <p:spPr>
          <a:xfrm>
            <a:off x="356616" y="4700016"/>
            <a:ext cx="7936992" cy="219456"/>
          </a:xfrm>
          <a:prstGeom prst="rect">
            <a:avLst/>
          </a:prstGeom>
          <a:noFill/>
        </p:spPr>
        <p:txBody>
          <a:bodyPr wrap="square" lIns="0" tIns="0" rIns="0" bIns="0">
            <a:spAutoFit/>
          </a:bodyPr>
          <a:lstStyle/>
          <a:p>
            <a:pPr algn="l">
              <a:spcAft>
                <a:spcPts val="0"/>
              </a:spcAft>
              <a:defRPr sz="900" b="0">
                <a:solidFill>
                  <a:srgbClr val="53637C"/>
                </a:solidFill>
                <a:latin typeface="Aptos"/>
              </a:defRPr>
            </a:pPr>
            <a:r>
              <a:t>Hypothetical inputs; not measured savings. Gross staff capacity excludes integration, cloud and review costs.</a:t>
            </a:r>
          </a:p>
        </p:txBody>
      </p:sp>
      <p:sp>
        <p:nvSpPr>
          <p:cNvPr id="179" name="TextBox 178"/>
          <p:cNvSpPr txBox="1"/>
          <p:nvPr/>
        </p:nvSpPr>
        <p:spPr>
          <a:xfrm>
            <a:off x="8394192" y="4700016"/>
            <a:ext cx="365760" cy="219456"/>
          </a:xfrm>
          <a:prstGeom prst="rect">
            <a:avLst/>
          </a:prstGeom>
          <a:noFill/>
        </p:spPr>
        <p:txBody>
          <a:bodyPr wrap="square" lIns="0" tIns="0" rIns="0" bIns="0">
            <a:spAutoFit/>
          </a:bodyPr>
          <a:lstStyle/>
          <a:p>
            <a:pPr algn="r">
              <a:spcAft>
                <a:spcPts val="0"/>
              </a:spcAft>
              <a:defRPr sz="900" b="0">
                <a:solidFill>
                  <a:srgbClr val="53637C"/>
                </a:solidFill>
                <a:latin typeface="Aptos"/>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
        <p:nvSpPr>
          <p:cNvPr id="173" name="TextBox 172"/>
          <p:cNvSpPr txBox="1"/>
          <p:nvPr/>
        </p:nvSpPr>
        <p:spPr>
          <a:xfrm>
            <a:off x="5102352" y="2825496"/>
            <a:ext cx="3657600" cy="338328"/>
          </a:xfrm>
          <a:prstGeom prst="rect">
            <a:avLst/>
          </a:prstGeom>
          <a:noFill/>
        </p:spPr>
        <p:txBody>
          <a:bodyPr wrap="square" lIns="0" tIns="0" rIns="0" bIns="0">
            <a:spAutoFit/>
          </a:bodyPr>
          <a:lstStyle/>
          <a:p>
            <a:pPr algn="l">
              <a:spcAft>
                <a:spcPts val="0"/>
              </a:spcAft>
              <a:defRPr sz="1800" b="1">
                <a:solidFill>
                  <a:srgbClr val="FFFFFF"/>
                </a:solidFill>
                <a:latin typeface="Aptos"/>
              </a:defRPr>
            </a:pPr>
            <a:r>
              <a:t>Workflow Rescue · sustAInX</a:t>
            </a:r>
          </a:p>
        </p:txBody>
      </p:sp>
      <p:sp>
        <p:nvSpPr>
          <p:cNvPr id="174" name="TextBox 173"/>
          <p:cNvSpPr txBox="1"/>
          <p:nvPr/>
        </p:nvSpPr>
        <p:spPr>
          <a:xfrm>
            <a:off x="5102352" y="3236976"/>
            <a:ext cx="3584448" cy="722376"/>
          </a:xfrm>
          <a:prstGeom prst="rect">
            <a:avLst/>
          </a:prstGeom>
          <a:noFill/>
        </p:spPr>
        <p:txBody>
          <a:bodyPr wrap="square" lIns="0" tIns="0" rIns="0" bIns="0">
            <a:spAutoFit/>
          </a:bodyPr>
          <a:lstStyle/>
          <a:p>
            <a:pPr algn="l">
              <a:spcAft>
                <a:spcPts val="0"/>
              </a:spcAft>
              <a:defRPr sz="1800" b="0">
                <a:solidFill>
                  <a:srgbClr val="FFFFFF"/>
                </a:solidFill>
                <a:latin typeface="Aptos"/>
              </a:defRPr>
            </a:pPr>
            <a:r>
              <a:t>Recover the workflow.</a:t>
            </a:r>
          </a:p>
          <a:p>
            <a:pPr algn="l">
              <a:spcAft>
                <a:spcPts val="0"/>
              </a:spcAft>
              <a:defRPr sz="1800" b="0">
                <a:solidFill>
                  <a:srgbClr val="FFFFFF"/>
                </a:solidFill>
                <a:latin typeface="Aptos"/>
              </a:defRPr>
            </a:pPr>
            <a:r>
              <a:t>Preserve the customer's intent.</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2139</Words>
  <Application>Microsoft Office PowerPoint</Application>
  <PresentationFormat>On-screen Show (16:9)</PresentationFormat>
  <Paragraphs>247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Google Sans Flex Medium</vt:lpstr>
      <vt:lpstr>Google Sans Flex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Workflow Rescue by sustAInX — AI Builder Cup 2026</dc:title>
  <dc:subject>Official-template pitch; evidence-linked enterprise workflow recovery</dc:subject>
  <dc:creator>sustAInX</dc:creator>
  <cp:keywords>Gemini, enterprise recovery, AI Builder Cup, sustAInX</cp:keywords>
  <cp:lastModifiedBy>Dodiya Abhishek</cp:lastModifiedBy>
  <cp:revision>2</cp:revision>
  <dcterms:modified xsi:type="dcterms:W3CDTF">2026-10-18T18:11:06Z</dcterms:modified>
</cp:coreProperties>
</file>