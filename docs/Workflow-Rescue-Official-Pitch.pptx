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Theme: Future of Work &amp; Enterprise Productivity. Team spelling must remain sustAInX. The registered leader name must be confirmed before submission. All payment, inventory and order services are synthetic.</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fb085bff3c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fb085bff3c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Original organizer download instruction retained unchanged. Hidden from the submitted presentation.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fb085bff3c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fb085bff3c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An adopting business supplies scoped permissions to its own service APIs. This prototype cannot intervene in a bank or another company's transactions. The customer mandate is reviewed structured scenario data, not unrestricted natural-language interpretation.</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fb085bff3c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fb085bff3c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Stripe documents duplicate webhook delivery and idempotent retries. Temporal documents sagas and compensation. These sources establish the engineering problem, not product ROI. A broader deterministic planner can also solve these six fixtures.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fb085bff3c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fb085bff3c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The incident lab accepts editable synthetic service states and explicit permission toggles, or a schema-validated JSON incident. Imported records do not grant authority over any real service. Customer notes do not override explicit reviewed permissions. Replay remains separate from starting a fresh model run. This is JSON incident import, not arbitrary document ingestion.</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fb085bff3c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fb085bff3c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Three mandatory controller reads gather payment, inventory and dispatch before Gemini is called. Gemini then chooses the recovery action and can request fresh evidence or replan after a conflict. The stock race occurs between observation and reservation. The first proposed reservation can be rejected because its inventory version is stale. A fresh observation can reveal incoming stock within the approved delay. Do not imply the model authorizes itself or independently certifies the result.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fb085bff3c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fb085bff3c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This is an actual incident-lab capture, not a designed mock. Operators can change stock, payment availability and reviewed permissions, or import a JSON incident. Animation is a state projection and cannot make a failed run pass. Desktop and mobile browser checks were run locally.</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fb085bff3c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fb085bff3c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Google deployment roles: Firebase Hosting for a static submission portal and prototype entry link; Cloud Run is planned for the FastAPI runtime; Firestore for durable audit documents; Gemini API for reasoning. Status badges reflect only confirmed deployment evidence. The static submission portal does not keep the Cloud Shell backend alive. A Firestore database write/read probe passed, but application-runtime persistence is pending until its credentials and save/load path have been verified. Do not call the in-memory simulator a durable distributed transaction engine. {"firebase_verified": false, "firestore_verified": false, "cloudrun_verified": false}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fb085bff3c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fb085bff3c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The current Gemini free-tier API is different from paid Vertex AI. Billing is not linked to the selected GCP project. Cloud Run free allowances are not a guaranteed zero-spend deployment. Public evaluation availability remains a delivery requirement.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fb085bff3c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fb085bff3c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Formula: annual orders times manual recovery incidence times useful coverage times net minutes saved divided by 60 times fully loaded hourly staff cost. The illustration equals $250,000 gross annual staff capacity. It is not a market estimate, a tested saving, or a budget reduction. Production costs include integration, durable data, access controls, observability, inference, hosting and review effort.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fb085bff3c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fb085bff3c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Local deterministic rehearsal; no Gemini calls in this image. This is a capture of the application's computed verification results. The provider and scenario must match its audit record. Never relabel rehearsal evidence as Gemini evidence.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fb085bff3c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fb085bff3c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The deck reads artifacts/evaluation-gemini.json at build time. It shows unsuccessful cases as red rather than substituting provider results. The initial Gemini 3.8 Flash run exhausted its model's free daily allowance. The operator explicitly selected Gemini 3.5 Flash-Lite; there is no silent provider fallback. The new six-case deployed suite passed. Three controller preflight reads are distinct from the listed model-call counts. Stock-race recovery used four model calls and took about 60 seconds including free-tier pacing; do not present inference-only latency as end-to-end runtime. Live and mocked tests answer different questions. No finalist probability or superiority claim is inferred from six development fixtures.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fb085bff3c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fb085bff3c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The latest submission instructions supplied by the user require a 3 to 4 minute video. This supersedes the older public FAQ and the template's legacy 3-minute label for this preparation. The application must remain functional throughout evaluation; the temporary Cloud Shell link does not meet that durability requirement.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b085bff3c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b085bff3c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Link targets are editable text hyperlinks in the PPTX and exported PDF. A nonempty link is not evidence of durable availability. Source publication and video upload must be independently checked while signed out.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fb085bff3c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fb085bff3c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All official template headers, footers, cover artwork and closing artwork are preserved. Slide 2 remains as a hidden organizer note. This extra evidence slide occupies the original blank branded slide. Savings assumptions are documented in docs/IMPACT.md. Full controller and provider evidence is in the repository artifacts.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fb085bff3c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fb085bff3c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Thank you. Invite the evaluator to inspect the working recovery, the underlying evidence and the source code. Do not promise competition qualification or claim production readiness.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hyperlink" Target="https://github.com/abhi14dodiya/workflow-rescue-sustainx" TargetMode="External"/><Relationship Id="rId6" Type="http://schemas.openxmlformats.org/officeDocument/2006/relationships/hyperlink" Target="https://gen-lang-client-0915819772.web.app/downloads/workflow-rescue-demo.mp4" TargetMode="External"/><Relationship Id="rId7" Type="http://schemas.openxmlformats.org/officeDocument/2006/relationships/hyperlink" Target="https://federation-php-architecture-blocked.trycloudflare.com"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hyperlink" Target="https://docs.stripe.com/webhooks" TargetMode="External"/><Relationship Id="rId6" Type="http://schemas.openxmlformats.org/officeDocument/2006/relationships/hyperlink" Target="https://docs.stripe.com/api/idempotent_requests" TargetMode="External"/><Relationship Id="rId7" Type="http://schemas.openxmlformats.org/officeDocument/2006/relationships/hyperlink" Target="https://temporal.io/blog/compensating-actions-part-of-a-complete-breakfast-with-sagas"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356616" y="2880360"/>
            <a:ext cx="8412480" cy="1938528"/>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endParaRPr sz="2100">
              <a:latin typeface="Google Sans Flex SemiBold"/>
              <a:ea typeface="Google Sans Flex SemiBold"/>
              <a:cs typeface="Google Sans Flex SemiBold"/>
              <a:sym typeface="Google Sans Flex SemiBold"/>
            </a:endParaRPr>
          </a:p>
        </p:txBody>
      </p:sp>
      <p:pic>
        <p:nvPicPr>
          <p:cNvPr id="55" name="Google Shape;55;p13" title="Frame 144.png"/>
          <p:cNvPicPr preferRelativeResize="0"/>
          <p:nvPr/>
        </p:nvPicPr>
        <p:blipFill>
          <a:blip r:embed="rId3">
            <a:alphaModFix/>
          </a:blip>
          <a:stretch>
            <a:fillRect/>
          </a:stretch>
        </p:blipFill>
        <p:spPr>
          <a:xfrm>
            <a:off x="0" y="-3"/>
            <a:ext cx="9144000" cy="2715526"/>
          </a:xfrm>
          <a:prstGeom prst="rect">
            <a:avLst/>
          </a:prstGeom>
          <a:noFill/>
          <a:ln>
            <a:noFill/>
          </a:ln>
        </p:spPr>
      </p:pic>
      <p:pic>
        <p:nvPicPr>
          <p:cNvPr id="56" name="Google Shape;56;p13" title="Frame 144.png"/>
          <p:cNvPicPr preferRelativeResize="0"/>
          <p:nvPr/>
        </p:nvPicPr>
        <p:blipFill rotWithShape="1">
          <a:blip r:embed="rId4">
            <a:alphaModFix/>
          </a:blip>
          <a:srcRect b="98001" l="0" r="0" t="0"/>
          <a:stretch/>
        </p:blipFill>
        <p:spPr>
          <a:xfrm>
            <a:off x="0" y="5093562"/>
            <a:ext cx="9144000" cy="54275"/>
          </a:xfrm>
          <a:prstGeom prst="rect">
            <a:avLst/>
          </a:prstGeom>
          <a:noFill/>
          <a:ln>
            <a:noFill/>
          </a:ln>
        </p:spPr>
      </p:pic>
      <p:sp>
        <p:nvSpPr>
          <p:cNvPr id="57" name="TextBox 56"/>
          <p:cNvSpPr txBox="1"/>
          <p:nvPr/>
        </p:nvSpPr>
        <p:spPr>
          <a:xfrm>
            <a:off x="393192" y="2926080"/>
            <a:ext cx="8138160" cy="356616"/>
          </a:xfrm>
          <a:prstGeom prst="rect">
            <a:avLst/>
          </a:prstGeom>
          <a:noFill/>
        </p:spPr>
        <p:txBody>
          <a:bodyPr wrap="square" lIns="0" rIns="0" tIns="0" bIns="0">
            <a:spAutoFit/>
          </a:bodyPr>
          <a:lstStyle/>
          <a:p>
            <a:pPr algn="l">
              <a:spcAft>
                <a:spcPts val="300"/>
              </a:spcAft>
              <a:defRPr sz="2200" b="1">
                <a:solidFill>
                  <a:srgbClr val="172336"/>
                </a:solidFill>
                <a:latin typeface="Aptos"/>
              </a:defRPr>
            </a:pPr>
            <a:r>
              <a:t>Team Details</a:t>
            </a:r>
          </a:p>
        </p:txBody>
      </p:sp>
      <p:sp>
        <p:nvSpPr>
          <p:cNvPr id="58" name="TextBox 57"/>
          <p:cNvSpPr txBox="1"/>
          <p:nvPr/>
        </p:nvSpPr>
        <p:spPr>
          <a:xfrm>
            <a:off x="402336" y="3410712"/>
            <a:ext cx="3566160" cy="365760"/>
          </a:xfrm>
          <a:prstGeom prst="rect">
            <a:avLst/>
          </a:prstGeom>
          <a:noFill/>
        </p:spPr>
        <p:txBody>
          <a:bodyPr wrap="square" lIns="0" rIns="0" tIns="0" bIns="0">
            <a:spAutoFit/>
          </a:bodyPr>
          <a:lstStyle/>
          <a:p>
            <a:pPr algn="l">
              <a:spcAft>
                <a:spcPts val="300"/>
              </a:spcAft>
              <a:defRPr sz="2700" b="1">
                <a:solidFill>
                  <a:srgbClr val="2864DF"/>
                </a:solidFill>
                <a:latin typeface="Aptos"/>
              </a:defRPr>
            </a:pPr>
            <a:r>
              <a:t>sustAInX</a:t>
            </a:r>
          </a:p>
        </p:txBody>
      </p:sp>
      <p:sp>
        <p:nvSpPr>
          <p:cNvPr id="59" name="TextBox 58"/>
          <p:cNvSpPr txBox="1"/>
          <p:nvPr/>
        </p:nvSpPr>
        <p:spPr>
          <a:xfrm>
            <a:off x="4389120" y="3447288"/>
            <a:ext cx="4297680" cy="329184"/>
          </a:xfrm>
          <a:prstGeom prst="rect">
            <a:avLst/>
          </a:prstGeom>
          <a:noFill/>
        </p:spPr>
        <p:txBody>
          <a:bodyPr wrap="square" lIns="0" rIns="0" tIns="0" bIns="0">
            <a:spAutoFit/>
          </a:bodyPr>
          <a:lstStyle/>
          <a:p>
            <a:pPr algn="l">
              <a:spcAft>
                <a:spcPts val="300"/>
              </a:spcAft>
              <a:defRPr sz="2300" b="1">
                <a:solidFill>
                  <a:srgbClr val="172336"/>
                </a:solidFill>
                <a:latin typeface="Aptos"/>
              </a:defRPr>
            </a:pPr>
            <a:r>
              <a:t>Workflow Rescue</a:t>
            </a:r>
          </a:p>
        </p:txBody>
      </p:sp>
      <p:sp>
        <p:nvSpPr>
          <p:cNvPr id="60" name="TextBox 59"/>
          <p:cNvSpPr txBox="1"/>
          <p:nvPr/>
        </p:nvSpPr>
        <p:spPr>
          <a:xfrm>
            <a:off x="411480" y="3840480"/>
            <a:ext cx="8183879" cy="320040"/>
          </a:xfrm>
          <a:prstGeom prst="rect">
            <a:avLst/>
          </a:prstGeom>
          <a:noFill/>
        </p:spPr>
        <p:txBody>
          <a:bodyPr wrap="square" lIns="0" rIns="0" tIns="0" bIns="0">
            <a:spAutoFit/>
          </a:bodyPr>
          <a:lstStyle/>
          <a:p>
            <a:pPr algn="l">
              <a:spcAft>
                <a:spcPts val="300"/>
              </a:spcAft>
              <a:defRPr sz="1300" b="0">
                <a:solidFill>
                  <a:srgbClr val="53637C"/>
                </a:solidFill>
                <a:latin typeface="Aptos"/>
              </a:defRPr>
            </a:pPr>
            <a:r>
              <a:t>Team leader name: [Registered team leader name]</a:t>
            </a:r>
          </a:p>
        </p:txBody>
      </p:sp>
      <p:sp>
        <p:nvSpPr>
          <p:cNvPr id="61" name="TextBox 60"/>
          <p:cNvSpPr txBox="1"/>
          <p:nvPr/>
        </p:nvSpPr>
        <p:spPr>
          <a:xfrm>
            <a:off x="411480" y="4261104"/>
            <a:ext cx="8183879" cy="502920"/>
          </a:xfrm>
          <a:prstGeom prst="rect">
            <a:avLst/>
          </a:prstGeom>
          <a:noFill/>
        </p:spPr>
        <p:txBody>
          <a:bodyPr wrap="square" lIns="0" rIns="0" tIns="0" bIns="0">
            <a:spAutoFit/>
          </a:bodyPr>
          <a:lstStyle/>
          <a:p>
            <a:pPr algn="l">
              <a:spcAft>
                <a:spcPts val="300"/>
              </a:spcAft>
              <a:defRPr sz="1600" b="0">
                <a:solidFill>
                  <a:srgbClr val="172336"/>
                </a:solidFill>
                <a:latin typeface="Aptos"/>
              </a:defRPr>
            </a:pPr>
            <a:r>
              <a:t>Problem Statement: Recover interrupted enterprise workflows while preserving customer intent, permissions and a verifiable outcome.</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0" name="Shape 60"/>
        <p:cNvGrpSpPr/>
        <p:nvPr/>
      </p:nvGrpSpPr>
      <p:grpSpPr>
        <a:xfrm>
          <a:off x="0" y="0"/>
          <a:ext cx="0" cy="0"/>
          <a:chOff x="0" y="0"/>
          <a:chExt cx="0" cy="0"/>
        </a:xfrm>
      </p:grpSpPr>
      <p:pic>
        <p:nvPicPr>
          <p:cNvPr id="61" name="Google Shape;61;p14"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sp>
        <p:nvSpPr>
          <p:cNvPr id="62" name="Google Shape;62;p14"/>
          <p:cNvSpPr/>
          <p:nvPr/>
        </p:nvSpPr>
        <p:spPr>
          <a:xfrm>
            <a:off x="0" y="0"/>
            <a:ext cx="914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 name="Google Shape;63;p14"/>
          <p:cNvSpPr txBox="1"/>
          <p:nvPr/>
        </p:nvSpPr>
        <p:spPr>
          <a:xfrm>
            <a:off x="5092475" y="1968750"/>
            <a:ext cx="3311400" cy="120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100">
                <a:solidFill>
                  <a:schemeClr val="lt1"/>
                </a:solidFill>
                <a:latin typeface="Google Sans Flex Medium"/>
                <a:ea typeface="Google Sans Flex Medium"/>
                <a:cs typeface="Google Sans Flex Medium"/>
                <a:sym typeface="Google Sans Flex Medium"/>
              </a:rPr>
              <a:t>Note:</a:t>
            </a:r>
            <a:r>
              <a:rPr lang="en-GB" sz="1100">
                <a:solidFill>
                  <a:schemeClr val="lt1"/>
                </a:solidFill>
                <a:latin typeface="Google Sans Flex"/>
                <a:ea typeface="Google Sans Flex"/>
                <a:cs typeface="Google Sans Flex"/>
                <a:sym typeface="Google Sans Flex"/>
              </a:rPr>
              <a:t> Please download this template to make your edits and submit the final version.</a:t>
            </a:r>
            <a:br>
              <a:rPr lang="en-GB" sz="1100">
                <a:solidFill>
                  <a:schemeClr val="lt1"/>
                </a:solidFill>
                <a:latin typeface="Google Sans Flex"/>
                <a:ea typeface="Google Sans Flex"/>
                <a:cs typeface="Google Sans Flex"/>
                <a:sym typeface="Google Sans Flex"/>
              </a:rPr>
            </a:br>
            <a:br>
              <a:rPr lang="en-GB" sz="1100">
                <a:solidFill>
                  <a:schemeClr val="lt1"/>
                </a:solidFill>
                <a:latin typeface="Google Sans Flex"/>
                <a:ea typeface="Google Sans Flex"/>
                <a:cs typeface="Google Sans Flex"/>
                <a:sym typeface="Google Sans Flex"/>
              </a:rPr>
            </a:br>
            <a:r>
              <a:rPr lang="en-GB" sz="1100">
                <a:solidFill>
                  <a:schemeClr val="lt1"/>
                </a:solidFill>
                <a:latin typeface="Google Sans Flex"/>
                <a:ea typeface="Google Sans Flex"/>
                <a:cs typeface="Google Sans Flex"/>
                <a:sym typeface="Google Sans Flex"/>
              </a:rPr>
              <a:t>To download, go to File &gt; Download &gt; Microsoft PowerPoint (.PPTX). Kindly refrain from sending edit requests.</a:t>
            </a:r>
            <a:endParaRPr sz="1100">
              <a:solidFill>
                <a:schemeClr val="lt1"/>
              </a:solidFill>
              <a:latin typeface="Google Sans Flex"/>
              <a:ea typeface="Google Sans Flex"/>
              <a:cs typeface="Google Sans Flex"/>
              <a:sym typeface="Google Sans Flex"/>
            </a:endParaRPr>
          </a:p>
          <a:p>
            <a:pPr indent="0" lvl="0" marL="0" rtl="0" algn="l">
              <a:spcBef>
                <a:spcPts val="0"/>
              </a:spcBef>
              <a:spcAft>
                <a:spcPts val="0"/>
              </a:spcAft>
              <a:buNone/>
            </a:pPr>
            <a:r>
              <a:t/>
            </a:r>
            <a:endParaRPr sz="1100">
              <a:solidFill>
                <a:schemeClr val="lt1"/>
              </a:solidFill>
              <a:latin typeface="Google Sans Flex"/>
              <a:ea typeface="Google Sans Flex"/>
              <a:cs typeface="Google Sans Flex"/>
              <a:sym typeface="Google Sans Flex"/>
            </a:endParaRPr>
          </a:p>
        </p:txBody>
      </p:sp>
      <p:pic>
        <p:nvPicPr>
          <p:cNvPr id="64" name="Google Shape;64;p14"/>
          <p:cNvPicPr preferRelativeResize="0"/>
          <p:nvPr/>
        </p:nvPicPr>
        <p:blipFill>
          <a:blip r:embed="rId4">
            <a:alphaModFix/>
          </a:blip>
          <a:stretch>
            <a:fillRect/>
          </a:stretch>
        </p:blipFill>
        <p:spPr>
          <a:xfrm>
            <a:off x="924203" y="1194675"/>
            <a:ext cx="3604250" cy="2621725"/>
          </a:xfrm>
          <a:prstGeom prst="rect">
            <a:avLst/>
          </a:prstGeom>
          <a:noFill/>
          <a:ln>
            <a:noFill/>
          </a:ln>
          <a:effectLst>
            <a:outerShdw blurRad="971550" rotWithShape="0" algn="bl" dir="5400000" dist="19050">
              <a:schemeClr val="lt1">
                <a:alpha val="50000"/>
              </a:scheme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pic>
        <p:nvPicPr>
          <p:cNvPr id="69" name="Google Shape;69;p15" title="Group 427319979.png"/>
          <p:cNvPicPr preferRelativeResize="0"/>
          <p:nvPr/>
        </p:nvPicPr>
        <p:blipFill>
          <a:blip r:embed="rId3">
            <a:alphaModFix/>
          </a:blip>
          <a:stretch>
            <a:fillRect/>
          </a:stretch>
        </p:blipFill>
        <p:spPr>
          <a:xfrm>
            <a:off x="0" y="1"/>
            <a:ext cx="9144000" cy="507359"/>
          </a:xfrm>
          <a:prstGeom prst="rect">
            <a:avLst/>
          </a:prstGeom>
          <a:noFill/>
          <a:ln>
            <a:noFill/>
          </a:ln>
        </p:spPr>
      </p:pic>
      <p:sp>
        <p:nvSpPr>
          <p:cNvPr id="70" name="Google Shape;70;p15"/>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 name="Google Shape;71;p15"/>
          <p:cNvSpPr txBox="1"/>
          <p:nvPr/>
        </p:nvSpPr>
        <p:spPr>
          <a:xfrm>
            <a:off x="356616" y="704088"/>
            <a:ext cx="8348472" cy="402336"/>
          </a:xfrm>
          <a:prstGeom prst="rect">
            <a:avLst/>
          </a:prstGeom>
          <a:noFill/>
          <a:ln>
            <a:noFill/>
          </a:ln>
        </p:spPr>
        <p:txBody>
          <a:bodyPr anchorCtr="0" anchor="t" bIns="91425" lIns="0" spcFirstLastPara="1" rIns="91425" wrap="square" tIns="0">
            <a:noAutofit/>
          </a:bodyPr>
          <a:lstStyle/>
          <a:p>
            <a:pPr indent="0" lvl="0" marL="0" rtl="0" algn="l">
              <a:spcBef>
                <a:spcPts val="0"/>
              </a:spcBef>
              <a:spcAft>
                <a:spcPts val="0"/>
              </a:spcAft>
              <a:buNone/>
              <a:defRPr sz="2300" b="1">
                <a:solidFill>
                  <a:srgbClr val="172336"/>
                </a:solidFill>
                <a:latin typeface="Aptos Display"/>
              </a:defRPr>
            </a:pPr>
            <a:r>
              <a:t>Brief about the idea</a:t>
            </a:r>
            <a:endParaRPr sz="1600">
              <a:latin typeface="Google Sans Flex Medium"/>
              <a:ea typeface="Google Sans Flex Medium"/>
              <a:cs typeface="Google Sans Flex Medium"/>
              <a:sym typeface="Google Sans Flex Medium"/>
            </a:endParaRPr>
          </a:p>
        </p:txBody>
      </p:sp>
      <p:sp>
        <p:nvSpPr>
          <p:cNvPr id="72" name="TextBox 71"/>
          <p:cNvSpPr txBox="1"/>
          <p:nvPr/>
        </p:nvSpPr>
        <p:spPr>
          <a:xfrm>
            <a:off x="365760" y="1161288"/>
            <a:ext cx="8321040" cy="365760"/>
          </a:xfrm>
          <a:prstGeom prst="rect">
            <a:avLst/>
          </a:prstGeom>
          <a:noFill/>
        </p:spPr>
        <p:txBody>
          <a:bodyPr wrap="square" lIns="0" rIns="0" tIns="0" bIns="0">
            <a:spAutoFit/>
          </a:bodyPr>
          <a:lstStyle/>
          <a:p>
            <a:pPr algn="l">
              <a:spcAft>
                <a:spcPts val="300"/>
              </a:spcAft>
              <a:defRPr sz="1200" b="0">
                <a:solidFill>
                  <a:srgbClr val="53637C"/>
                </a:solidFill>
                <a:latin typeface="Aptos"/>
              </a:defRPr>
            </a:pPr>
            <a:r>
              <a:t>Workflow Rescue is an operator's recovery workspace for an order stranded between services.</a:t>
            </a:r>
          </a:p>
        </p:txBody>
      </p:sp>
      <p:sp>
        <p:nvSpPr>
          <p:cNvPr id="73" name="TextBox 72"/>
          <p:cNvSpPr txBox="1"/>
          <p:nvPr/>
        </p:nvSpPr>
        <p:spPr>
          <a:xfrm>
            <a:off x="393192" y="1682496"/>
            <a:ext cx="4663440" cy="941832"/>
          </a:xfrm>
          <a:prstGeom prst="rect">
            <a:avLst/>
          </a:prstGeom>
          <a:noFill/>
        </p:spPr>
        <p:txBody>
          <a:bodyPr wrap="square" lIns="0" rIns="0" tIns="0" bIns="0">
            <a:spAutoFit/>
          </a:bodyPr>
          <a:lstStyle/>
          <a:p>
            <a:pPr algn="l">
              <a:spcAft>
                <a:spcPts val="300"/>
              </a:spcAft>
              <a:defRPr sz="3500" b="1">
                <a:solidFill>
                  <a:srgbClr val="172336"/>
                </a:solidFill>
                <a:latin typeface="Aptos"/>
              </a:defRPr>
            </a:pPr>
            <a:r>
              <a:t>A timeout is</a:t>
            </a:r>
          </a:p>
          <a:p>
            <a:pPr algn="l">
              <a:spcAft>
                <a:spcPts val="300"/>
              </a:spcAft>
              <a:defRPr sz="3500" b="1">
                <a:solidFill>
                  <a:srgbClr val="172336"/>
                </a:solidFill>
                <a:latin typeface="Aptos"/>
              </a:defRPr>
            </a:pPr>
            <a:r>
              <a:t>not the truth.</a:t>
            </a:r>
          </a:p>
        </p:txBody>
      </p:sp>
      <p:sp>
        <p:nvSpPr>
          <p:cNvPr id="74" name="TextBox 73"/>
          <p:cNvSpPr txBox="1"/>
          <p:nvPr/>
        </p:nvSpPr>
        <p:spPr>
          <a:xfrm>
            <a:off x="411480" y="2807208"/>
            <a:ext cx="4251960" cy="731520"/>
          </a:xfrm>
          <a:prstGeom prst="rect">
            <a:avLst/>
          </a:prstGeom>
          <a:noFill/>
        </p:spPr>
        <p:txBody>
          <a:bodyPr wrap="square" lIns="0" rIns="0" tIns="0" bIns="0">
            <a:spAutoFit/>
          </a:bodyPr>
          <a:lstStyle/>
          <a:p>
            <a:pPr algn="l">
              <a:spcAft>
                <a:spcPts val="300"/>
              </a:spcAft>
              <a:defRPr sz="1900" b="0">
                <a:solidFill>
                  <a:srgbClr val="172336"/>
                </a:solidFill>
                <a:latin typeface="Aptos"/>
              </a:defRPr>
            </a:pPr>
            <a:r>
              <a:t>The charge succeeded. The reservation expired. The customer still expects the original item.</a:t>
            </a:r>
          </a:p>
        </p:txBody>
      </p:sp>
      <p:sp>
        <p:nvSpPr>
          <p:cNvPr id="75" name="Rounded Rectangle 74"/>
          <p:cNvSpPr/>
          <p:nvPr/>
        </p:nvSpPr>
        <p:spPr>
          <a:xfrm>
            <a:off x="384048" y="3758184"/>
            <a:ext cx="4352544" cy="594360"/>
          </a:xfrm>
          <a:prstGeom prst="roundRect">
            <a:avLst>
              <a:gd name="adj" fmla="val 9000"/>
            </a:avLst>
          </a:prstGeom>
          <a:solidFill>
            <a:srgbClr val="ED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548640" y="3877056"/>
            <a:ext cx="4023360" cy="420624"/>
          </a:xfrm>
          <a:prstGeom prst="rect">
            <a:avLst/>
          </a:prstGeom>
          <a:noFill/>
        </p:spPr>
        <p:txBody>
          <a:bodyPr wrap="square" lIns="0" rIns="0" tIns="0" bIns="0">
            <a:spAutoFit/>
          </a:bodyPr>
          <a:lstStyle/>
          <a:p>
            <a:pPr algn="l">
              <a:spcAft>
                <a:spcPts val="300"/>
              </a:spcAft>
              <a:defRPr sz="1400" b="1">
                <a:solidFill>
                  <a:srgbClr val="2864DF"/>
                </a:solidFill>
                <a:latin typeface="Aptos"/>
              </a:defRPr>
            </a:pPr>
            <a:r>
              <a:t>“Same item. No extra charge. Two days late is fine.”</a:t>
            </a:r>
          </a:p>
        </p:txBody>
      </p:sp>
      <p:sp>
        <p:nvSpPr>
          <p:cNvPr id="77" name="Rounded Rectangle 76"/>
          <p:cNvSpPr/>
          <p:nvPr/>
        </p:nvSpPr>
        <p:spPr>
          <a:xfrm>
            <a:off x="5166360" y="1737360"/>
            <a:ext cx="3575304" cy="813816"/>
          </a:xfrm>
          <a:prstGeom prst="roundRect">
            <a:avLst>
              <a:gd name="adj" fmla="val 9000"/>
            </a:avLst>
          </a:prstGeom>
          <a:solidFill>
            <a:srgbClr val="EDF3FF"/>
          </a:solidFill>
          <a:ln w="10160">
            <a:solidFill>
              <a:srgbClr val="D8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5166360" y="1737360"/>
            <a:ext cx="41148" cy="813816"/>
          </a:xfrm>
          <a:prstGeom prst="rect">
            <a:avLst/>
          </a:prstGeom>
          <a:solidFill>
            <a:srgbClr val="2864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5312664" y="1865376"/>
            <a:ext cx="3282696" cy="329184"/>
          </a:xfrm>
          <a:prstGeom prst="rect">
            <a:avLst/>
          </a:prstGeom>
          <a:noFill/>
        </p:spPr>
        <p:txBody>
          <a:bodyPr wrap="square" lIns="0" rIns="0" tIns="0" bIns="0">
            <a:spAutoFit/>
          </a:bodyPr>
          <a:lstStyle/>
          <a:p>
            <a:pPr algn="l">
              <a:spcAft>
                <a:spcPts val="300"/>
              </a:spcAft>
              <a:defRPr sz="1500" b="1">
                <a:solidFill>
                  <a:srgbClr val="2864DF"/>
                </a:solidFill>
                <a:latin typeface="Aptos"/>
              </a:defRPr>
            </a:pPr>
            <a:r>
              <a:t>Reconstruct</a:t>
            </a:r>
          </a:p>
        </p:txBody>
      </p:sp>
      <p:sp>
        <p:nvSpPr>
          <p:cNvPr id="80" name="TextBox 79"/>
          <p:cNvSpPr txBox="1"/>
          <p:nvPr/>
        </p:nvSpPr>
        <p:spPr>
          <a:xfrm>
            <a:off x="5312664" y="2304288"/>
            <a:ext cx="3282696" cy="173736"/>
          </a:xfrm>
          <a:prstGeom prst="rect">
            <a:avLst/>
          </a:prstGeom>
          <a:noFill/>
        </p:spPr>
        <p:txBody>
          <a:bodyPr wrap="square" lIns="0" rIns="0" tIns="0" bIns="0">
            <a:spAutoFit/>
          </a:bodyPr>
          <a:lstStyle/>
          <a:p>
            <a:pPr algn="l">
              <a:spcAft>
                <a:spcPts val="300"/>
              </a:spcAft>
              <a:defRPr sz="1200" b="0">
                <a:solidFill>
                  <a:srgbClr val="172336"/>
                </a:solidFill>
                <a:latin typeface="Aptos"/>
              </a:defRPr>
            </a:pPr>
            <a:r>
              <a:t>Read payment, stock and dispatch evidence.</a:t>
            </a:r>
          </a:p>
        </p:txBody>
      </p:sp>
      <p:sp>
        <p:nvSpPr>
          <p:cNvPr id="81" name="Rounded Rectangle 80"/>
          <p:cNvSpPr/>
          <p:nvPr/>
        </p:nvSpPr>
        <p:spPr>
          <a:xfrm>
            <a:off x="5166360" y="2734056"/>
            <a:ext cx="3575304" cy="813816"/>
          </a:xfrm>
          <a:prstGeom prst="roundRect">
            <a:avLst>
              <a:gd name="adj" fmla="val 9000"/>
            </a:avLst>
          </a:prstGeom>
          <a:solidFill>
            <a:srgbClr val="EDF3FF"/>
          </a:solidFill>
          <a:ln w="10160">
            <a:solidFill>
              <a:srgbClr val="D8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5166360" y="2734056"/>
            <a:ext cx="41148" cy="813816"/>
          </a:xfrm>
          <a:prstGeom prst="rect">
            <a:avLst/>
          </a:prstGeom>
          <a:solidFill>
            <a:srgbClr val="7557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5312664" y="2862072"/>
            <a:ext cx="3282696" cy="329184"/>
          </a:xfrm>
          <a:prstGeom prst="rect">
            <a:avLst/>
          </a:prstGeom>
          <a:noFill/>
        </p:spPr>
        <p:txBody>
          <a:bodyPr wrap="square" lIns="0" rIns="0" tIns="0" bIns="0">
            <a:spAutoFit/>
          </a:bodyPr>
          <a:lstStyle/>
          <a:p>
            <a:pPr algn="l">
              <a:spcAft>
                <a:spcPts val="300"/>
              </a:spcAft>
              <a:defRPr sz="1500" b="1">
                <a:solidFill>
                  <a:srgbClr val="7557DD"/>
                </a:solidFill>
                <a:latin typeface="Aptos"/>
              </a:defRPr>
            </a:pPr>
            <a:r>
              <a:t>Recover within authority</a:t>
            </a:r>
          </a:p>
        </p:txBody>
      </p:sp>
      <p:sp>
        <p:nvSpPr>
          <p:cNvPr id="84" name="TextBox 83"/>
          <p:cNvSpPr txBox="1"/>
          <p:nvPr/>
        </p:nvSpPr>
        <p:spPr>
          <a:xfrm>
            <a:off x="5312664" y="3300984"/>
            <a:ext cx="3282696" cy="173736"/>
          </a:xfrm>
          <a:prstGeom prst="rect">
            <a:avLst/>
          </a:prstGeom>
          <a:noFill/>
        </p:spPr>
        <p:txBody>
          <a:bodyPr wrap="square" lIns="0" rIns="0" tIns="0" bIns="0">
            <a:spAutoFit/>
          </a:bodyPr>
          <a:lstStyle/>
          <a:p>
            <a:pPr algn="l">
              <a:spcAft>
                <a:spcPts val="300"/>
              </a:spcAft>
              <a:defRPr sz="1200" b="0">
                <a:solidFill>
                  <a:srgbClr val="172336"/>
                </a:solidFill>
                <a:latin typeface="Aptos"/>
              </a:defRPr>
            </a:pPr>
            <a:r>
              <a:t>Gemini proposes; code controls each write.</a:t>
            </a:r>
          </a:p>
        </p:txBody>
      </p:sp>
      <p:sp>
        <p:nvSpPr>
          <p:cNvPr id="85" name="Rounded Rectangle 84"/>
          <p:cNvSpPr/>
          <p:nvPr/>
        </p:nvSpPr>
        <p:spPr>
          <a:xfrm>
            <a:off x="5166360" y="3730752"/>
            <a:ext cx="3575304" cy="813816"/>
          </a:xfrm>
          <a:prstGeom prst="roundRect">
            <a:avLst>
              <a:gd name="adj" fmla="val 9000"/>
            </a:avLst>
          </a:prstGeom>
          <a:solidFill>
            <a:srgbClr val="EDF3FF"/>
          </a:solidFill>
          <a:ln w="10160">
            <a:solidFill>
              <a:srgbClr val="D8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5166360" y="3730752"/>
            <a:ext cx="41148" cy="813816"/>
          </a:xfrm>
          <a:prstGeom prst="rect">
            <a:avLst/>
          </a:prstGeom>
          <a:solidFill>
            <a:srgbClr val="1684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5312664" y="3858768"/>
            <a:ext cx="3282696" cy="329184"/>
          </a:xfrm>
          <a:prstGeom prst="rect">
            <a:avLst/>
          </a:prstGeom>
          <a:noFill/>
        </p:spPr>
        <p:txBody>
          <a:bodyPr wrap="square" lIns="0" rIns="0" tIns="0" bIns="0">
            <a:spAutoFit/>
          </a:bodyPr>
          <a:lstStyle/>
          <a:p>
            <a:pPr algn="l">
              <a:spcAft>
                <a:spcPts val="300"/>
              </a:spcAft>
              <a:defRPr sz="1500" b="1">
                <a:solidFill>
                  <a:srgbClr val="16845A"/>
                </a:solidFill>
                <a:latin typeface="Aptos"/>
              </a:defRPr>
            </a:pPr>
            <a:r>
              <a:t>Prove the result</a:t>
            </a:r>
          </a:p>
        </p:txBody>
      </p:sp>
      <p:sp>
        <p:nvSpPr>
          <p:cNvPr id="88" name="TextBox 87"/>
          <p:cNvSpPr txBox="1"/>
          <p:nvPr/>
        </p:nvSpPr>
        <p:spPr>
          <a:xfrm>
            <a:off x="5312664" y="4297680"/>
            <a:ext cx="3282696" cy="173736"/>
          </a:xfrm>
          <a:prstGeom prst="rect">
            <a:avLst/>
          </a:prstGeom>
          <a:noFill/>
        </p:spPr>
        <p:txBody>
          <a:bodyPr wrap="square" lIns="0" rIns="0" tIns="0" bIns="0">
            <a:spAutoFit/>
          </a:bodyPr>
          <a:lstStyle/>
          <a:p>
            <a:pPr algn="l">
              <a:spcAft>
                <a:spcPts val="300"/>
              </a:spcAft>
              <a:defRPr sz="1200" b="0">
                <a:solidFill>
                  <a:srgbClr val="172336"/>
                </a:solidFill>
                <a:latin typeface="Aptos"/>
              </a:defRPr>
            </a:pPr>
            <a:r>
              <a:t>Independent checks verify or request review.</a:t>
            </a:r>
          </a:p>
        </p:txBody>
      </p:sp>
      <p:sp>
        <p:nvSpPr>
          <p:cNvPr id="89" name="TextBox 88"/>
          <p:cNvSpPr txBox="1"/>
          <p:nvPr/>
        </p:nvSpPr>
        <p:spPr>
          <a:xfrm>
            <a:off x="356616" y="4700016"/>
            <a:ext cx="7936992" cy="210312"/>
          </a:xfrm>
          <a:prstGeom prst="rect">
            <a:avLst/>
          </a:prstGeom>
          <a:noFill/>
        </p:spPr>
        <p:txBody>
          <a:bodyPr wrap="square" lIns="0" rIns="0" tIns="0" bIns="0">
            <a:spAutoFit/>
          </a:bodyPr>
          <a:lstStyle/>
          <a:p>
            <a:pPr algn="l">
              <a:spcAft>
                <a:spcPts val="300"/>
              </a:spcAft>
              <a:defRPr sz="850" b="0">
                <a:solidFill>
                  <a:srgbClr val="53637C"/>
                </a:solidFill>
                <a:latin typeface="Aptos"/>
              </a:defRPr>
            </a:pPr>
            <a:r>
              <a:t>Synthetic business services. No production customer data.</a:t>
            </a:r>
          </a:p>
        </p:txBody>
      </p:sp>
      <p:sp>
        <p:nvSpPr>
          <p:cNvPr id="90" name="TextBox 89"/>
          <p:cNvSpPr txBox="1"/>
          <p:nvPr/>
        </p:nvSpPr>
        <p:spPr>
          <a:xfrm>
            <a:off x="8394192" y="4700016"/>
            <a:ext cx="365760" cy="210312"/>
          </a:xfrm>
          <a:prstGeom prst="rect">
            <a:avLst/>
          </a:prstGeom>
          <a:noFill/>
        </p:spPr>
        <p:txBody>
          <a:bodyPr wrap="square" lIns="0" rIns="0" tIns="0" bIns="0">
            <a:spAutoFit/>
          </a:bodyPr>
          <a:lstStyle/>
          <a:p>
            <a:pPr algn="r">
              <a:spcAft>
                <a:spcPts val="300"/>
              </a:spcAft>
              <a:defRPr sz="900" b="0">
                <a:solidFill>
                  <a:srgbClr val="53637C"/>
                </a:solidFill>
                <a:latin typeface="Aptos"/>
              </a:defRPr>
            </a:pPr>
            <a:r>
              <a:t>03</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pic>
        <p:nvPicPr>
          <p:cNvPr id="76" name="Google Shape;76;p16"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77" name="Google Shape;77;p1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78" name="Google Shape;78;p16"/>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 name="Google Shape;79;p16"/>
          <p:cNvSpPr txBox="1"/>
          <p:nvPr/>
        </p:nvSpPr>
        <p:spPr>
          <a:xfrm>
            <a:off x="356616" y="704088"/>
            <a:ext cx="8348472" cy="402336"/>
          </a:xfrm>
          <a:prstGeom prst="rect">
            <a:avLst/>
          </a:prstGeom>
          <a:noFill/>
          <a:ln>
            <a:noFill/>
          </a:ln>
        </p:spPr>
        <p:txBody>
          <a:bodyPr anchorCtr="0" anchor="t" bIns="91425" lIns="0" spcFirstLastPara="1" rIns="91425" wrap="square" tIns="0">
            <a:noAutofit/>
          </a:bodyPr>
          <a:lstStyle/>
          <a:p>
            <a:pPr indent="0" lvl="0" marL="0" rtl="0" algn="l">
              <a:spcBef>
                <a:spcPts val="0"/>
              </a:spcBef>
              <a:spcAft>
                <a:spcPts val="0"/>
              </a:spcAft>
              <a:buNone/>
              <a:defRPr sz="2300" b="1">
                <a:solidFill>
                  <a:srgbClr val="172336"/>
                </a:solidFill>
                <a:latin typeface="Aptos Display"/>
              </a:defRPr>
            </a:pPr>
            <a:r>
              <a:t>Opportunities</a:t>
            </a:r>
            <a:endParaRPr sz="1600">
              <a:latin typeface="Google Sans Flex SemiBold"/>
              <a:ea typeface="Google Sans Flex SemiBold"/>
              <a:cs typeface="Google Sans Flex SemiBold"/>
              <a:sym typeface="Google Sans Flex SemiBold"/>
            </a:endParaRPr>
          </a:p>
        </p:txBody>
      </p:sp>
      <p:sp>
        <p:nvSpPr>
          <p:cNvPr id="80" name="TextBox 79"/>
          <p:cNvSpPr txBox="1"/>
          <p:nvPr/>
        </p:nvSpPr>
        <p:spPr>
          <a:xfrm>
            <a:off x="365760" y="1161288"/>
            <a:ext cx="8321040" cy="365760"/>
          </a:xfrm>
          <a:prstGeom prst="rect">
            <a:avLst/>
          </a:prstGeom>
          <a:noFill/>
        </p:spPr>
        <p:txBody>
          <a:bodyPr wrap="square" lIns="0" rIns="0" tIns="0" bIns="0">
            <a:spAutoFit/>
          </a:bodyPr>
          <a:lstStyle/>
          <a:p>
            <a:pPr algn="l">
              <a:spcAft>
                <a:spcPts val="300"/>
              </a:spcAft>
              <a:defRPr sz="1200" b="0">
                <a:solidFill>
                  <a:srgbClr val="53637C"/>
                </a:solidFill>
                <a:latin typeface="Aptos"/>
              </a:defRPr>
            </a:pPr>
            <a:r>
              <a:t>An evidence-linked recovery layer for the operator who must decide what happens next.</a:t>
            </a:r>
          </a:p>
        </p:txBody>
      </p:sp>
      <p:sp>
        <p:nvSpPr>
          <p:cNvPr id="81" name="Rounded Rectangle 80"/>
          <p:cNvSpPr/>
          <p:nvPr/>
        </p:nvSpPr>
        <p:spPr>
          <a:xfrm>
            <a:off x="393192" y="1709928"/>
            <a:ext cx="2660904" cy="2487168"/>
          </a:xfrm>
          <a:prstGeom prst="roundRect">
            <a:avLst>
              <a:gd name="adj" fmla="val 9000"/>
            </a:avLst>
          </a:prstGeom>
          <a:solidFill>
            <a:srgbClr val="EDF3FF"/>
          </a:solidFill>
          <a:ln w="10160">
            <a:solidFill>
              <a:srgbClr val="D8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393192" y="1709928"/>
            <a:ext cx="41148" cy="2487168"/>
          </a:xfrm>
          <a:prstGeom prst="rect">
            <a:avLst/>
          </a:prstGeom>
          <a:solidFill>
            <a:srgbClr val="2864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539496" y="1837944"/>
            <a:ext cx="2368296" cy="329184"/>
          </a:xfrm>
          <a:prstGeom prst="rect">
            <a:avLst/>
          </a:prstGeom>
          <a:noFill/>
        </p:spPr>
        <p:txBody>
          <a:bodyPr wrap="square" lIns="0" rIns="0" tIns="0" bIns="0">
            <a:spAutoFit/>
          </a:bodyPr>
          <a:lstStyle/>
          <a:p>
            <a:pPr algn="l">
              <a:spcAft>
                <a:spcPts val="300"/>
              </a:spcAft>
              <a:defRPr sz="1500" b="1">
                <a:solidFill>
                  <a:srgbClr val="2864DF"/>
                </a:solidFill>
                <a:latin typeface="Aptos"/>
              </a:defRPr>
            </a:pPr>
            <a:r>
              <a:t>How different is it?</a:t>
            </a:r>
          </a:p>
        </p:txBody>
      </p:sp>
      <p:sp>
        <p:nvSpPr>
          <p:cNvPr id="84" name="TextBox 83"/>
          <p:cNvSpPr txBox="1"/>
          <p:nvPr/>
        </p:nvSpPr>
        <p:spPr>
          <a:xfrm>
            <a:off x="539496" y="2276856"/>
            <a:ext cx="2368296" cy="1847088"/>
          </a:xfrm>
          <a:prstGeom prst="rect">
            <a:avLst/>
          </a:prstGeom>
          <a:noFill/>
        </p:spPr>
        <p:txBody>
          <a:bodyPr wrap="square" lIns="0" rIns="0" tIns="0" bIns="0">
            <a:spAutoFit/>
          </a:bodyPr>
          <a:lstStyle/>
          <a:p>
            <a:pPr algn="l">
              <a:spcAft>
                <a:spcPts val="300"/>
              </a:spcAft>
              <a:defRPr sz="1300" b="0">
                <a:solidFill>
                  <a:srgbClr val="172336"/>
                </a:solidFill>
                <a:latin typeface="Aptos"/>
              </a:defRPr>
            </a:pPr>
            <a:r>
              <a:t>Beyond a retry button: a stock conflict triggers fresh evidence and a revised proposal.</a:t>
            </a:r>
          </a:p>
          <a:p>
            <a:pPr algn="l">
              <a:spcAft>
                <a:spcPts val="300"/>
              </a:spcAft>
              <a:defRPr sz="1300" b="0">
                <a:solidFill>
                  <a:srgbClr val="172336"/>
                </a:solidFill>
                <a:latin typeface="Aptos"/>
              </a:defRPr>
            </a:pPr>
          </a:p>
          <a:p>
            <a:pPr algn="l">
              <a:spcAft>
                <a:spcPts val="300"/>
              </a:spcAft>
              <a:defRPr sz="1300" b="0">
                <a:solidFill>
                  <a:srgbClr val="172336"/>
                </a:solidFill>
                <a:latin typeface="Aptos"/>
              </a:defRPr>
            </a:pPr>
            <a:r>
              <a:t>Designed to complement existing workflow engines.</a:t>
            </a:r>
          </a:p>
        </p:txBody>
      </p:sp>
      <p:sp>
        <p:nvSpPr>
          <p:cNvPr id="85" name="Rounded Rectangle 84"/>
          <p:cNvSpPr/>
          <p:nvPr/>
        </p:nvSpPr>
        <p:spPr>
          <a:xfrm>
            <a:off x="3236976" y="1709928"/>
            <a:ext cx="2660904" cy="2487168"/>
          </a:xfrm>
          <a:prstGeom prst="roundRect">
            <a:avLst>
              <a:gd name="adj" fmla="val 9000"/>
            </a:avLst>
          </a:prstGeom>
          <a:solidFill>
            <a:srgbClr val="EDF3FF"/>
          </a:solidFill>
          <a:ln w="10160">
            <a:solidFill>
              <a:srgbClr val="D8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3236976" y="1709928"/>
            <a:ext cx="41148" cy="2487168"/>
          </a:xfrm>
          <a:prstGeom prst="rect">
            <a:avLst/>
          </a:prstGeom>
          <a:solidFill>
            <a:srgbClr val="7557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3383280" y="1837944"/>
            <a:ext cx="2368296" cy="329184"/>
          </a:xfrm>
          <a:prstGeom prst="rect">
            <a:avLst/>
          </a:prstGeom>
          <a:noFill/>
        </p:spPr>
        <p:txBody>
          <a:bodyPr wrap="square" lIns="0" rIns="0" tIns="0" bIns="0">
            <a:spAutoFit/>
          </a:bodyPr>
          <a:lstStyle/>
          <a:p>
            <a:pPr algn="l">
              <a:spcAft>
                <a:spcPts val="300"/>
              </a:spcAft>
              <a:defRPr sz="1500" b="1">
                <a:solidFill>
                  <a:srgbClr val="7557DD"/>
                </a:solidFill>
                <a:latin typeface="Aptos"/>
              </a:defRPr>
            </a:pPr>
            <a:r>
              <a:t>How does it solve it?</a:t>
            </a:r>
          </a:p>
        </p:txBody>
      </p:sp>
      <p:sp>
        <p:nvSpPr>
          <p:cNvPr id="88" name="TextBox 87"/>
          <p:cNvSpPr txBox="1"/>
          <p:nvPr/>
        </p:nvSpPr>
        <p:spPr>
          <a:xfrm>
            <a:off x="3383280" y="2276856"/>
            <a:ext cx="2368296" cy="1847088"/>
          </a:xfrm>
          <a:prstGeom prst="rect">
            <a:avLst/>
          </a:prstGeom>
          <a:noFill/>
        </p:spPr>
        <p:txBody>
          <a:bodyPr wrap="square" lIns="0" rIns="0" tIns="0" bIns="0">
            <a:spAutoFit/>
          </a:bodyPr>
          <a:lstStyle/>
          <a:p>
            <a:pPr algn="l">
              <a:spcAft>
                <a:spcPts val="300"/>
              </a:spcAft>
              <a:defRPr sz="1300" b="0">
                <a:solidFill>
                  <a:srgbClr val="172336"/>
                </a:solidFill>
                <a:latin typeface="Aptos"/>
              </a:defRPr>
            </a:pPr>
            <a:r>
              <a:t>Join customer permission, authoritative receipts and guarded execution in one incident.</a:t>
            </a:r>
          </a:p>
          <a:p>
            <a:pPr algn="l">
              <a:spcAft>
                <a:spcPts val="300"/>
              </a:spcAft>
              <a:defRPr sz="1300" b="0">
                <a:solidFill>
                  <a:srgbClr val="172336"/>
                </a:solidFill>
                <a:latin typeface="Aptos"/>
              </a:defRPr>
            </a:pPr>
          </a:p>
          <a:p>
            <a:pPr algn="l">
              <a:spcAft>
                <a:spcPts val="300"/>
              </a:spcAft>
              <a:defRPr sz="1300" b="0">
                <a:solidFill>
                  <a:srgbClr val="172336"/>
                </a:solidFill>
                <a:latin typeface="Aptos"/>
              </a:defRPr>
            </a:pPr>
            <a:r>
              <a:t>Uncertainty becomes an explicit handoff.</a:t>
            </a:r>
          </a:p>
        </p:txBody>
      </p:sp>
      <p:sp>
        <p:nvSpPr>
          <p:cNvPr id="89" name="Rounded Rectangle 88"/>
          <p:cNvSpPr/>
          <p:nvPr/>
        </p:nvSpPr>
        <p:spPr>
          <a:xfrm>
            <a:off x="6080760" y="1709928"/>
            <a:ext cx="2660904" cy="2487168"/>
          </a:xfrm>
          <a:prstGeom prst="roundRect">
            <a:avLst>
              <a:gd name="adj" fmla="val 9000"/>
            </a:avLst>
          </a:prstGeom>
          <a:solidFill>
            <a:srgbClr val="EDF3FF"/>
          </a:solidFill>
          <a:ln w="10160">
            <a:solidFill>
              <a:srgbClr val="D8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6080760" y="1709928"/>
            <a:ext cx="41148" cy="2487168"/>
          </a:xfrm>
          <a:prstGeom prst="rect">
            <a:avLst/>
          </a:prstGeom>
          <a:solidFill>
            <a:srgbClr val="1684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6227064" y="1837944"/>
            <a:ext cx="2368296" cy="329184"/>
          </a:xfrm>
          <a:prstGeom prst="rect">
            <a:avLst/>
          </a:prstGeom>
          <a:noFill/>
        </p:spPr>
        <p:txBody>
          <a:bodyPr wrap="square" lIns="0" rIns="0" tIns="0" bIns="0">
            <a:spAutoFit/>
          </a:bodyPr>
          <a:lstStyle/>
          <a:p>
            <a:pPr algn="l">
              <a:spcAft>
                <a:spcPts val="300"/>
              </a:spcAft>
              <a:defRPr sz="1500" b="1">
                <a:solidFill>
                  <a:srgbClr val="16845A"/>
                </a:solidFill>
                <a:latin typeface="Aptos"/>
              </a:defRPr>
            </a:pPr>
            <a:r>
              <a:t>USP of the solution</a:t>
            </a:r>
          </a:p>
        </p:txBody>
      </p:sp>
      <p:sp>
        <p:nvSpPr>
          <p:cNvPr id="92" name="TextBox 91"/>
          <p:cNvSpPr txBox="1"/>
          <p:nvPr/>
        </p:nvSpPr>
        <p:spPr>
          <a:xfrm>
            <a:off x="6227064" y="2276856"/>
            <a:ext cx="2368296" cy="1847088"/>
          </a:xfrm>
          <a:prstGeom prst="rect">
            <a:avLst/>
          </a:prstGeom>
          <a:noFill/>
        </p:spPr>
        <p:txBody>
          <a:bodyPr wrap="square" lIns="0" rIns="0" tIns="0" bIns="0">
            <a:spAutoFit/>
          </a:bodyPr>
          <a:lstStyle/>
          <a:p>
            <a:pPr algn="l">
              <a:spcAft>
                <a:spcPts val="300"/>
              </a:spcAft>
              <a:defRPr sz="1300" b="0">
                <a:solidFill>
                  <a:srgbClr val="172336"/>
                </a:solidFill>
                <a:latin typeface="Aptos"/>
              </a:defRPr>
            </a:pPr>
            <a:r>
              <a:t>Every attempted action has evidence. Every completed recovery has independent checks.</a:t>
            </a:r>
          </a:p>
          <a:p>
            <a:pPr algn="l">
              <a:spcAft>
                <a:spcPts val="300"/>
              </a:spcAft>
              <a:defRPr sz="1300" b="0">
                <a:solidFill>
                  <a:srgbClr val="172336"/>
                </a:solidFill>
                <a:latin typeface="Aptos"/>
              </a:defRPr>
            </a:pPr>
          </a:p>
          <a:p>
            <a:pPr algn="l">
              <a:spcAft>
                <a:spcPts val="300"/>
              </a:spcAft>
              <a:defRPr sz="1300" b="0">
                <a:solidFill>
                  <a:srgbClr val="172336"/>
                </a:solidFill>
                <a:latin typeface="Aptos"/>
              </a:defRPr>
            </a:pPr>
            <a:r>
              <a:t>Operators and reviewers inspect the same record.</a:t>
            </a:r>
          </a:p>
        </p:txBody>
      </p:sp>
      <p:sp>
        <p:nvSpPr>
          <p:cNvPr id="93" name="TextBox 92"/>
          <p:cNvSpPr txBox="1"/>
          <p:nvPr/>
        </p:nvSpPr>
        <p:spPr>
          <a:xfrm>
            <a:off x="457200" y="4325112"/>
            <a:ext cx="8138160" cy="274320"/>
          </a:xfrm>
          <a:prstGeom prst="rect">
            <a:avLst/>
          </a:prstGeom>
          <a:noFill/>
        </p:spPr>
        <p:txBody>
          <a:bodyPr wrap="square" lIns="0" rIns="0" tIns="0" bIns="0">
            <a:spAutoFit/>
          </a:bodyPr>
          <a:lstStyle/>
          <a:p>
            <a:pPr algn="l">
              <a:spcAft>
                <a:spcPts val="300"/>
              </a:spcAft>
              <a:defRPr sz="1100" b="0">
                <a:solidFill>
                  <a:srgbClr val="53637C"/>
                </a:solidFill>
                <a:latin typeface="Aptos"/>
              </a:defRPr>
            </a:pPr>
            <a:r>
              <a:t>Target users: order operations • finance reconciliation • engineering reliability • internal control review</a:t>
            </a:r>
          </a:p>
        </p:txBody>
      </p:sp>
      <p:sp>
        <p:nvSpPr>
          <p:cNvPr id="94" name="TextBox 93"/>
          <p:cNvSpPr txBox="1"/>
          <p:nvPr/>
        </p:nvSpPr>
        <p:spPr>
          <a:xfrm>
            <a:off x="356616" y="4700016"/>
            <a:ext cx="7936992" cy="210312"/>
          </a:xfrm>
          <a:prstGeom prst="rect">
            <a:avLst/>
          </a:prstGeom>
          <a:noFill/>
        </p:spPr>
        <p:txBody>
          <a:bodyPr wrap="square" lIns="0" rIns="0" tIns="0" bIns="0">
            <a:spAutoFit/>
          </a:bodyPr>
          <a:lstStyle/>
          <a:p>
            <a:pPr algn="l">
              <a:spcAft>
                <a:spcPts val="300"/>
              </a:spcAft>
              <a:defRPr sz="850" b="0">
                <a:solidFill>
                  <a:srgbClr val="53637C"/>
                </a:solidFill>
                <a:latin typeface="Aptos"/>
              </a:defRPr>
            </a:pPr>
            <a:r>
              <a:t>Retries, idempotency and compensation already exist. Incremental AI benefit needs broader evaluation.</a:t>
            </a:r>
          </a:p>
        </p:txBody>
      </p:sp>
      <p:sp>
        <p:nvSpPr>
          <p:cNvPr id="95" name="TextBox 94"/>
          <p:cNvSpPr txBox="1"/>
          <p:nvPr/>
        </p:nvSpPr>
        <p:spPr>
          <a:xfrm>
            <a:off x="8394192" y="4700016"/>
            <a:ext cx="365760" cy="210312"/>
          </a:xfrm>
          <a:prstGeom prst="rect">
            <a:avLst/>
          </a:prstGeom>
          <a:noFill/>
        </p:spPr>
        <p:txBody>
          <a:bodyPr wrap="square" lIns="0" rIns="0" tIns="0" bIns="0">
            <a:spAutoFit/>
          </a:bodyPr>
          <a:lstStyle/>
          <a:p>
            <a:pPr algn="r">
              <a:spcAft>
                <a:spcPts val="300"/>
              </a:spcAft>
              <a:defRPr sz="900" b="0">
                <a:solidFill>
                  <a:srgbClr val="53637C"/>
                </a:solidFill>
                <a:latin typeface="Aptos"/>
              </a:defRPr>
            </a:pPr>
            <a:r>
              <a:t>04</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id="84" name="Google Shape;84;p17"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85" name="Google Shape;85;p17"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86" name="Google Shape;86;p17"/>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 name="Google Shape;87;p17"/>
          <p:cNvSpPr txBox="1"/>
          <p:nvPr/>
        </p:nvSpPr>
        <p:spPr>
          <a:xfrm>
            <a:off x="356616" y="704088"/>
            <a:ext cx="8348472" cy="402336"/>
          </a:xfrm>
          <a:prstGeom prst="rect">
            <a:avLst/>
          </a:prstGeom>
          <a:noFill/>
          <a:ln>
            <a:noFill/>
          </a:ln>
        </p:spPr>
        <p:txBody>
          <a:bodyPr anchorCtr="0" anchor="t" bIns="91425" lIns="0" spcFirstLastPara="1" rIns="91425" wrap="square" tIns="0">
            <a:noAutofit/>
          </a:bodyPr>
          <a:lstStyle/>
          <a:p>
            <a:pPr indent="0" lvl="0" marL="0" rtl="0" algn="l">
              <a:spcBef>
                <a:spcPts val="0"/>
              </a:spcBef>
              <a:spcAft>
                <a:spcPts val="0"/>
              </a:spcAft>
              <a:buNone/>
              <a:defRPr sz="2300" b="1">
                <a:solidFill>
                  <a:srgbClr val="172336"/>
                </a:solidFill>
                <a:latin typeface="Aptos Display"/>
              </a:defRPr>
            </a:pPr>
            <a:r>
              <a:t>List of features offered by the solution</a:t>
            </a:r>
            <a:endParaRPr sz="1600">
              <a:latin typeface="Google Sans Flex Medium"/>
              <a:ea typeface="Google Sans Flex Medium"/>
              <a:cs typeface="Google Sans Flex Medium"/>
              <a:sym typeface="Google Sans Flex Medium"/>
            </a:endParaRPr>
          </a:p>
        </p:txBody>
      </p:sp>
      <p:sp>
        <p:nvSpPr>
          <p:cNvPr id="88" name="TextBox 87"/>
          <p:cNvSpPr txBox="1"/>
          <p:nvPr/>
        </p:nvSpPr>
        <p:spPr>
          <a:xfrm>
            <a:off x="365760" y="1161288"/>
            <a:ext cx="8321040" cy="365760"/>
          </a:xfrm>
          <a:prstGeom prst="rect">
            <a:avLst/>
          </a:prstGeom>
          <a:noFill/>
        </p:spPr>
        <p:txBody>
          <a:bodyPr wrap="square" lIns="0" rIns="0" tIns="0" bIns="0">
            <a:spAutoFit/>
          </a:bodyPr>
          <a:lstStyle/>
          <a:p>
            <a:pPr algn="l">
              <a:spcAft>
                <a:spcPts val="300"/>
              </a:spcAft>
              <a:defRPr sz="1200" b="0">
                <a:solidFill>
                  <a:srgbClr val="53637C"/>
                </a:solidFill>
                <a:latin typeface="Aptos"/>
              </a:defRPr>
            </a:pPr>
            <a:r>
              <a:t>One incident, from customer intent to an inspectable business outcome.</a:t>
            </a:r>
          </a:p>
        </p:txBody>
      </p:sp>
      <p:sp>
        <p:nvSpPr>
          <p:cNvPr id="89" name="Rounded Rectangle 88"/>
          <p:cNvSpPr/>
          <p:nvPr/>
        </p:nvSpPr>
        <p:spPr>
          <a:xfrm>
            <a:off x="393192" y="1737360"/>
            <a:ext cx="2660904" cy="1207008"/>
          </a:xfrm>
          <a:prstGeom prst="roundRect">
            <a:avLst>
              <a:gd name="adj" fmla="val 9000"/>
            </a:avLst>
          </a:prstGeom>
          <a:solidFill>
            <a:srgbClr val="EDF3FF"/>
          </a:solidFill>
          <a:ln w="10160">
            <a:solidFill>
              <a:srgbClr val="D8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393192" y="1737360"/>
            <a:ext cx="41148" cy="1207008"/>
          </a:xfrm>
          <a:prstGeom prst="rect">
            <a:avLst/>
          </a:prstGeom>
          <a:solidFill>
            <a:srgbClr val="2864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539496" y="1865376"/>
            <a:ext cx="2368296" cy="329184"/>
          </a:xfrm>
          <a:prstGeom prst="rect">
            <a:avLst/>
          </a:prstGeom>
          <a:noFill/>
        </p:spPr>
        <p:txBody>
          <a:bodyPr wrap="square" lIns="0" rIns="0" tIns="0" bIns="0">
            <a:spAutoFit/>
          </a:bodyPr>
          <a:lstStyle/>
          <a:p>
            <a:pPr algn="l">
              <a:spcAft>
                <a:spcPts val="300"/>
              </a:spcAft>
              <a:defRPr sz="1500" b="1">
                <a:solidFill>
                  <a:srgbClr val="2864DF"/>
                </a:solidFill>
                <a:latin typeface="Aptos"/>
              </a:defRPr>
            </a:pPr>
            <a:r>
              <a:t>01  Your own incident</a:t>
            </a:r>
          </a:p>
        </p:txBody>
      </p:sp>
      <p:sp>
        <p:nvSpPr>
          <p:cNvPr id="92" name="TextBox 91"/>
          <p:cNvSpPr txBox="1"/>
          <p:nvPr/>
        </p:nvSpPr>
        <p:spPr>
          <a:xfrm>
            <a:off x="539496" y="2304288"/>
            <a:ext cx="2368296" cy="566928"/>
          </a:xfrm>
          <a:prstGeom prst="rect">
            <a:avLst/>
          </a:prstGeom>
          <a:noFill/>
        </p:spPr>
        <p:txBody>
          <a:bodyPr wrap="square" lIns="0" rIns="0" tIns="0" bIns="0">
            <a:spAutoFit/>
          </a:bodyPr>
          <a:lstStyle/>
          <a:p>
            <a:pPr algn="l">
              <a:spcAft>
                <a:spcPts val="300"/>
              </a:spcAft>
              <a:defRPr sz="1230" b="0">
                <a:solidFill>
                  <a:srgbClr val="172336"/>
                </a:solidFill>
                <a:latin typeface="Aptos"/>
              </a:defRPr>
            </a:pPr>
            <a:r>
              <a:t>Edit stock, payment and permissions, or import a validated JSON incident.</a:t>
            </a:r>
          </a:p>
        </p:txBody>
      </p:sp>
      <p:sp>
        <p:nvSpPr>
          <p:cNvPr id="93" name="Rounded Rectangle 92"/>
          <p:cNvSpPr/>
          <p:nvPr/>
        </p:nvSpPr>
        <p:spPr>
          <a:xfrm>
            <a:off x="3236976" y="1737360"/>
            <a:ext cx="2660904" cy="1207008"/>
          </a:xfrm>
          <a:prstGeom prst="roundRect">
            <a:avLst>
              <a:gd name="adj" fmla="val 9000"/>
            </a:avLst>
          </a:prstGeom>
          <a:solidFill>
            <a:srgbClr val="EDF3FF"/>
          </a:solidFill>
          <a:ln w="10160">
            <a:solidFill>
              <a:srgbClr val="D8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3236976" y="1737360"/>
            <a:ext cx="41148" cy="1207008"/>
          </a:xfrm>
          <a:prstGeom prst="rect">
            <a:avLst/>
          </a:prstGeom>
          <a:solidFill>
            <a:srgbClr val="7557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3383280" y="1865376"/>
            <a:ext cx="2368296" cy="329184"/>
          </a:xfrm>
          <a:prstGeom prst="rect">
            <a:avLst/>
          </a:prstGeom>
          <a:noFill/>
        </p:spPr>
        <p:txBody>
          <a:bodyPr wrap="square" lIns="0" rIns="0" tIns="0" bIns="0">
            <a:spAutoFit/>
          </a:bodyPr>
          <a:lstStyle/>
          <a:p>
            <a:pPr algn="l">
              <a:spcAft>
                <a:spcPts val="300"/>
              </a:spcAft>
              <a:defRPr sz="1500" b="1">
                <a:solidFill>
                  <a:srgbClr val="7557DD"/>
                </a:solidFill>
                <a:latin typeface="Aptos"/>
              </a:defRPr>
            </a:pPr>
            <a:r>
              <a:t>02  Evidence gathering</a:t>
            </a:r>
          </a:p>
        </p:txBody>
      </p:sp>
      <p:sp>
        <p:nvSpPr>
          <p:cNvPr id="96" name="TextBox 95"/>
          <p:cNvSpPr txBox="1"/>
          <p:nvPr/>
        </p:nvSpPr>
        <p:spPr>
          <a:xfrm>
            <a:off x="3383280" y="2304288"/>
            <a:ext cx="2368296" cy="566928"/>
          </a:xfrm>
          <a:prstGeom prst="rect">
            <a:avLst/>
          </a:prstGeom>
          <a:noFill/>
        </p:spPr>
        <p:txBody>
          <a:bodyPr wrap="square" lIns="0" rIns="0" tIns="0" bIns="0">
            <a:spAutoFit/>
          </a:bodyPr>
          <a:lstStyle/>
          <a:p>
            <a:pPr algn="l">
              <a:spcAft>
                <a:spcPts val="300"/>
              </a:spcAft>
              <a:defRPr sz="1230" b="0">
                <a:solidFill>
                  <a:srgbClr val="172336"/>
                </a:solidFill>
                <a:latin typeface="Aptos"/>
              </a:defRPr>
            </a:pPr>
            <a:r>
              <a:t>The controller reads payment, inventory and order evidence before planning.</a:t>
            </a:r>
          </a:p>
        </p:txBody>
      </p:sp>
      <p:sp>
        <p:nvSpPr>
          <p:cNvPr id="97" name="Rounded Rectangle 96"/>
          <p:cNvSpPr/>
          <p:nvPr/>
        </p:nvSpPr>
        <p:spPr>
          <a:xfrm>
            <a:off x="6080759" y="1737360"/>
            <a:ext cx="2660904" cy="1207008"/>
          </a:xfrm>
          <a:prstGeom prst="roundRect">
            <a:avLst>
              <a:gd name="adj" fmla="val 9000"/>
            </a:avLst>
          </a:prstGeom>
          <a:solidFill>
            <a:srgbClr val="EDF3FF"/>
          </a:solidFill>
          <a:ln w="10160">
            <a:solidFill>
              <a:srgbClr val="D8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6080759" y="1737360"/>
            <a:ext cx="41148" cy="1207008"/>
          </a:xfrm>
          <a:prstGeom prst="rect">
            <a:avLst/>
          </a:prstGeom>
          <a:solidFill>
            <a:srgbClr val="2864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6227064" y="1865376"/>
            <a:ext cx="2368296" cy="329184"/>
          </a:xfrm>
          <a:prstGeom prst="rect">
            <a:avLst/>
          </a:prstGeom>
          <a:noFill/>
        </p:spPr>
        <p:txBody>
          <a:bodyPr wrap="square" lIns="0" rIns="0" tIns="0" bIns="0">
            <a:spAutoFit/>
          </a:bodyPr>
          <a:lstStyle/>
          <a:p>
            <a:pPr algn="l">
              <a:spcAft>
                <a:spcPts val="300"/>
              </a:spcAft>
              <a:defRPr sz="1500" b="1">
                <a:solidFill>
                  <a:srgbClr val="2864DF"/>
                </a:solidFill>
                <a:latin typeface="Aptos"/>
              </a:defRPr>
            </a:pPr>
            <a:r>
              <a:t>03  Adaptive proposal</a:t>
            </a:r>
          </a:p>
        </p:txBody>
      </p:sp>
      <p:sp>
        <p:nvSpPr>
          <p:cNvPr id="100" name="TextBox 99"/>
          <p:cNvSpPr txBox="1"/>
          <p:nvPr/>
        </p:nvSpPr>
        <p:spPr>
          <a:xfrm>
            <a:off x="6227064" y="2304288"/>
            <a:ext cx="2368296" cy="566928"/>
          </a:xfrm>
          <a:prstGeom prst="rect">
            <a:avLst/>
          </a:prstGeom>
          <a:noFill/>
        </p:spPr>
        <p:txBody>
          <a:bodyPr wrap="square" lIns="0" rIns="0" tIns="0" bIns="0">
            <a:spAutoFit/>
          </a:bodyPr>
          <a:lstStyle/>
          <a:p>
            <a:pPr algn="l">
              <a:spcAft>
                <a:spcPts val="300"/>
              </a:spcAft>
              <a:defRPr sz="1230" b="0">
                <a:solidFill>
                  <a:srgbClr val="172336"/>
                </a:solidFill>
                <a:latin typeface="Aptos"/>
              </a:defRPr>
            </a:pPr>
            <a:r>
              <a:t>Request fresh evidence after a stock-version conflict.</a:t>
            </a:r>
          </a:p>
        </p:txBody>
      </p:sp>
      <p:sp>
        <p:nvSpPr>
          <p:cNvPr id="101" name="Rounded Rectangle 100"/>
          <p:cNvSpPr/>
          <p:nvPr/>
        </p:nvSpPr>
        <p:spPr>
          <a:xfrm>
            <a:off x="393192" y="3127248"/>
            <a:ext cx="2660904" cy="1207008"/>
          </a:xfrm>
          <a:prstGeom prst="roundRect">
            <a:avLst>
              <a:gd name="adj" fmla="val 9000"/>
            </a:avLst>
          </a:prstGeom>
          <a:solidFill>
            <a:srgbClr val="EDF3FF"/>
          </a:solidFill>
          <a:ln w="10160">
            <a:solidFill>
              <a:srgbClr val="D8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393192" y="3127248"/>
            <a:ext cx="41148" cy="1207008"/>
          </a:xfrm>
          <a:prstGeom prst="rect">
            <a:avLst/>
          </a:prstGeom>
          <a:solidFill>
            <a:srgbClr val="1684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539496" y="3255264"/>
            <a:ext cx="2368296" cy="329184"/>
          </a:xfrm>
          <a:prstGeom prst="rect">
            <a:avLst/>
          </a:prstGeom>
          <a:noFill/>
        </p:spPr>
        <p:txBody>
          <a:bodyPr wrap="square" lIns="0" rIns="0" tIns="0" bIns="0">
            <a:spAutoFit/>
          </a:bodyPr>
          <a:lstStyle/>
          <a:p>
            <a:pPr algn="l">
              <a:spcAft>
                <a:spcPts val="300"/>
              </a:spcAft>
              <a:defRPr sz="1500" b="1">
                <a:solidFill>
                  <a:srgbClr val="16845A"/>
                </a:solidFill>
                <a:latin typeface="Aptos"/>
              </a:defRPr>
            </a:pPr>
            <a:r>
              <a:t>04  Guarded execution</a:t>
            </a:r>
          </a:p>
        </p:txBody>
      </p:sp>
      <p:sp>
        <p:nvSpPr>
          <p:cNvPr id="104" name="TextBox 103"/>
          <p:cNvSpPr txBox="1"/>
          <p:nvPr/>
        </p:nvSpPr>
        <p:spPr>
          <a:xfrm>
            <a:off x="539496" y="3694176"/>
            <a:ext cx="2368296" cy="566928"/>
          </a:xfrm>
          <a:prstGeom prst="rect">
            <a:avLst/>
          </a:prstGeom>
          <a:noFill/>
        </p:spPr>
        <p:txBody>
          <a:bodyPr wrap="square" lIns="0" rIns="0" tIns="0" bIns="0">
            <a:spAutoFit/>
          </a:bodyPr>
          <a:lstStyle/>
          <a:p>
            <a:pPr algn="l">
              <a:spcAft>
                <a:spcPts val="300"/>
              </a:spcAft>
              <a:defRPr sz="1230" b="0">
                <a:solidFill>
                  <a:srgbClr val="172336"/>
                </a:solidFill>
                <a:latin typeface="Aptos"/>
              </a:defRPr>
            </a:pPr>
            <a:r>
              <a:t>Check typed tools, evidence, versions and idempotency.</a:t>
            </a:r>
          </a:p>
        </p:txBody>
      </p:sp>
      <p:sp>
        <p:nvSpPr>
          <p:cNvPr id="105" name="Rounded Rectangle 104"/>
          <p:cNvSpPr/>
          <p:nvPr/>
        </p:nvSpPr>
        <p:spPr>
          <a:xfrm>
            <a:off x="3236976" y="3127248"/>
            <a:ext cx="2660904" cy="1207008"/>
          </a:xfrm>
          <a:prstGeom prst="roundRect">
            <a:avLst>
              <a:gd name="adj" fmla="val 9000"/>
            </a:avLst>
          </a:prstGeom>
          <a:solidFill>
            <a:srgbClr val="EDF3FF"/>
          </a:solidFill>
          <a:ln w="10160">
            <a:solidFill>
              <a:srgbClr val="D8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3236976" y="3127248"/>
            <a:ext cx="41148" cy="1207008"/>
          </a:xfrm>
          <a:prstGeom prst="rect">
            <a:avLst/>
          </a:prstGeom>
          <a:solidFill>
            <a:srgbClr val="1684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3383280" y="3255264"/>
            <a:ext cx="2368296" cy="329184"/>
          </a:xfrm>
          <a:prstGeom prst="rect">
            <a:avLst/>
          </a:prstGeom>
          <a:noFill/>
        </p:spPr>
        <p:txBody>
          <a:bodyPr wrap="square" lIns="0" rIns="0" tIns="0" bIns="0">
            <a:spAutoFit/>
          </a:bodyPr>
          <a:lstStyle/>
          <a:p>
            <a:pPr algn="l">
              <a:spcAft>
                <a:spcPts val="300"/>
              </a:spcAft>
              <a:defRPr sz="1500" b="1">
                <a:solidFill>
                  <a:srgbClr val="16845A"/>
                </a:solidFill>
                <a:latin typeface="Aptos"/>
              </a:defRPr>
            </a:pPr>
            <a:r>
              <a:t>05  Independent outcome</a:t>
            </a:r>
          </a:p>
        </p:txBody>
      </p:sp>
      <p:sp>
        <p:nvSpPr>
          <p:cNvPr id="108" name="TextBox 107"/>
          <p:cNvSpPr txBox="1"/>
          <p:nvPr/>
        </p:nvSpPr>
        <p:spPr>
          <a:xfrm>
            <a:off x="3383280" y="3694176"/>
            <a:ext cx="2368296" cy="566928"/>
          </a:xfrm>
          <a:prstGeom prst="rect">
            <a:avLst/>
          </a:prstGeom>
          <a:noFill/>
        </p:spPr>
        <p:txBody>
          <a:bodyPr wrap="square" lIns="0" rIns="0" tIns="0" bIns="0">
            <a:spAutoFit/>
          </a:bodyPr>
          <a:lstStyle/>
          <a:p>
            <a:pPr algn="l">
              <a:spcAft>
                <a:spcPts val="300"/>
              </a:spcAft>
              <a:defRPr sz="1230" b="0">
                <a:solidFill>
                  <a:srgbClr val="172336"/>
                </a:solidFill>
                <a:latin typeface="Aptos"/>
              </a:defRPr>
            </a:pPr>
            <a:r>
              <a:t>Verify state or hand off when payment or dispatch is uncertain.</a:t>
            </a:r>
          </a:p>
        </p:txBody>
      </p:sp>
      <p:sp>
        <p:nvSpPr>
          <p:cNvPr id="109" name="Rounded Rectangle 108"/>
          <p:cNvSpPr/>
          <p:nvPr/>
        </p:nvSpPr>
        <p:spPr>
          <a:xfrm>
            <a:off x="6080759" y="3127248"/>
            <a:ext cx="2660904" cy="1207008"/>
          </a:xfrm>
          <a:prstGeom prst="roundRect">
            <a:avLst>
              <a:gd name="adj" fmla="val 9000"/>
            </a:avLst>
          </a:prstGeom>
          <a:solidFill>
            <a:srgbClr val="EDF3FF"/>
          </a:solidFill>
          <a:ln w="10160">
            <a:solidFill>
              <a:srgbClr val="D8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6080759" y="3127248"/>
            <a:ext cx="41148" cy="1207008"/>
          </a:xfrm>
          <a:prstGeom prst="rect">
            <a:avLst/>
          </a:prstGeom>
          <a:solidFill>
            <a:srgbClr val="7557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6227064" y="3255264"/>
            <a:ext cx="2368296" cy="329184"/>
          </a:xfrm>
          <a:prstGeom prst="rect">
            <a:avLst/>
          </a:prstGeom>
          <a:noFill/>
        </p:spPr>
        <p:txBody>
          <a:bodyPr wrap="square" lIns="0" rIns="0" tIns="0" bIns="0">
            <a:spAutoFit/>
          </a:bodyPr>
          <a:lstStyle/>
          <a:p>
            <a:pPr algn="l">
              <a:spcAft>
                <a:spcPts val="300"/>
              </a:spcAft>
              <a:defRPr sz="1500" b="1">
                <a:solidFill>
                  <a:srgbClr val="7557DD"/>
                </a:solidFill>
                <a:latin typeface="Aptos"/>
              </a:defRPr>
            </a:pPr>
            <a:r>
              <a:t>06  Inspectable record</a:t>
            </a:r>
          </a:p>
        </p:txBody>
      </p:sp>
      <p:sp>
        <p:nvSpPr>
          <p:cNvPr id="112" name="TextBox 111"/>
          <p:cNvSpPr txBox="1"/>
          <p:nvPr/>
        </p:nvSpPr>
        <p:spPr>
          <a:xfrm>
            <a:off x="6227064" y="3694176"/>
            <a:ext cx="2368296" cy="566928"/>
          </a:xfrm>
          <a:prstGeom prst="rect">
            <a:avLst/>
          </a:prstGeom>
          <a:noFill/>
        </p:spPr>
        <p:txBody>
          <a:bodyPr wrap="square" lIns="0" rIns="0" tIns="0" bIns="0">
            <a:spAutoFit/>
          </a:bodyPr>
          <a:lstStyle/>
          <a:p>
            <a:pPr algn="l">
              <a:spcAft>
                <a:spcPts val="300"/>
              </a:spcAft>
              <a:defRPr sz="1230" b="0">
                <a:solidFill>
                  <a:srgbClr val="172336"/>
                </a:solidFill>
                <a:latin typeface="Aptos"/>
              </a:defRPr>
            </a:pPr>
            <a:r>
              <a:t>Replay real events, open receipts and export the run's JSON audit.</a:t>
            </a:r>
          </a:p>
        </p:txBody>
      </p:sp>
      <p:sp>
        <p:nvSpPr>
          <p:cNvPr id="113" name="TextBox 112"/>
          <p:cNvSpPr txBox="1"/>
          <p:nvPr/>
        </p:nvSpPr>
        <p:spPr>
          <a:xfrm>
            <a:off x="356616" y="4700016"/>
            <a:ext cx="7936992" cy="210312"/>
          </a:xfrm>
          <a:prstGeom prst="rect">
            <a:avLst/>
          </a:prstGeom>
          <a:noFill/>
        </p:spPr>
        <p:txBody>
          <a:bodyPr wrap="square" lIns="0" rIns="0" tIns="0" bIns="0">
            <a:spAutoFit/>
          </a:bodyPr>
          <a:lstStyle/>
          <a:p>
            <a:pPr algn="l">
              <a:spcAft>
                <a:spcPts val="300"/>
              </a:spcAft>
              <a:defRPr sz="850" b="0">
                <a:solidFill>
                  <a:srgbClr val="53637C"/>
                </a:solidFill>
                <a:latin typeface="Aptos"/>
              </a:defRPr>
            </a:pPr>
            <a:r>
              <a:t>Replay is read-only playback of recorded events. A fresh run makes new model calls.</a:t>
            </a:r>
          </a:p>
        </p:txBody>
      </p:sp>
      <p:sp>
        <p:nvSpPr>
          <p:cNvPr id="114" name="TextBox 113"/>
          <p:cNvSpPr txBox="1"/>
          <p:nvPr/>
        </p:nvSpPr>
        <p:spPr>
          <a:xfrm>
            <a:off x="8394192" y="4700016"/>
            <a:ext cx="365760" cy="210312"/>
          </a:xfrm>
          <a:prstGeom prst="rect">
            <a:avLst/>
          </a:prstGeom>
          <a:noFill/>
        </p:spPr>
        <p:txBody>
          <a:bodyPr wrap="square" lIns="0" rIns="0" tIns="0" bIns="0">
            <a:spAutoFit/>
          </a:bodyPr>
          <a:lstStyle/>
          <a:p>
            <a:pPr algn="r">
              <a:spcAft>
                <a:spcPts val="300"/>
              </a:spcAft>
              <a:defRPr sz="900" b="0">
                <a:solidFill>
                  <a:srgbClr val="53637C"/>
                </a:solidFill>
                <a:latin typeface="Aptos"/>
              </a:defRPr>
            </a:pPr>
            <a:r>
              <a:t>05</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id="92" name="Google Shape;92;p18"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93" name="Google Shape;93;p18"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94" name="Google Shape;94;p18"/>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 name="Google Shape;95;p18"/>
          <p:cNvSpPr txBox="1"/>
          <p:nvPr/>
        </p:nvSpPr>
        <p:spPr>
          <a:xfrm>
            <a:off x="356616" y="704088"/>
            <a:ext cx="8348472" cy="402336"/>
          </a:xfrm>
          <a:prstGeom prst="rect">
            <a:avLst/>
          </a:prstGeom>
          <a:noFill/>
          <a:ln>
            <a:noFill/>
          </a:ln>
        </p:spPr>
        <p:txBody>
          <a:bodyPr anchorCtr="0" anchor="t" bIns="91425" lIns="0" spcFirstLastPara="1" rIns="91425" wrap="square" tIns="0">
            <a:noAutofit/>
          </a:bodyPr>
          <a:lstStyle/>
          <a:p>
            <a:pPr indent="0" lvl="0" marL="0" rtl="0" algn="l">
              <a:spcBef>
                <a:spcPts val="0"/>
              </a:spcBef>
              <a:spcAft>
                <a:spcPts val="0"/>
              </a:spcAft>
              <a:buNone/>
              <a:defRPr sz="2300" b="1">
                <a:solidFill>
                  <a:srgbClr val="172336"/>
                </a:solidFill>
                <a:latin typeface="Aptos Display"/>
              </a:defRPr>
            </a:pPr>
            <a:r>
              <a:t>Process flow diagram or Use-case diagram</a:t>
            </a:r>
            <a:endParaRPr sz="1600">
              <a:latin typeface="Google Sans Flex Medium"/>
              <a:ea typeface="Google Sans Flex Medium"/>
              <a:cs typeface="Google Sans Flex Medium"/>
              <a:sym typeface="Google Sans Flex Medium"/>
            </a:endParaRPr>
          </a:p>
        </p:txBody>
      </p:sp>
      <p:sp>
        <p:nvSpPr>
          <p:cNvPr id="96" name="TextBox 95"/>
          <p:cNvSpPr txBox="1"/>
          <p:nvPr/>
        </p:nvSpPr>
        <p:spPr>
          <a:xfrm>
            <a:off x="365760" y="1161288"/>
            <a:ext cx="8321040" cy="365760"/>
          </a:xfrm>
          <a:prstGeom prst="rect">
            <a:avLst/>
          </a:prstGeom>
          <a:noFill/>
        </p:spPr>
        <p:txBody>
          <a:bodyPr wrap="square" lIns="0" rIns="0" tIns="0" bIns="0">
            <a:spAutoFit/>
          </a:bodyPr>
          <a:lstStyle/>
          <a:p>
            <a:pPr algn="l">
              <a:spcAft>
                <a:spcPts val="300"/>
              </a:spcAft>
              <a:defRPr sz="1200" b="0">
                <a:solidFill>
                  <a:srgbClr val="53637C"/>
                </a:solidFill>
                <a:latin typeface="Aptos"/>
              </a:defRPr>
            </a:pPr>
            <a:r>
              <a:t>The controller gathers mandatory evidence; Gemini chooses a recovery and adapts to change.</a:t>
            </a:r>
          </a:p>
        </p:txBody>
      </p:sp>
      <p:sp>
        <p:nvSpPr>
          <p:cNvPr id="97" name="Rounded Rectangle 96"/>
          <p:cNvSpPr/>
          <p:nvPr/>
        </p:nvSpPr>
        <p:spPr>
          <a:xfrm>
            <a:off x="411480" y="1737360"/>
            <a:ext cx="2258568" cy="1014984"/>
          </a:xfrm>
          <a:prstGeom prst="roundRect">
            <a:avLst>
              <a:gd name="adj" fmla="val 9000"/>
            </a:avLst>
          </a:prstGeom>
          <a:solidFill>
            <a:srgbClr val="EDF3FF"/>
          </a:solidFill>
          <a:ln w="10160">
            <a:solidFill>
              <a:srgbClr val="D8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411480" y="1737360"/>
            <a:ext cx="41148" cy="1014984"/>
          </a:xfrm>
          <a:prstGeom prst="rect">
            <a:avLst/>
          </a:prstGeom>
          <a:solidFill>
            <a:srgbClr val="2864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557784" y="1865376"/>
            <a:ext cx="1965960" cy="329184"/>
          </a:xfrm>
          <a:prstGeom prst="rect">
            <a:avLst/>
          </a:prstGeom>
          <a:noFill/>
        </p:spPr>
        <p:txBody>
          <a:bodyPr wrap="square" lIns="0" rIns="0" tIns="0" bIns="0">
            <a:spAutoFit/>
          </a:bodyPr>
          <a:lstStyle/>
          <a:p>
            <a:pPr algn="l">
              <a:spcAft>
                <a:spcPts val="300"/>
              </a:spcAft>
              <a:defRPr sz="1500" b="1">
                <a:solidFill>
                  <a:srgbClr val="2864DF"/>
                </a:solidFill>
                <a:latin typeface="Aptos"/>
              </a:defRPr>
            </a:pPr>
            <a:r>
              <a:t>1  Incident + mandate</a:t>
            </a:r>
          </a:p>
        </p:txBody>
      </p:sp>
      <p:sp>
        <p:nvSpPr>
          <p:cNvPr id="100" name="TextBox 99"/>
          <p:cNvSpPr txBox="1"/>
          <p:nvPr/>
        </p:nvSpPr>
        <p:spPr>
          <a:xfrm>
            <a:off x="557784" y="2304288"/>
            <a:ext cx="1965960" cy="374904"/>
          </a:xfrm>
          <a:prstGeom prst="rect">
            <a:avLst/>
          </a:prstGeom>
          <a:noFill/>
        </p:spPr>
        <p:txBody>
          <a:bodyPr wrap="square" lIns="0" rIns="0" tIns="0" bIns="0">
            <a:spAutoFit/>
          </a:bodyPr>
          <a:lstStyle/>
          <a:p>
            <a:pPr algn="l">
              <a:spcAft>
                <a:spcPts val="300"/>
              </a:spcAft>
              <a:defRPr sz="1150" b="0">
                <a:solidFill>
                  <a:srgbClr val="172336"/>
                </a:solidFill>
                <a:latin typeface="Aptos"/>
              </a:defRPr>
            </a:pPr>
            <a:r>
              <a:t>Operator edits or imports</a:t>
            </a:r>
          </a:p>
          <a:p>
            <a:pPr algn="l">
              <a:spcAft>
                <a:spcPts val="300"/>
              </a:spcAft>
              <a:defRPr sz="1150" b="0">
                <a:solidFill>
                  <a:srgbClr val="172336"/>
                </a:solidFill>
                <a:latin typeface="Aptos"/>
              </a:defRPr>
            </a:pPr>
            <a:r>
              <a:t>a synthetic incident.</a:t>
            </a:r>
          </a:p>
        </p:txBody>
      </p:sp>
      <p:sp>
        <p:nvSpPr>
          <p:cNvPr id="101" name="Rounded Rectangle 100"/>
          <p:cNvSpPr/>
          <p:nvPr/>
        </p:nvSpPr>
        <p:spPr>
          <a:xfrm>
            <a:off x="3438144" y="1737360"/>
            <a:ext cx="2258568" cy="1014984"/>
          </a:xfrm>
          <a:prstGeom prst="roundRect">
            <a:avLst>
              <a:gd name="adj" fmla="val 9000"/>
            </a:avLst>
          </a:prstGeom>
          <a:solidFill>
            <a:srgbClr val="EDF3FF"/>
          </a:solidFill>
          <a:ln w="10160">
            <a:solidFill>
              <a:srgbClr val="D8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3438144" y="1737360"/>
            <a:ext cx="41148" cy="1014984"/>
          </a:xfrm>
          <a:prstGeom prst="rect">
            <a:avLst/>
          </a:prstGeom>
          <a:solidFill>
            <a:srgbClr val="2864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3584448" y="1865376"/>
            <a:ext cx="1965960" cy="329184"/>
          </a:xfrm>
          <a:prstGeom prst="rect">
            <a:avLst/>
          </a:prstGeom>
          <a:noFill/>
        </p:spPr>
        <p:txBody>
          <a:bodyPr wrap="square" lIns="0" rIns="0" tIns="0" bIns="0">
            <a:spAutoFit/>
          </a:bodyPr>
          <a:lstStyle/>
          <a:p>
            <a:pPr algn="l">
              <a:spcAft>
                <a:spcPts val="300"/>
              </a:spcAft>
              <a:defRPr sz="1500" b="1">
                <a:solidFill>
                  <a:srgbClr val="2864DF"/>
                </a:solidFill>
                <a:latin typeface="Aptos"/>
              </a:defRPr>
            </a:pPr>
            <a:r>
              <a:t>2  Controller observes</a:t>
            </a:r>
          </a:p>
        </p:txBody>
      </p:sp>
      <p:sp>
        <p:nvSpPr>
          <p:cNvPr id="104" name="TextBox 103"/>
          <p:cNvSpPr txBox="1"/>
          <p:nvPr/>
        </p:nvSpPr>
        <p:spPr>
          <a:xfrm>
            <a:off x="3584448" y="2304288"/>
            <a:ext cx="1965960" cy="374904"/>
          </a:xfrm>
          <a:prstGeom prst="rect">
            <a:avLst/>
          </a:prstGeom>
          <a:noFill/>
        </p:spPr>
        <p:txBody>
          <a:bodyPr wrap="square" lIns="0" rIns="0" tIns="0" bIns="0">
            <a:spAutoFit/>
          </a:bodyPr>
          <a:lstStyle/>
          <a:p>
            <a:pPr algn="l">
              <a:spcAft>
                <a:spcPts val="300"/>
              </a:spcAft>
              <a:defRPr sz="1150" b="0">
                <a:solidFill>
                  <a:srgbClr val="172336"/>
                </a:solidFill>
                <a:latin typeface="Aptos"/>
              </a:defRPr>
            </a:pPr>
            <a:r>
              <a:t>Mandatory payment, stock</a:t>
            </a:r>
          </a:p>
          <a:p>
            <a:pPr algn="l">
              <a:spcAft>
                <a:spcPts val="300"/>
              </a:spcAft>
              <a:defRPr sz="1150" b="0">
                <a:solidFill>
                  <a:srgbClr val="172336"/>
                </a:solidFill>
                <a:latin typeface="Aptos"/>
              </a:defRPr>
            </a:pPr>
            <a:r>
              <a:t>and dispatch reads.</a:t>
            </a:r>
          </a:p>
        </p:txBody>
      </p:sp>
      <p:sp>
        <p:nvSpPr>
          <p:cNvPr id="105" name="Rounded Rectangle 104"/>
          <p:cNvSpPr/>
          <p:nvPr/>
        </p:nvSpPr>
        <p:spPr>
          <a:xfrm>
            <a:off x="6464808" y="1737360"/>
            <a:ext cx="2258568" cy="1014984"/>
          </a:xfrm>
          <a:prstGeom prst="roundRect">
            <a:avLst>
              <a:gd name="adj" fmla="val 9000"/>
            </a:avLst>
          </a:prstGeom>
          <a:solidFill>
            <a:srgbClr val="EDF3FF"/>
          </a:solidFill>
          <a:ln w="10160">
            <a:solidFill>
              <a:srgbClr val="D8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6464808" y="1737360"/>
            <a:ext cx="41148" cy="1014984"/>
          </a:xfrm>
          <a:prstGeom prst="rect">
            <a:avLst/>
          </a:prstGeom>
          <a:solidFill>
            <a:srgbClr val="2864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6611112" y="1865376"/>
            <a:ext cx="1965960" cy="329184"/>
          </a:xfrm>
          <a:prstGeom prst="rect">
            <a:avLst/>
          </a:prstGeom>
          <a:noFill/>
        </p:spPr>
        <p:txBody>
          <a:bodyPr wrap="square" lIns="0" rIns="0" tIns="0" bIns="0">
            <a:spAutoFit/>
          </a:bodyPr>
          <a:lstStyle/>
          <a:p>
            <a:pPr algn="l">
              <a:spcAft>
                <a:spcPts val="300"/>
              </a:spcAft>
              <a:defRPr sz="1500" b="1">
                <a:solidFill>
                  <a:srgbClr val="2864DF"/>
                </a:solidFill>
                <a:latin typeface="Aptos"/>
              </a:defRPr>
            </a:pPr>
            <a:r>
              <a:t>3  Gemini proposes</a:t>
            </a:r>
          </a:p>
        </p:txBody>
      </p:sp>
      <p:sp>
        <p:nvSpPr>
          <p:cNvPr id="108" name="TextBox 107"/>
          <p:cNvSpPr txBox="1"/>
          <p:nvPr/>
        </p:nvSpPr>
        <p:spPr>
          <a:xfrm>
            <a:off x="6611112" y="2304288"/>
            <a:ext cx="1965960" cy="374904"/>
          </a:xfrm>
          <a:prstGeom prst="rect">
            <a:avLst/>
          </a:prstGeom>
          <a:noFill/>
        </p:spPr>
        <p:txBody>
          <a:bodyPr wrap="square" lIns="0" rIns="0" tIns="0" bIns="0">
            <a:spAutoFit/>
          </a:bodyPr>
          <a:lstStyle/>
          <a:p>
            <a:pPr algn="l">
              <a:spcAft>
                <a:spcPts val="300"/>
              </a:spcAft>
              <a:defRPr sz="1150" b="0">
                <a:solidFill>
                  <a:srgbClr val="172336"/>
                </a:solidFill>
                <a:latin typeface="Aptos"/>
              </a:defRPr>
            </a:pPr>
            <a:r>
              <a:t>Recovery action based on</a:t>
            </a:r>
          </a:p>
          <a:p>
            <a:pPr algn="l">
              <a:spcAft>
                <a:spcPts val="300"/>
              </a:spcAft>
              <a:defRPr sz="1150" b="0">
                <a:solidFill>
                  <a:srgbClr val="172336"/>
                </a:solidFill>
                <a:latin typeface="Aptos"/>
              </a:defRPr>
            </a:pPr>
            <a:r>
              <a:t>the observed evidence.</a:t>
            </a:r>
          </a:p>
        </p:txBody>
      </p:sp>
      <p:sp>
        <p:nvSpPr>
          <p:cNvPr id="109" name="Rounded Rectangle 108"/>
          <p:cNvSpPr/>
          <p:nvPr/>
        </p:nvSpPr>
        <p:spPr>
          <a:xfrm>
            <a:off x="6464808" y="3392424"/>
            <a:ext cx="2258568" cy="1014984"/>
          </a:xfrm>
          <a:prstGeom prst="roundRect">
            <a:avLst>
              <a:gd name="adj" fmla="val 9000"/>
            </a:avLst>
          </a:prstGeom>
          <a:solidFill>
            <a:srgbClr val="EDF3FF"/>
          </a:solidFill>
          <a:ln w="10160">
            <a:solidFill>
              <a:srgbClr val="D8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6464808" y="3392424"/>
            <a:ext cx="41148" cy="1014984"/>
          </a:xfrm>
          <a:prstGeom prst="rect">
            <a:avLst/>
          </a:prstGeom>
          <a:solidFill>
            <a:srgbClr val="2864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6611112" y="3520440"/>
            <a:ext cx="1965960" cy="329184"/>
          </a:xfrm>
          <a:prstGeom prst="rect">
            <a:avLst/>
          </a:prstGeom>
          <a:noFill/>
        </p:spPr>
        <p:txBody>
          <a:bodyPr wrap="square" lIns="0" rIns="0" tIns="0" bIns="0">
            <a:spAutoFit/>
          </a:bodyPr>
          <a:lstStyle/>
          <a:p>
            <a:pPr algn="l">
              <a:spcAft>
                <a:spcPts val="300"/>
              </a:spcAft>
              <a:defRPr sz="1500" b="1">
                <a:solidFill>
                  <a:srgbClr val="2864DF"/>
                </a:solidFill>
                <a:latin typeface="Aptos"/>
              </a:defRPr>
            </a:pPr>
            <a:r>
              <a:t>4  Controller checks</a:t>
            </a:r>
          </a:p>
        </p:txBody>
      </p:sp>
      <p:sp>
        <p:nvSpPr>
          <p:cNvPr id="112" name="TextBox 111"/>
          <p:cNvSpPr txBox="1"/>
          <p:nvPr/>
        </p:nvSpPr>
        <p:spPr>
          <a:xfrm>
            <a:off x="6611112" y="3959352"/>
            <a:ext cx="1965960" cy="374904"/>
          </a:xfrm>
          <a:prstGeom prst="rect">
            <a:avLst/>
          </a:prstGeom>
          <a:noFill/>
        </p:spPr>
        <p:txBody>
          <a:bodyPr wrap="square" lIns="0" rIns="0" tIns="0" bIns="0">
            <a:spAutoFit/>
          </a:bodyPr>
          <a:lstStyle/>
          <a:p>
            <a:pPr algn="l">
              <a:spcAft>
                <a:spcPts val="300"/>
              </a:spcAft>
              <a:defRPr sz="1150" b="0">
                <a:solidFill>
                  <a:srgbClr val="172336"/>
                </a:solidFill>
                <a:latin typeface="Aptos"/>
              </a:defRPr>
            </a:pPr>
            <a:r>
              <a:t>Permissions • versions</a:t>
            </a:r>
          </a:p>
          <a:p>
            <a:pPr algn="l">
              <a:spcAft>
                <a:spcPts val="300"/>
              </a:spcAft>
              <a:defRPr sz="1150" b="0">
                <a:solidFill>
                  <a:srgbClr val="172336"/>
                </a:solidFill>
                <a:latin typeface="Aptos"/>
              </a:defRPr>
            </a:pPr>
            <a:r>
              <a:t>evidence • idempotency</a:t>
            </a:r>
          </a:p>
        </p:txBody>
      </p:sp>
      <p:sp>
        <p:nvSpPr>
          <p:cNvPr id="113" name="Rounded Rectangle 112"/>
          <p:cNvSpPr/>
          <p:nvPr/>
        </p:nvSpPr>
        <p:spPr>
          <a:xfrm>
            <a:off x="3438144" y="3392424"/>
            <a:ext cx="2258568" cy="1014984"/>
          </a:xfrm>
          <a:prstGeom prst="roundRect">
            <a:avLst>
              <a:gd name="adj" fmla="val 9000"/>
            </a:avLst>
          </a:prstGeom>
          <a:solidFill>
            <a:srgbClr val="EDF3FF"/>
          </a:solidFill>
          <a:ln w="10160">
            <a:solidFill>
              <a:srgbClr val="D8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3438144" y="3392424"/>
            <a:ext cx="41148" cy="1014984"/>
          </a:xfrm>
          <a:prstGeom prst="rect">
            <a:avLst/>
          </a:prstGeom>
          <a:solidFill>
            <a:srgbClr val="2864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3584448" y="3520440"/>
            <a:ext cx="1965960" cy="329184"/>
          </a:xfrm>
          <a:prstGeom prst="rect">
            <a:avLst/>
          </a:prstGeom>
          <a:noFill/>
        </p:spPr>
        <p:txBody>
          <a:bodyPr wrap="square" lIns="0" rIns="0" tIns="0" bIns="0">
            <a:spAutoFit/>
          </a:bodyPr>
          <a:lstStyle/>
          <a:p>
            <a:pPr algn="l">
              <a:spcAft>
                <a:spcPts val="300"/>
              </a:spcAft>
              <a:defRPr sz="1500" b="1">
                <a:solidFill>
                  <a:srgbClr val="2864DF"/>
                </a:solidFill>
                <a:latin typeface="Aptos"/>
              </a:defRPr>
            </a:pPr>
            <a:r>
              <a:t>5  Execute bounded tool</a:t>
            </a:r>
          </a:p>
        </p:txBody>
      </p:sp>
      <p:sp>
        <p:nvSpPr>
          <p:cNvPr id="116" name="TextBox 115"/>
          <p:cNvSpPr txBox="1"/>
          <p:nvPr/>
        </p:nvSpPr>
        <p:spPr>
          <a:xfrm>
            <a:off x="3584448" y="3959352"/>
            <a:ext cx="1965960" cy="374904"/>
          </a:xfrm>
          <a:prstGeom prst="rect">
            <a:avLst/>
          </a:prstGeom>
          <a:noFill/>
        </p:spPr>
        <p:txBody>
          <a:bodyPr wrap="square" lIns="0" rIns="0" tIns="0" bIns="0">
            <a:spAutoFit/>
          </a:bodyPr>
          <a:lstStyle/>
          <a:p>
            <a:pPr algn="l">
              <a:spcAft>
                <a:spcPts val="300"/>
              </a:spcAft>
              <a:defRPr sz="1150" b="0">
                <a:solidFill>
                  <a:srgbClr val="172336"/>
                </a:solidFill>
                <a:latin typeface="Aptos"/>
              </a:defRPr>
            </a:pPr>
            <a:r>
              <a:t>Receipt confirms the write.</a:t>
            </a:r>
          </a:p>
          <a:p>
            <a:pPr algn="l">
              <a:spcAft>
                <a:spcPts val="300"/>
              </a:spcAft>
              <a:defRPr sz="1150" b="0">
                <a:solidFill>
                  <a:srgbClr val="172336"/>
                </a:solidFill>
                <a:latin typeface="Aptos"/>
              </a:defRPr>
            </a:pPr>
            <a:r>
              <a:t>Changed state is observed.</a:t>
            </a:r>
          </a:p>
        </p:txBody>
      </p:sp>
      <p:sp>
        <p:nvSpPr>
          <p:cNvPr id="117" name="Rounded Rectangle 116"/>
          <p:cNvSpPr/>
          <p:nvPr/>
        </p:nvSpPr>
        <p:spPr>
          <a:xfrm>
            <a:off x="411480" y="3392424"/>
            <a:ext cx="2258568" cy="1014984"/>
          </a:xfrm>
          <a:prstGeom prst="roundRect">
            <a:avLst>
              <a:gd name="adj" fmla="val 9000"/>
            </a:avLst>
          </a:prstGeom>
          <a:solidFill>
            <a:srgbClr val="EDF3FF"/>
          </a:solidFill>
          <a:ln w="10160">
            <a:solidFill>
              <a:srgbClr val="D8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411480" y="3392424"/>
            <a:ext cx="41148" cy="1014984"/>
          </a:xfrm>
          <a:prstGeom prst="rect">
            <a:avLst/>
          </a:prstGeom>
          <a:solidFill>
            <a:srgbClr val="2864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557784" y="3520440"/>
            <a:ext cx="1965960" cy="329184"/>
          </a:xfrm>
          <a:prstGeom prst="rect">
            <a:avLst/>
          </a:prstGeom>
          <a:noFill/>
        </p:spPr>
        <p:txBody>
          <a:bodyPr wrap="square" lIns="0" rIns="0" tIns="0" bIns="0">
            <a:spAutoFit/>
          </a:bodyPr>
          <a:lstStyle/>
          <a:p>
            <a:pPr algn="l">
              <a:spcAft>
                <a:spcPts val="300"/>
              </a:spcAft>
              <a:defRPr sz="1500" b="1">
                <a:solidFill>
                  <a:srgbClr val="2864DF"/>
                </a:solidFill>
                <a:latin typeface="Aptos"/>
              </a:defRPr>
            </a:pPr>
            <a:r>
              <a:t>6  Verify or hand off</a:t>
            </a:r>
          </a:p>
        </p:txBody>
      </p:sp>
      <p:sp>
        <p:nvSpPr>
          <p:cNvPr id="120" name="TextBox 119"/>
          <p:cNvSpPr txBox="1"/>
          <p:nvPr/>
        </p:nvSpPr>
        <p:spPr>
          <a:xfrm>
            <a:off x="557784" y="3959352"/>
            <a:ext cx="1965960" cy="374904"/>
          </a:xfrm>
          <a:prstGeom prst="rect">
            <a:avLst/>
          </a:prstGeom>
          <a:noFill/>
        </p:spPr>
        <p:txBody>
          <a:bodyPr wrap="square" lIns="0" rIns="0" tIns="0" bIns="0">
            <a:spAutoFit/>
          </a:bodyPr>
          <a:lstStyle/>
          <a:p>
            <a:pPr algn="l">
              <a:spcAft>
                <a:spcPts val="300"/>
              </a:spcAft>
              <a:defRPr sz="1150" b="0">
                <a:solidFill>
                  <a:srgbClr val="172336"/>
                </a:solidFill>
                <a:latin typeface="Aptos"/>
              </a:defRPr>
            </a:pPr>
            <a:r>
              <a:t>Independent ledger checks</a:t>
            </a:r>
          </a:p>
          <a:p>
            <a:pPr algn="l">
              <a:spcAft>
                <a:spcPts val="300"/>
              </a:spcAft>
              <a:defRPr sz="1150" b="0">
                <a:solidFill>
                  <a:srgbClr val="172336"/>
                </a:solidFill>
                <a:latin typeface="Aptos"/>
              </a:defRPr>
            </a:pPr>
            <a:r>
              <a:t>plus exportable audit.</a:t>
            </a:r>
          </a:p>
        </p:txBody>
      </p:sp>
      <p:cxnSp>
        <p:nvCxnSpPr>
          <p:cNvPr id="121" name="Connector 120"/>
          <p:cNvCxnSpPr/>
          <p:nvPr/>
        </p:nvCxnSpPr>
        <p:spPr>
          <a:xfrm>
            <a:off x="2697480" y="2221992"/>
            <a:ext cx="704088" cy="0"/>
          </a:xfrm>
          <a:prstGeom prst="line">
            <a:avLst/>
          </a:prstGeom>
          <a:ln w="19050">
            <a:solidFill>
              <a:srgbClr val="2864DF"/>
            </a:solidFill>
            <a:tailEnd type="triangle"/>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a:off x="5724144" y="2221992"/>
            <a:ext cx="704088" cy="0"/>
          </a:xfrm>
          <a:prstGeom prst="line">
            <a:avLst/>
          </a:prstGeom>
          <a:ln w="19050">
            <a:solidFill>
              <a:srgbClr val="2864DF"/>
            </a:solidFill>
            <a:tailEnd type="triangle"/>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a:off x="7589520" y="2779776"/>
            <a:ext cx="0" cy="576072"/>
          </a:xfrm>
          <a:prstGeom prst="line">
            <a:avLst/>
          </a:prstGeom>
          <a:ln w="19050">
            <a:solidFill>
              <a:srgbClr val="2864DF"/>
            </a:solidFill>
            <a:tailEnd type="triangle"/>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H="1">
            <a:off x="5724144" y="3895344"/>
            <a:ext cx="694944" cy="0"/>
          </a:xfrm>
          <a:prstGeom prst="line">
            <a:avLst/>
          </a:prstGeom>
          <a:ln w="19050">
            <a:solidFill>
              <a:srgbClr val="2864DF"/>
            </a:solidFill>
            <a:tailEnd type="triangle"/>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H="1">
            <a:off x="2697480" y="3895344"/>
            <a:ext cx="704088" cy="0"/>
          </a:xfrm>
          <a:prstGeom prst="line">
            <a:avLst/>
          </a:prstGeom>
          <a:ln w="19050">
            <a:solidFill>
              <a:srgbClr val="2864DF"/>
            </a:solidFill>
            <a:tailEnd type="triangle"/>
          </a:ln>
        </p:spPr>
        <p:style>
          <a:lnRef idx="2">
            <a:schemeClr val="accent1"/>
          </a:lnRef>
          <a:fillRef idx="0">
            <a:schemeClr val="accent1"/>
          </a:fillRef>
          <a:effectRef idx="1">
            <a:schemeClr val="accent1"/>
          </a:effectRef>
          <a:fontRef idx="minor">
            <a:schemeClr val="tx1"/>
          </a:fontRef>
        </p:style>
      </p:cxnSp>
      <p:sp>
        <p:nvSpPr>
          <p:cNvPr id="126" name="TextBox 125"/>
          <p:cNvSpPr txBox="1"/>
          <p:nvPr/>
        </p:nvSpPr>
        <p:spPr>
          <a:xfrm>
            <a:off x="2423160" y="2843784"/>
            <a:ext cx="4279392" cy="310896"/>
          </a:xfrm>
          <a:prstGeom prst="rect">
            <a:avLst/>
          </a:prstGeom>
          <a:noFill/>
        </p:spPr>
        <p:txBody>
          <a:bodyPr wrap="square" lIns="0" rIns="0" tIns="0" bIns="0">
            <a:spAutoFit/>
          </a:bodyPr>
          <a:lstStyle/>
          <a:p>
            <a:pPr algn="ctr">
              <a:spcAft>
                <a:spcPts val="300"/>
              </a:spcAft>
              <a:defRPr sz="1200" b="1">
                <a:solidFill>
                  <a:srgbClr val="946000"/>
                </a:solidFill>
                <a:latin typeface="Aptos"/>
              </a:defRPr>
            </a:pPr>
            <a:r>
              <a:t>Blocked stale proposal → refresh evidence → replan</a:t>
            </a:r>
          </a:p>
        </p:txBody>
      </p:sp>
      <p:sp>
        <p:nvSpPr>
          <p:cNvPr id="127" name="TextBox 126"/>
          <p:cNvSpPr txBox="1"/>
          <p:nvPr/>
        </p:nvSpPr>
        <p:spPr>
          <a:xfrm>
            <a:off x="356616" y="4700016"/>
            <a:ext cx="7936992" cy="210312"/>
          </a:xfrm>
          <a:prstGeom prst="rect">
            <a:avLst/>
          </a:prstGeom>
          <a:noFill/>
        </p:spPr>
        <p:txBody>
          <a:bodyPr wrap="square" lIns="0" rIns="0" tIns="0" bIns="0">
            <a:spAutoFit/>
          </a:bodyPr>
          <a:lstStyle/>
          <a:p>
            <a:pPr algn="l">
              <a:spcAft>
                <a:spcPts val="300"/>
              </a:spcAft>
              <a:defRPr sz="850" b="0">
                <a:solidFill>
                  <a:srgbClr val="53637C"/>
                </a:solidFill>
                <a:latin typeface="Aptos"/>
              </a:defRPr>
            </a:pPr>
            <a:r>
              <a:t>Bounded proposal loop. Unknown payment or irreversible dispatch leads to operator review.</a:t>
            </a:r>
          </a:p>
        </p:txBody>
      </p:sp>
      <p:sp>
        <p:nvSpPr>
          <p:cNvPr id="128" name="TextBox 127"/>
          <p:cNvSpPr txBox="1"/>
          <p:nvPr/>
        </p:nvSpPr>
        <p:spPr>
          <a:xfrm>
            <a:off x="8394192" y="4700016"/>
            <a:ext cx="365760" cy="210312"/>
          </a:xfrm>
          <a:prstGeom prst="rect">
            <a:avLst/>
          </a:prstGeom>
          <a:noFill/>
        </p:spPr>
        <p:txBody>
          <a:bodyPr wrap="square" lIns="0" rIns="0" tIns="0" bIns="0">
            <a:spAutoFit/>
          </a:bodyPr>
          <a:lstStyle/>
          <a:p>
            <a:pPr algn="r">
              <a:spcAft>
                <a:spcPts val="300"/>
              </a:spcAft>
              <a:defRPr sz="900" b="0">
                <a:solidFill>
                  <a:srgbClr val="53637C"/>
                </a:solidFill>
                <a:latin typeface="Aptos"/>
              </a:defRPr>
            </a:pPr>
            <a:r>
              <a:t>06</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pic>
        <p:nvPicPr>
          <p:cNvPr id="100" name="Google Shape;100;p19"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01" name="Google Shape;101;p19"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02" name="Google Shape;102;p19"/>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 name="Google Shape;103;p19"/>
          <p:cNvSpPr txBox="1"/>
          <p:nvPr/>
        </p:nvSpPr>
        <p:spPr>
          <a:xfrm>
            <a:off x="356616" y="704088"/>
            <a:ext cx="8348472" cy="402336"/>
          </a:xfrm>
          <a:prstGeom prst="rect">
            <a:avLst/>
          </a:prstGeom>
          <a:noFill/>
          <a:ln>
            <a:noFill/>
          </a:ln>
        </p:spPr>
        <p:txBody>
          <a:bodyPr anchorCtr="0" anchor="t" bIns="91425" lIns="0" spcFirstLastPara="1" rIns="91425" wrap="square" tIns="0">
            <a:noAutofit/>
          </a:bodyPr>
          <a:lstStyle/>
          <a:p>
            <a:pPr indent="0" lvl="0" marL="0" rtl="0" algn="l">
              <a:spcBef>
                <a:spcPts val="0"/>
              </a:spcBef>
              <a:spcAft>
                <a:spcPts val="0"/>
              </a:spcAft>
              <a:buNone/>
              <a:defRPr sz="2000" b="1">
                <a:solidFill>
                  <a:srgbClr val="172336"/>
                </a:solidFill>
                <a:latin typeface="Aptos Display"/>
              </a:defRPr>
            </a:pPr>
            <a:r>
              <a:t>Wireframes/Mock diagrams of the proposed solution (optional)</a:t>
            </a:r>
            <a:endParaRPr sz="1600">
              <a:latin typeface="Google Sans Flex Medium"/>
              <a:ea typeface="Google Sans Flex Medium"/>
              <a:cs typeface="Google Sans Flex Medium"/>
              <a:sym typeface="Google Sans Flex Medium"/>
            </a:endParaRPr>
          </a:p>
        </p:txBody>
      </p:sp>
      <p:sp>
        <p:nvSpPr>
          <p:cNvPr id="104" name="TextBox 103"/>
          <p:cNvSpPr txBox="1"/>
          <p:nvPr/>
        </p:nvSpPr>
        <p:spPr>
          <a:xfrm>
            <a:off x="365760" y="1161288"/>
            <a:ext cx="8321040" cy="365760"/>
          </a:xfrm>
          <a:prstGeom prst="rect">
            <a:avLst/>
          </a:prstGeom>
          <a:noFill/>
        </p:spPr>
        <p:txBody>
          <a:bodyPr wrap="square" lIns="0" rIns="0" tIns="0" bIns="0">
            <a:spAutoFit/>
          </a:bodyPr>
          <a:lstStyle/>
          <a:p>
            <a:pPr algn="l">
              <a:spcAft>
                <a:spcPts val="300"/>
              </a:spcAft>
              <a:defRPr sz="1200" b="0">
                <a:solidFill>
                  <a:srgbClr val="53637C"/>
                </a:solidFill>
                <a:latin typeface="Aptos"/>
              </a:defRPr>
            </a:pPr>
            <a:r>
              <a:t>Implemented incident lab: change evidence, review explicit permissions, then run a new recovery.</a:t>
            </a:r>
          </a:p>
        </p:txBody>
      </p:sp>
      <p:sp>
        <p:nvSpPr>
          <p:cNvPr id="105" name="Rounded Rectangle 104"/>
          <p:cNvSpPr/>
          <p:nvPr/>
        </p:nvSpPr>
        <p:spPr>
          <a:xfrm>
            <a:off x="393192" y="1691640"/>
            <a:ext cx="5020056" cy="2697480"/>
          </a:xfrm>
          <a:prstGeom prst="roundRect">
            <a:avLst>
              <a:gd name="adj" fmla="val 9000"/>
            </a:avLst>
          </a:prstGeom>
          <a:solidFill>
            <a:srgbClr val="ED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6" name="Picture 105" descr="custom-incident-lab.png"/>
          <p:cNvPicPr>
            <a:picLocks noChangeAspect="1"/>
          </p:cNvPicPr>
          <p:nvPr/>
        </p:nvPicPr>
        <p:blipFill>
          <a:blip r:embed="rId5"/>
          <a:stretch>
            <a:fillRect/>
          </a:stretch>
        </p:blipFill>
        <p:spPr>
          <a:xfrm>
            <a:off x="411480" y="1710803"/>
            <a:ext cx="4983480" cy="2659153"/>
          </a:xfrm>
          <a:prstGeom prst="rect">
            <a:avLst/>
          </a:prstGeom>
        </p:spPr>
      </p:pic>
      <p:sp>
        <p:nvSpPr>
          <p:cNvPr id="107" name="Rounded Rectangle 106"/>
          <p:cNvSpPr/>
          <p:nvPr/>
        </p:nvSpPr>
        <p:spPr>
          <a:xfrm>
            <a:off x="5669280" y="1664208"/>
            <a:ext cx="3054096" cy="905256"/>
          </a:xfrm>
          <a:prstGeom prst="roundRect">
            <a:avLst>
              <a:gd name="adj" fmla="val 9000"/>
            </a:avLst>
          </a:prstGeom>
          <a:solidFill>
            <a:srgbClr val="EDF3FF"/>
          </a:solidFill>
          <a:ln w="10160">
            <a:solidFill>
              <a:srgbClr val="D8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5669280" y="1664208"/>
            <a:ext cx="41148" cy="905256"/>
          </a:xfrm>
          <a:prstGeom prst="rect">
            <a:avLst/>
          </a:prstGeom>
          <a:solidFill>
            <a:srgbClr val="2864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5815584" y="1792224"/>
            <a:ext cx="2761488" cy="329184"/>
          </a:xfrm>
          <a:prstGeom prst="rect">
            <a:avLst/>
          </a:prstGeom>
          <a:noFill/>
        </p:spPr>
        <p:txBody>
          <a:bodyPr wrap="square" lIns="0" rIns="0" tIns="0" bIns="0">
            <a:spAutoFit/>
          </a:bodyPr>
          <a:lstStyle/>
          <a:p>
            <a:pPr algn="l">
              <a:spcAft>
                <a:spcPts val="300"/>
              </a:spcAft>
              <a:defRPr sz="1500" b="1">
                <a:solidFill>
                  <a:srgbClr val="2864DF"/>
                </a:solidFill>
                <a:latin typeface="Aptos"/>
              </a:defRPr>
            </a:pPr>
            <a:r>
              <a:t>Orient</a:t>
            </a:r>
          </a:p>
        </p:txBody>
      </p:sp>
      <p:sp>
        <p:nvSpPr>
          <p:cNvPr id="110" name="TextBox 109"/>
          <p:cNvSpPr txBox="1"/>
          <p:nvPr/>
        </p:nvSpPr>
        <p:spPr>
          <a:xfrm>
            <a:off x="5815584" y="2231136"/>
            <a:ext cx="2761488" cy="265176"/>
          </a:xfrm>
          <a:prstGeom prst="rect">
            <a:avLst/>
          </a:prstGeom>
          <a:noFill/>
        </p:spPr>
        <p:txBody>
          <a:bodyPr wrap="square" lIns="0" rIns="0" tIns="0" bIns="0">
            <a:spAutoFit/>
          </a:bodyPr>
          <a:lstStyle/>
          <a:p>
            <a:pPr algn="l">
              <a:spcAft>
                <a:spcPts val="300"/>
              </a:spcAft>
              <a:defRPr sz="1180" b="0">
                <a:solidFill>
                  <a:srgbClr val="172336"/>
                </a:solidFill>
                <a:latin typeface="Aptos"/>
              </a:defRPr>
            </a:pPr>
            <a:r>
              <a:t>Home introduces the incident and service state.</a:t>
            </a:r>
          </a:p>
        </p:txBody>
      </p:sp>
      <p:sp>
        <p:nvSpPr>
          <p:cNvPr id="111" name="Rounded Rectangle 110"/>
          <p:cNvSpPr/>
          <p:nvPr/>
        </p:nvSpPr>
        <p:spPr>
          <a:xfrm>
            <a:off x="5669280" y="2633472"/>
            <a:ext cx="3054096" cy="905256"/>
          </a:xfrm>
          <a:prstGeom prst="roundRect">
            <a:avLst>
              <a:gd name="adj" fmla="val 9000"/>
            </a:avLst>
          </a:prstGeom>
          <a:solidFill>
            <a:srgbClr val="EDF3FF"/>
          </a:solidFill>
          <a:ln w="10160">
            <a:solidFill>
              <a:srgbClr val="D8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5669280" y="2633472"/>
            <a:ext cx="41148" cy="905256"/>
          </a:xfrm>
          <a:prstGeom prst="rect">
            <a:avLst/>
          </a:prstGeom>
          <a:solidFill>
            <a:srgbClr val="7557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5815584" y="2761488"/>
            <a:ext cx="2761488" cy="329184"/>
          </a:xfrm>
          <a:prstGeom prst="rect">
            <a:avLst/>
          </a:prstGeom>
          <a:noFill/>
        </p:spPr>
        <p:txBody>
          <a:bodyPr wrap="square" lIns="0" rIns="0" tIns="0" bIns="0">
            <a:spAutoFit/>
          </a:bodyPr>
          <a:lstStyle/>
          <a:p>
            <a:pPr algn="l">
              <a:spcAft>
                <a:spcPts val="300"/>
              </a:spcAft>
              <a:defRPr sz="1500" b="1">
                <a:solidFill>
                  <a:srgbClr val="7557DD"/>
                </a:solidFill>
                <a:latin typeface="Aptos"/>
              </a:defRPr>
            </a:pPr>
            <a:r>
              <a:t>Act</a:t>
            </a:r>
          </a:p>
        </p:txBody>
      </p:sp>
      <p:sp>
        <p:nvSpPr>
          <p:cNvPr id="114" name="TextBox 113"/>
          <p:cNvSpPr txBox="1"/>
          <p:nvPr/>
        </p:nvSpPr>
        <p:spPr>
          <a:xfrm>
            <a:off x="5815584" y="3200400"/>
            <a:ext cx="2761488" cy="265176"/>
          </a:xfrm>
          <a:prstGeom prst="rect">
            <a:avLst/>
          </a:prstGeom>
          <a:noFill/>
        </p:spPr>
        <p:txBody>
          <a:bodyPr wrap="square" lIns="0" rIns="0" tIns="0" bIns="0">
            <a:spAutoFit/>
          </a:bodyPr>
          <a:lstStyle/>
          <a:p>
            <a:pPr algn="l">
              <a:spcAft>
                <a:spcPts val="300"/>
              </a:spcAft>
              <a:defRPr sz="1180" b="0">
                <a:solidFill>
                  <a:srgbClr val="172336"/>
                </a:solidFill>
                <a:latin typeface="Aptos"/>
              </a:defRPr>
            </a:pPr>
            <a:r>
              <a:t>Edit or import an incident; start a fresh run.</a:t>
            </a:r>
          </a:p>
        </p:txBody>
      </p:sp>
      <p:sp>
        <p:nvSpPr>
          <p:cNvPr id="115" name="Rounded Rectangle 114"/>
          <p:cNvSpPr/>
          <p:nvPr/>
        </p:nvSpPr>
        <p:spPr>
          <a:xfrm>
            <a:off x="5669280" y="3602736"/>
            <a:ext cx="3054096" cy="905256"/>
          </a:xfrm>
          <a:prstGeom prst="roundRect">
            <a:avLst>
              <a:gd name="adj" fmla="val 9000"/>
            </a:avLst>
          </a:prstGeom>
          <a:solidFill>
            <a:srgbClr val="EDF3FF"/>
          </a:solidFill>
          <a:ln w="10160">
            <a:solidFill>
              <a:srgbClr val="D8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5669280" y="3602736"/>
            <a:ext cx="41148" cy="905256"/>
          </a:xfrm>
          <a:prstGeom prst="rect">
            <a:avLst/>
          </a:prstGeom>
          <a:solidFill>
            <a:srgbClr val="1684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5815584" y="3730752"/>
            <a:ext cx="2761488" cy="329184"/>
          </a:xfrm>
          <a:prstGeom prst="rect">
            <a:avLst/>
          </a:prstGeom>
          <a:noFill/>
        </p:spPr>
        <p:txBody>
          <a:bodyPr wrap="square" lIns="0" rIns="0" tIns="0" bIns="0">
            <a:spAutoFit/>
          </a:bodyPr>
          <a:lstStyle/>
          <a:p>
            <a:pPr algn="l">
              <a:spcAft>
                <a:spcPts val="300"/>
              </a:spcAft>
              <a:defRPr sz="1500" b="1">
                <a:solidFill>
                  <a:srgbClr val="16845A"/>
                </a:solidFill>
                <a:latin typeface="Aptos"/>
              </a:defRPr>
            </a:pPr>
            <a:r>
              <a:t>Review</a:t>
            </a:r>
          </a:p>
        </p:txBody>
      </p:sp>
      <p:sp>
        <p:nvSpPr>
          <p:cNvPr id="118" name="TextBox 117"/>
          <p:cNvSpPr txBox="1"/>
          <p:nvPr/>
        </p:nvSpPr>
        <p:spPr>
          <a:xfrm>
            <a:off x="5815584" y="4169663"/>
            <a:ext cx="2761488" cy="265176"/>
          </a:xfrm>
          <a:prstGeom prst="rect">
            <a:avLst/>
          </a:prstGeom>
          <a:noFill/>
        </p:spPr>
        <p:txBody>
          <a:bodyPr wrap="square" lIns="0" rIns="0" tIns="0" bIns="0">
            <a:spAutoFit/>
          </a:bodyPr>
          <a:lstStyle/>
          <a:p>
            <a:pPr algn="l">
              <a:spcAft>
                <a:spcPts val="300"/>
              </a:spcAft>
              <a:defRPr sz="1180" b="0">
                <a:solidFill>
                  <a:srgbClr val="172336"/>
                </a:solidFill>
                <a:latin typeface="Aptos"/>
              </a:defRPr>
            </a:pPr>
            <a:r>
              <a:t>History and receipts reconstruct each run.</a:t>
            </a:r>
          </a:p>
        </p:txBody>
      </p:sp>
      <p:sp>
        <p:nvSpPr>
          <p:cNvPr id="119" name="TextBox 118"/>
          <p:cNvSpPr txBox="1"/>
          <p:nvPr/>
        </p:nvSpPr>
        <p:spPr>
          <a:xfrm>
            <a:off x="356616" y="4700016"/>
            <a:ext cx="7936992" cy="210312"/>
          </a:xfrm>
          <a:prstGeom prst="rect">
            <a:avLst/>
          </a:prstGeom>
          <a:noFill/>
        </p:spPr>
        <p:txBody>
          <a:bodyPr wrap="square" lIns="0" rIns="0" tIns="0" bIns="0">
            <a:spAutoFit/>
          </a:bodyPr>
          <a:lstStyle/>
          <a:p>
            <a:pPr algn="l">
              <a:spcAft>
                <a:spcPts val="300"/>
              </a:spcAft>
              <a:defRPr sz="850" b="0">
                <a:solidFill>
                  <a:srgbClr val="53637C"/>
                </a:solidFill>
                <a:latin typeface="Aptos"/>
              </a:defRPr>
            </a:pPr>
            <a:r>
              <a:t>Actual application screenshot. Imported JSON is schema-validated; a customer note cannot override permission controls.</a:t>
            </a:r>
          </a:p>
        </p:txBody>
      </p:sp>
      <p:sp>
        <p:nvSpPr>
          <p:cNvPr id="120" name="TextBox 119"/>
          <p:cNvSpPr txBox="1"/>
          <p:nvPr/>
        </p:nvSpPr>
        <p:spPr>
          <a:xfrm>
            <a:off x="8394192" y="4700016"/>
            <a:ext cx="365760" cy="210312"/>
          </a:xfrm>
          <a:prstGeom prst="rect">
            <a:avLst/>
          </a:prstGeom>
          <a:noFill/>
        </p:spPr>
        <p:txBody>
          <a:bodyPr wrap="square" lIns="0" rIns="0" tIns="0" bIns="0">
            <a:spAutoFit/>
          </a:bodyPr>
          <a:lstStyle/>
          <a:p>
            <a:pPr algn="r">
              <a:spcAft>
                <a:spcPts val="300"/>
              </a:spcAft>
              <a:defRPr sz="900" b="0">
                <a:solidFill>
                  <a:srgbClr val="53637C"/>
                </a:solidFill>
                <a:latin typeface="Aptos"/>
              </a:defRPr>
            </a:pPr>
            <a:r>
              <a:t>07</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pic>
        <p:nvPicPr>
          <p:cNvPr id="108" name="Google Shape;108;p20"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09" name="Google Shape;109;p20"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0" name="Google Shape;110;p20"/>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 name="Google Shape;111;p20"/>
          <p:cNvSpPr txBox="1"/>
          <p:nvPr/>
        </p:nvSpPr>
        <p:spPr>
          <a:xfrm>
            <a:off x="356616" y="704088"/>
            <a:ext cx="8348472" cy="402336"/>
          </a:xfrm>
          <a:prstGeom prst="rect">
            <a:avLst/>
          </a:prstGeom>
          <a:noFill/>
          <a:ln>
            <a:noFill/>
          </a:ln>
        </p:spPr>
        <p:txBody>
          <a:bodyPr anchorCtr="0" anchor="t" bIns="91425" lIns="0" spcFirstLastPara="1" rIns="91425" wrap="square" tIns="0">
            <a:noAutofit/>
          </a:bodyPr>
          <a:lstStyle/>
          <a:p>
            <a:pPr indent="0" lvl="0" marL="0" rtl="0" algn="l">
              <a:spcBef>
                <a:spcPts val="0"/>
              </a:spcBef>
              <a:spcAft>
                <a:spcPts val="0"/>
              </a:spcAft>
              <a:buNone/>
              <a:defRPr sz="2300" b="1">
                <a:solidFill>
                  <a:srgbClr val="172336"/>
                </a:solidFill>
                <a:latin typeface="Aptos Display"/>
              </a:defRPr>
            </a:pPr>
            <a:r>
              <a:t>Architecture diagram of the proposed solution</a:t>
            </a:r>
            <a:endParaRPr sz="1600">
              <a:latin typeface="Google Sans Flex Medium"/>
              <a:ea typeface="Google Sans Flex Medium"/>
              <a:cs typeface="Google Sans Flex Medium"/>
              <a:sym typeface="Google Sans Flex Medium"/>
            </a:endParaRPr>
          </a:p>
        </p:txBody>
      </p:sp>
      <p:sp>
        <p:nvSpPr>
          <p:cNvPr id="112" name="TextBox 111"/>
          <p:cNvSpPr txBox="1"/>
          <p:nvPr/>
        </p:nvSpPr>
        <p:spPr>
          <a:xfrm>
            <a:off x="365760" y="1161288"/>
            <a:ext cx="8321040" cy="365760"/>
          </a:xfrm>
          <a:prstGeom prst="rect">
            <a:avLst/>
          </a:prstGeom>
          <a:noFill/>
        </p:spPr>
        <p:txBody>
          <a:bodyPr wrap="square" lIns="0" rIns="0" tIns="0" bIns="0">
            <a:spAutoFit/>
          </a:bodyPr>
          <a:lstStyle/>
          <a:p>
            <a:pPr algn="l">
              <a:spcAft>
                <a:spcPts val="300"/>
              </a:spcAft>
              <a:defRPr sz="1200" b="0">
                <a:solidFill>
                  <a:srgbClr val="53637C"/>
                </a:solidFill>
                <a:latin typeface="Aptos"/>
              </a:defRPr>
            </a:pPr>
            <a:r>
              <a:t>Solid boxes: implemented application path. Google deployment status is stated separately.</a:t>
            </a:r>
          </a:p>
        </p:txBody>
      </p:sp>
      <p:sp>
        <p:nvSpPr>
          <p:cNvPr id="113" name="Rounded Rectangle 112"/>
          <p:cNvSpPr/>
          <p:nvPr/>
        </p:nvSpPr>
        <p:spPr>
          <a:xfrm>
            <a:off x="393192" y="1755648"/>
            <a:ext cx="2029968" cy="1033271"/>
          </a:xfrm>
          <a:prstGeom prst="roundRect">
            <a:avLst>
              <a:gd name="adj" fmla="val 9000"/>
            </a:avLst>
          </a:prstGeom>
          <a:solidFill>
            <a:srgbClr val="EDF3FF"/>
          </a:solidFill>
          <a:ln w="10160">
            <a:solidFill>
              <a:srgbClr val="D8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393192" y="1755648"/>
            <a:ext cx="41148" cy="1033271"/>
          </a:xfrm>
          <a:prstGeom prst="rect">
            <a:avLst/>
          </a:prstGeom>
          <a:solidFill>
            <a:srgbClr val="2864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539496" y="1883664"/>
            <a:ext cx="1737360" cy="329184"/>
          </a:xfrm>
          <a:prstGeom prst="rect">
            <a:avLst/>
          </a:prstGeom>
          <a:noFill/>
        </p:spPr>
        <p:txBody>
          <a:bodyPr wrap="square" lIns="0" rIns="0" tIns="0" bIns="0">
            <a:spAutoFit/>
          </a:bodyPr>
          <a:lstStyle/>
          <a:p>
            <a:pPr algn="l">
              <a:spcAft>
                <a:spcPts val="300"/>
              </a:spcAft>
              <a:defRPr sz="1500" b="1">
                <a:solidFill>
                  <a:srgbClr val="2864DF"/>
                </a:solidFill>
                <a:latin typeface="Aptos"/>
              </a:defRPr>
            </a:pPr>
            <a:r>
              <a:t>React + Three.js</a:t>
            </a:r>
          </a:p>
        </p:txBody>
      </p:sp>
      <p:sp>
        <p:nvSpPr>
          <p:cNvPr id="116" name="TextBox 115"/>
          <p:cNvSpPr txBox="1"/>
          <p:nvPr/>
        </p:nvSpPr>
        <p:spPr>
          <a:xfrm>
            <a:off x="539496" y="2322576"/>
            <a:ext cx="1737360" cy="393191"/>
          </a:xfrm>
          <a:prstGeom prst="rect">
            <a:avLst/>
          </a:prstGeom>
          <a:noFill/>
        </p:spPr>
        <p:txBody>
          <a:bodyPr wrap="square" lIns="0" rIns="0" tIns="0" bIns="0">
            <a:spAutoFit/>
          </a:bodyPr>
          <a:lstStyle/>
          <a:p>
            <a:pPr algn="l">
              <a:spcAft>
                <a:spcPts val="300"/>
              </a:spcAft>
              <a:defRPr sz="1200" b="0">
                <a:solidFill>
                  <a:srgbClr val="172336"/>
                </a:solidFill>
                <a:latin typeface="Aptos"/>
              </a:defRPr>
            </a:pPr>
            <a:r>
              <a:t>Incident desk</a:t>
            </a:r>
          </a:p>
          <a:p>
            <a:pPr algn="l">
              <a:spcAft>
                <a:spcPts val="300"/>
              </a:spcAft>
              <a:defRPr sz="1200" b="0">
                <a:solidFill>
                  <a:srgbClr val="172336"/>
                </a:solidFill>
                <a:latin typeface="Aptos"/>
              </a:defRPr>
            </a:pPr>
            <a:r>
              <a:t>Evidence and audit UI</a:t>
            </a:r>
          </a:p>
        </p:txBody>
      </p:sp>
      <p:sp>
        <p:nvSpPr>
          <p:cNvPr id="117" name="Rounded Rectangle 116"/>
          <p:cNvSpPr/>
          <p:nvPr/>
        </p:nvSpPr>
        <p:spPr>
          <a:xfrm>
            <a:off x="2907792" y="1755648"/>
            <a:ext cx="2514600" cy="1033271"/>
          </a:xfrm>
          <a:prstGeom prst="roundRect">
            <a:avLst>
              <a:gd name="adj" fmla="val 9000"/>
            </a:avLst>
          </a:prstGeom>
          <a:solidFill>
            <a:srgbClr val="EDF3FF"/>
          </a:solidFill>
          <a:ln w="10160">
            <a:solidFill>
              <a:srgbClr val="D8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2907792" y="1755648"/>
            <a:ext cx="41148" cy="1033271"/>
          </a:xfrm>
          <a:prstGeom prst="rect">
            <a:avLst/>
          </a:prstGeom>
          <a:solidFill>
            <a:srgbClr val="7557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3054096" y="1883664"/>
            <a:ext cx="2221992" cy="329184"/>
          </a:xfrm>
          <a:prstGeom prst="rect">
            <a:avLst/>
          </a:prstGeom>
          <a:noFill/>
        </p:spPr>
        <p:txBody>
          <a:bodyPr wrap="square" lIns="0" rIns="0" tIns="0" bIns="0">
            <a:spAutoFit/>
          </a:bodyPr>
          <a:lstStyle/>
          <a:p>
            <a:pPr algn="l">
              <a:spcAft>
                <a:spcPts val="300"/>
              </a:spcAft>
              <a:defRPr sz="1500" b="1">
                <a:solidFill>
                  <a:srgbClr val="7557DD"/>
                </a:solidFill>
                <a:latin typeface="Aptos"/>
              </a:defRPr>
            </a:pPr>
            <a:r>
              <a:t>FastAPI controller</a:t>
            </a:r>
          </a:p>
        </p:txBody>
      </p:sp>
      <p:sp>
        <p:nvSpPr>
          <p:cNvPr id="120" name="TextBox 119"/>
          <p:cNvSpPr txBox="1"/>
          <p:nvPr/>
        </p:nvSpPr>
        <p:spPr>
          <a:xfrm>
            <a:off x="3054096" y="2322576"/>
            <a:ext cx="2221992" cy="393191"/>
          </a:xfrm>
          <a:prstGeom prst="rect">
            <a:avLst/>
          </a:prstGeom>
          <a:noFill/>
        </p:spPr>
        <p:txBody>
          <a:bodyPr wrap="square" lIns="0" rIns="0" tIns="0" bIns="0">
            <a:spAutoFit/>
          </a:bodyPr>
          <a:lstStyle/>
          <a:p>
            <a:pPr algn="l">
              <a:spcAft>
                <a:spcPts val="300"/>
              </a:spcAft>
              <a:defRPr sz="1200" b="0">
                <a:solidFill>
                  <a:srgbClr val="172336"/>
                </a:solidFill>
                <a:latin typeface="Aptos"/>
              </a:defRPr>
            </a:pPr>
            <a:r>
              <a:t>Bounded agent loop</a:t>
            </a:r>
          </a:p>
          <a:p>
            <a:pPr algn="l">
              <a:spcAft>
                <a:spcPts val="300"/>
              </a:spcAft>
              <a:defRPr sz="1200" b="0">
                <a:solidFill>
                  <a:srgbClr val="172336"/>
                </a:solidFill>
                <a:latin typeface="Aptos"/>
              </a:defRPr>
            </a:pPr>
            <a:r>
              <a:t>Authority + verification</a:t>
            </a:r>
          </a:p>
        </p:txBody>
      </p:sp>
      <p:sp>
        <p:nvSpPr>
          <p:cNvPr id="121" name="Rounded Rectangle 120"/>
          <p:cNvSpPr/>
          <p:nvPr/>
        </p:nvSpPr>
        <p:spPr>
          <a:xfrm>
            <a:off x="6035040" y="1755648"/>
            <a:ext cx="2679192" cy="1033271"/>
          </a:xfrm>
          <a:prstGeom prst="roundRect">
            <a:avLst>
              <a:gd name="adj" fmla="val 9000"/>
            </a:avLst>
          </a:prstGeom>
          <a:solidFill>
            <a:srgbClr val="EDF3FF"/>
          </a:solidFill>
          <a:ln w="10160">
            <a:solidFill>
              <a:srgbClr val="D8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6035040" y="1755648"/>
            <a:ext cx="41148" cy="1033271"/>
          </a:xfrm>
          <a:prstGeom prst="rect">
            <a:avLst/>
          </a:prstGeom>
          <a:solidFill>
            <a:srgbClr val="1684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6181344" y="1883664"/>
            <a:ext cx="2386584" cy="329184"/>
          </a:xfrm>
          <a:prstGeom prst="rect">
            <a:avLst/>
          </a:prstGeom>
          <a:noFill/>
        </p:spPr>
        <p:txBody>
          <a:bodyPr wrap="square" lIns="0" rIns="0" tIns="0" bIns="0">
            <a:spAutoFit/>
          </a:bodyPr>
          <a:lstStyle/>
          <a:p>
            <a:pPr algn="l">
              <a:spcAft>
                <a:spcPts val="300"/>
              </a:spcAft>
              <a:defRPr sz="1500" b="1">
                <a:solidFill>
                  <a:srgbClr val="16845A"/>
                </a:solidFill>
                <a:latin typeface="Aptos"/>
              </a:defRPr>
            </a:pPr>
            <a:r>
              <a:t>Gemini API</a:t>
            </a:r>
          </a:p>
        </p:txBody>
      </p:sp>
      <p:sp>
        <p:nvSpPr>
          <p:cNvPr id="124" name="TextBox 123"/>
          <p:cNvSpPr txBox="1"/>
          <p:nvPr/>
        </p:nvSpPr>
        <p:spPr>
          <a:xfrm>
            <a:off x="6181344" y="2322576"/>
            <a:ext cx="2386584" cy="393191"/>
          </a:xfrm>
          <a:prstGeom prst="rect">
            <a:avLst/>
          </a:prstGeom>
          <a:noFill/>
        </p:spPr>
        <p:txBody>
          <a:bodyPr wrap="square" lIns="0" rIns="0" tIns="0" bIns="0">
            <a:spAutoFit/>
          </a:bodyPr>
          <a:lstStyle/>
          <a:p>
            <a:pPr algn="l">
              <a:spcAft>
                <a:spcPts val="300"/>
              </a:spcAft>
              <a:defRPr sz="1200" b="0">
                <a:solidFill>
                  <a:srgbClr val="172336"/>
                </a:solidFill>
                <a:latin typeface="Aptos"/>
              </a:defRPr>
            </a:pPr>
            <a:r>
              <a:t>Structured recovery proposals</a:t>
            </a:r>
          </a:p>
          <a:p>
            <a:pPr algn="l">
              <a:spcAft>
                <a:spcPts val="300"/>
              </a:spcAft>
              <a:defRPr sz="1200" b="0">
                <a:solidFill>
                  <a:srgbClr val="172336"/>
                </a:solidFill>
                <a:latin typeface="Aptos"/>
              </a:defRPr>
            </a:pPr>
            <a:r>
              <a:t>API key stays server-side</a:t>
            </a:r>
          </a:p>
        </p:txBody>
      </p:sp>
      <p:cxnSp>
        <p:nvCxnSpPr>
          <p:cNvPr id="125" name="Connector 124"/>
          <p:cNvCxnSpPr/>
          <p:nvPr/>
        </p:nvCxnSpPr>
        <p:spPr>
          <a:xfrm>
            <a:off x="2450592" y="2276856"/>
            <a:ext cx="420624" cy="0"/>
          </a:xfrm>
          <a:prstGeom prst="line">
            <a:avLst/>
          </a:prstGeom>
          <a:ln w="19050">
            <a:solidFill>
              <a:srgbClr val="2864DF"/>
            </a:solidFill>
            <a:tailEnd type="triangle"/>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a:off x="5468112" y="2276856"/>
            <a:ext cx="530352" cy="0"/>
          </a:xfrm>
          <a:prstGeom prst="line">
            <a:avLst/>
          </a:prstGeom>
          <a:ln w="19050">
            <a:solidFill>
              <a:srgbClr val="2864DF"/>
            </a:solidFill>
            <a:tailEnd type="triangle"/>
          </a:ln>
        </p:spPr>
        <p:style>
          <a:lnRef idx="2">
            <a:schemeClr val="accent1"/>
          </a:lnRef>
          <a:fillRef idx="0">
            <a:schemeClr val="accent1"/>
          </a:fillRef>
          <a:effectRef idx="1">
            <a:schemeClr val="accent1"/>
          </a:effectRef>
          <a:fontRef idx="minor">
            <a:schemeClr val="tx1"/>
          </a:fontRef>
        </p:style>
      </p:cxnSp>
      <p:sp>
        <p:nvSpPr>
          <p:cNvPr id="127" name="Rounded Rectangle 126"/>
          <p:cNvSpPr/>
          <p:nvPr/>
        </p:nvSpPr>
        <p:spPr>
          <a:xfrm>
            <a:off x="2907792" y="3118104"/>
            <a:ext cx="2514600" cy="1060704"/>
          </a:xfrm>
          <a:prstGeom prst="roundRect">
            <a:avLst>
              <a:gd name="adj" fmla="val 9000"/>
            </a:avLst>
          </a:prstGeom>
          <a:solidFill>
            <a:srgbClr val="EDF3FF"/>
          </a:solidFill>
          <a:ln w="10160">
            <a:solidFill>
              <a:srgbClr val="D8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ectangle 127"/>
          <p:cNvSpPr/>
          <p:nvPr/>
        </p:nvSpPr>
        <p:spPr>
          <a:xfrm>
            <a:off x="2907792" y="3118104"/>
            <a:ext cx="41148" cy="1060704"/>
          </a:xfrm>
          <a:prstGeom prst="rect">
            <a:avLst/>
          </a:prstGeom>
          <a:solidFill>
            <a:srgbClr val="2864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3054096" y="3246120"/>
            <a:ext cx="2221992" cy="329184"/>
          </a:xfrm>
          <a:prstGeom prst="rect">
            <a:avLst/>
          </a:prstGeom>
          <a:noFill/>
        </p:spPr>
        <p:txBody>
          <a:bodyPr wrap="square" lIns="0" rIns="0" tIns="0" bIns="0">
            <a:spAutoFit/>
          </a:bodyPr>
          <a:lstStyle/>
          <a:p>
            <a:pPr algn="l">
              <a:spcAft>
                <a:spcPts val="300"/>
              </a:spcAft>
              <a:defRPr sz="1500" b="1">
                <a:solidFill>
                  <a:srgbClr val="2864DF"/>
                </a:solidFill>
                <a:latin typeface="Aptos"/>
              </a:defRPr>
            </a:pPr>
            <a:r>
              <a:t>Synthetic connectors</a:t>
            </a:r>
          </a:p>
        </p:txBody>
      </p:sp>
      <p:sp>
        <p:nvSpPr>
          <p:cNvPr id="130" name="TextBox 129"/>
          <p:cNvSpPr txBox="1"/>
          <p:nvPr/>
        </p:nvSpPr>
        <p:spPr>
          <a:xfrm>
            <a:off x="3054096" y="3685032"/>
            <a:ext cx="2221992" cy="420623"/>
          </a:xfrm>
          <a:prstGeom prst="rect">
            <a:avLst/>
          </a:prstGeom>
          <a:noFill/>
        </p:spPr>
        <p:txBody>
          <a:bodyPr wrap="square" lIns="0" rIns="0" tIns="0" bIns="0">
            <a:spAutoFit/>
          </a:bodyPr>
          <a:lstStyle/>
          <a:p>
            <a:pPr algn="l">
              <a:spcAft>
                <a:spcPts val="300"/>
              </a:spcAft>
              <a:defRPr sz="1200" b="0">
                <a:solidFill>
                  <a:srgbClr val="172336"/>
                </a:solidFill>
                <a:latin typeface="Aptos"/>
              </a:defRPr>
            </a:pPr>
            <a:r>
              <a:t>Payment ledger • inventory</a:t>
            </a:r>
          </a:p>
          <a:p>
            <a:pPr algn="l">
              <a:spcAft>
                <a:spcPts val="300"/>
              </a:spcAft>
              <a:defRPr sz="1200" b="0">
                <a:solidFill>
                  <a:srgbClr val="172336"/>
                </a:solidFill>
                <a:latin typeface="Aptos"/>
              </a:defRPr>
            </a:pPr>
            <a:r>
              <a:t>Order and dispatch</a:t>
            </a:r>
          </a:p>
        </p:txBody>
      </p:sp>
      <p:cxnSp>
        <p:nvCxnSpPr>
          <p:cNvPr id="131" name="Connector 130"/>
          <p:cNvCxnSpPr/>
          <p:nvPr/>
        </p:nvCxnSpPr>
        <p:spPr>
          <a:xfrm>
            <a:off x="4160520" y="2825496"/>
            <a:ext cx="0" cy="256032"/>
          </a:xfrm>
          <a:prstGeom prst="line">
            <a:avLst/>
          </a:prstGeom>
          <a:ln w="19050">
            <a:solidFill>
              <a:srgbClr val="2864DF"/>
            </a:solidFill>
            <a:tailEnd type="triangle"/>
          </a:ln>
        </p:spPr>
        <p:style>
          <a:lnRef idx="2">
            <a:schemeClr val="accent1"/>
          </a:lnRef>
          <a:fillRef idx="0">
            <a:schemeClr val="accent1"/>
          </a:fillRef>
          <a:effectRef idx="1">
            <a:schemeClr val="accent1"/>
          </a:effectRef>
          <a:fontRef idx="minor">
            <a:schemeClr val="tx1"/>
          </a:fontRef>
        </p:style>
      </p:cxnSp>
      <p:sp>
        <p:nvSpPr>
          <p:cNvPr id="132" name="Rounded Rectangle 131"/>
          <p:cNvSpPr/>
          <p:nvPr/>
        </p:nvSpPr>
        <p:spPr>
          <a:xfrm>
            <a:off x="420624" y="3172968"/>
            <a:ext cx="1993392" cy="265176"/>
          </a:xfrm>
          <a:prstGeom prst="roundRect">
            <a:avLst>
              <a:gd name="adj" fmla="val 9000"/>
            </a:avLst>
          </a:prstGeom>
          <a:solidFill>
            <a:srgbClr val="FFF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493776" y="3204972"/>
            <a:ext cx="1847088" cy="201168"/>
          </a:xfrm>
          <a:prstGeom prst="rect">
            <a:avLst/>
          </a:prstGeom>
          <a:noFill/>
        </p:spPr>
        <p:txBody>
          <a:bodyPr wrap="square" lIns="0" rIns="0" tIns="0" bIns="0">
            <a:spAutoFit/>
          </a:bodyPr>
          <a:lstStyle/>
          <a:p>
            <a:pPr algn="l">
              <a:spcAft>
                <a:spcPts val="300"/>
              </a:spcAft>
              <a:defRPr sz="950" b="1">
                <a:solidFill>
                  <a:srgbClr val="946000"/>
                </a:solidFill>
                <a:latin typeface="Aptos"/>
              </a:defRPr>
            </a:pPr>
            <a:r>
              <a:t>Firebase: pending</a:t>
            </a:r>
          </a:p>
        </p:txBody>
      </p:sp>
      <p:sp>
        <p:nvSpPr>
          <p:cNvPr id="134" name="Rounded Rectangle 133"/>
          <p:cNvSpPr/>
          <p:nvPr/>
        </p:nvSpPr>
        <p:spPr>
          <a:xfrm>
            <a:off x="420624" y="3611880"/>
            <a:ext cx="1993392" cy="265176"/>
          </a:xfrm>
          <a:prstGeom prst="roundRect">
            <a:avLst>
              <a:gd name="adj" fmla="val 9000"/>
            </a:avLst>
          </a:prstGeom>
          <a:solidFill>
            <a:srgbClr val="FFF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493776" y="3643884"/>
            <a:ext cx="1847088" cy="201168"/>
          </a:xfrm>
          <a:prstGeom prst="rect">
            <a:avLst/>
          </a:prstGeom>
          <a:noFill/>
        </p:spPr>
        <p:txBody>
          <a:bodyPr wrap="square" lIns="0" rIns="0" tIns="0" bIns="0">
            <a:spAutoFit/>
          </a:bodyPr>
          <a:lstStyle/>
          <a:p>
            <a:pPr algn="l">
              <a:spcAft>
                <a:spcPts val="300"/>
              </a:spcAft>
              <a:defRPr sz="950" b="1">
                <a:solidFill>
                  <a:srgbClr val="946000"/>
                </a:solidFill>
                <a:latin typeface="Aptos"/>
              </a:defRPr>
            </a:pPr>
            <a:r>
              <a:t>Cloud Run: pending</a:t>
            </a:r>
          </a:p>
        </p:txBody>
      </p:sp>
      <p:sp>
        <p:nvSpPr>
          <p:cNvPr id="136" name="Rounded Rectangle 135"/>
          <p:cNvSpPr/>
          <p:nvPr/>
        </p:nvSpPr>
        <p:spPr>
          <a:xfrm>
            <a:off x="6135624" y="3172968"/>
            <a:ext cx="2459736" cy="265176"/>
          </a:xfrm>
          <a:prstGeom prst="roundRect">
            <a:avLst>
              <a:gd name="adj" fmla="val 9000"/>
            </a:avLst>
          </a:prstGeom>
          <a:solidFill>
            <a:srgbClr val="FFF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6208776" y="3204972"/>
            <a:ext cx="2313432" cy="201168"/>
          </a:xfrm>
          <a:prstGeom prst="rect">
            <a:avLst/>
          </a:prstGeom>
          <a:noFill/>
        </p:spPr>
        <p:txBody>
          <a:bodyPr wrap="square" lIns="0" rIns="0" tIns="0" bIns="0">
            <a:spAutoFit/>
          </a:bodyPr>
          <a:lstStyle/>
          <a:p>
            <a:pPr algn="l">
              <a:spcAft>
                <a:spcPts val="300"/>
              </a:spcAft>
              <a:defRPr sz="950" b="1">
                <a:solidFill>
                  <a:srgbClr val="946000"/>
                </a:solidFill>
                <a:latin typeface="Aptos"/>
              </a:defRPr>
            </a:pPr>
            <a:r>
              <a:t>Firestore: runtime pending</a:t>
            </a:r>
          </a:p>
        </p:txBody>
      </p:sp>
      <p:sp>
        <p:nvSpPr>
          <p:cNvPr id="138" name="TextBox 137"/>
          <p:cNvSpPr txBox="1"/>
          <p:nvPr/>
        </p:nvSpPr>
        <p:spPr>
          <a:xfrm>
            <a:off x="6117336" y="3639312"/>
            <a:ext cx="2560320" cy="713232"/>
          </a:xfrm>
          <a:prstGeom prst="rect">
            <a:avLst/>
          </a:prstGeom>
          <a:noFill/>
        </p:spPr>
        <p:txBody>
          <a:bodyPr wrap="square" lIns="0" rIns="0" tIns="0" bIns="0">
            <a:spAutoFit/>
          </a:bodyPr>
          <a:lstStyle/>
          <a:p>
            <a:pPr algn="l">
              <a:spcAft>
                <a:spcPts val="300"/>
              </a:spcAft>
              <a:defRPr sz="1200" b="0">
                <a:solidFill>
                  <a:srgbClr val="53637C"/>
                </a:solidFill>
                <a:latin typeface="Aptos"/>
              </a:defRPr>
            </a:pPr>
            <a:r>
              <a:t>Audit persistence is separate from the simulated business services.</a:t>
            </a:r>
          </a:p>
        </p:txBody>
      </p:sp>
      <p:sp>
        <p:nvSpPr>
          <p:cNvPr id="139" name="TextBox 138"/>
          <p:cNvSpPr txBox="1"/>
          <p:nvPr/>
        </p:nvSpPr>
        <p:spPr>
          <a:xfrm>
            <a:off x="356616" y="4700016"/>
            <a:ext cx="7936992" cy="210312"/>
          </a:xfrm>
          <a:prstGeom prst="rect">
            <a:avLst/>
          </a:prstGeom>
          <a:noFill/>
        </p:spPr>
        <p:txBody>
          <a:bodyPr wrap="square" lIns="0" rIns="0" tIns="0" bIns="0">
            <a:spAutoFit/>
          </a:bodyPr>
          <a:lstStyle/>
          <a:p>
            <a:pPr algn="l">
              <a:spcAft>
                <a:spcPts val="300"/>
              </a:spcAft>
              <a:defRPr sz="850" b="0">
                <a:solidFill>
                  <a:srgbClr val="53637C"/>
                </a:solidFill>
                <a:latin typeface="Aptos"/>
              </a:defRPr>
            </a:pPr>
            <a:r>
              <a:t>Current backend: temporary Google Cloud Shell demo. Persistent Cloud Run hosting is not yet deployed.</a:t>
            </a:r>
          </a:p>
        </p:txBody>
      </p:sp>
      <p:sp>
        <p:nvSpPr>
          <p:cNvPr id="140" name="TextBox 139"/>
          <p:cNvSpPr txBox="1"/>
          <p:nvPr/>
        </p:nvSpPr>
        <p:spPr>
          <a:xfrm>
            <a:off x="8394192" y="4700016"/>
            <a:ext cx="365760" cy="210312"/>
          </a:xfrm>
          <a:prstGeom prst="rect">
            <a:avLst/>
          </a:prstGeom>
          <a:noFill/>
        </p:spPr>
        <p:txBody>
          <a:bodyPr wrap="square" lIns="0" rIns="0" tIns="0" bIns="0">
            <a:spAutoFit/>
          </a:bodyPr>
          <a:lstStyle/>
          <a:p>
            <a:pPr algn="r">
              <a:spcAft>
                <a:spcPts val="300"/>
              </a:spcAft>
              <a:defRPr sz="900" b="0">
                <a:solidFill>
                  <a:srgbClr val="53637C"/>
                </a:solidFill>
                <a:latin typeface="Aptos"/>
              </a:defRPr>
            </a:pPr>
            <a:r>
              <a:t>08</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pic>
        <p:nvPicPr>
          <p:cNvPr id="116" name="Google Shape;116;p21"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17" name="Google Shape;117;p21"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8" name="Google Shape;118;p21"/>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 name="Google Shape;119;p21"/>
          <p:cNvSpPr txBox="1"/>
          <p:nvPr/>
        </p:nvSpPr>
        <p:spPr>
          <a:xfrm>
            <a:off x="356616" y="704088"/>
            <a:ext cx="8348472" cy="402336"/>
          </a:xfrm>
          <a:prstGeom prst="rect">
            <a:avLst/>
          </a:prstGeom>
          <a:noFill/>
          <a:ln>
            <a:noFill/>
          </a:ln>
        </p:spPr>
        <p:txBody>
          <a:bodyPr anchorCtr="0" anchor="t" bIns="91425" lIns="0" spcFirstLastPara="1" rIns="91425" wrap="square" tIns="0">
            <a:noAutofit/>
          </a:bodyPr>
          <a:lstStyle/>
          <a:p>
            <a:pPr indent="0" lvl="0" marL="0" rtl="0" algn="l">
              <a:spcBef>
                <a:spcPts val="0"/>
              </a:spcBef>
              <a:spcAft>
                <a:spcPts val="0"/>
              </a:spcAft>
              <a:buNone/>
              <a:defRPr sz="2300" b="1">
                <a:solidFill>
                  <a:srgbClr val="172336"/>
                </a:solidFill>
                <a:latin typeface="Aptos Display"/>
              </a:defRPr>
            </a:pPr>
            <a:r>
              <a:t>Technologies to be used in the solution</a:t>
            </a:r>
            <a:endParaRPr sz="1600">
              <a:latin typeface="Google Sans Flex Medium"/>
              <a:ea typeface="Google Sans Flex Medium"/>
              <a:cs typeface="Google Sans Flex Medium"/>
              <a:sym typeface="Google Sans Flex Medium"/>
            </a:endParaRPr>
          </a:p>
        </p:txBody>
      </p:sp>
      <p:sp>
        <p:nvSpPr>
          <p:cNvPr id="120" name="TextBox 119"/>
          <p:cNvSpPr txBox="1"/>
          <p:nvPr/>
        </p:nvSpPr>
        <p:spPr>
          <a:xfrm>
            <a:off x="365760" y="1161288"/>
            <a:ext cx="8321040" cy="365760"/>
          </a:xfrm>
          <a:prstGeom prst="rect">
            <a:avLst/>
          </a:prstGeom>
          <a:noFill/>
        </p:spPr>
        <p:txBody>
          <a:bodyPr wrap="square" lIns="0" rIns="0" tIns="0" bIns="0">
            <a:spAutoFit/>
          </a:bodyPr>
          <a:lstStyle/>
          <a:p>
            <a:pPr algn="l">
              <a:spcAft>
                <a:spcPts val="300"/>
              </a:spcAft>
              <a:defRPr sz="1200" b="0">
                <a:solidFill>
                  <a:srgbClr val="53637C"/>
                </a:solidFill>
                <a:latin typeface="Aptos"/>
              </a:defRPr>
            </a:pPr>
            <a:r>
              <a:t>The Google services have distinct roles; the pitch does not treat planned services as deployed.</a:t>
            </a:r>
          </a:p>
        </p:txBody>
      </p:sp>
      <p:sp>
        <p:nvSpPr>
          <p:cNvPr id="121" name="Rectangle 120"/>
          <p:cNvSpPr/>
          <p:nvPr/>
        </p:nvSpPr>
        <p:spPr>
          <a:xfrm>
            <a:off x="393192" y="1728216"/>
            <a:ext cx="8321040" cy="397764"/>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530352" y="1787651"/>
            <a:ext cx="1783080" cy="274320"/>
          </a:xfrm>
          <a:prstGeom prst="rect">
            <a:avLst/>
          </a:prstGeom>
          <a:noFill/>
        </p:spPr>
        <p:txBody>
          <a:bodyPr wrap="square" lIns="0" rIns="0" tIns="0" bIns="0">
            <a:spAutoFit/>
          </a:bodyPr>
          <a:lstStyle/>
          <a:p>
            <a:pPr algn="l">
              <a:spcAft>
                <a:spcPts val="300"/>
              </a:spcAft>
              <a:defRPr sz="1200" b="1">
                <a:solidFill>
                  <a:srgbClr val="172336"/>
                </a:solidFill>
                <a:latin typeface="Aptos"/>
              </a:defRPr>
            </a:pPr>
            <a:r>
              <a:t>Gemini API</a:t>
            </a:r>
          </a:p>
        </p:txBody>
      </p:sp>
      <p:sp>
        <p:nvSpPr>
          <p:cNvPr id="123" name="TextBox 122"/>
          <p:cNvSpPr txBox="1"/>
          <p:nvPr/>
        </p:nvSpPr>
        <p:spPr>
          <a:xfrm>
            <a:off x="2304288" y="1787651"/>
            <a:ext cx="4279392" cy="274320"/>
          </a:xfrm>
          <a:prstGeom prst="rect">
            <a:avLst/>
          </a:prstGeom>
          <a:noFill/>
        </p:spPr>
        <p:txBody>
          <a:bodyPr wrap="square" lIns="0" rIns="0" tIns="0" bIns="0">
            <a:spAutoFit/>
          </a:bodyPr>
          <a:lstStyle/>
          <a:p>
            <a:pPr algn="l">
              <a:spcAft>
                <a:spcPts val="300"/>
              </a:spcAft>
              <a:defRPr sz="1130" b="0">
                <a:solidFill>
                  <a:srgbClr val="53637C"/>
                </a:solidFill>
                <a:latin typeface="Aptos"/>
              </a:defRPr>
            </a:pPr>
            <a:r>
              <a:t>Evidence-linked recovery proposal and conflict replanning</a:t>
            </a:r>
          </a:p>
        </p:txBody>
      </p:sp>
      <p:sp>
        <p:nvSpPr>
          <p:cNvPr id="124" name="Rounded Rectangle 123"/>
          <p:cNvSpPr/>
          <p:nvPr/>
        </p:nvSpPr>
        <p:spPr>
          <a:xfrm>
            <a:off x="6766560" y="1786737"/>
            <a:ext cx="1801368" cy="265176"/>
          </a:xfrm>
          <a:prstGeom prst="roundRect">
            <a:avLst>
              <a:gd name="adj" fmla="val 9000"/>
            </a:avLst>
          </a:prstGeom>
          <a:solidFill>
            <a:srgbClr val="EBF7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6839712" y="1818741"/>
            <a:ext cx="1655064" cy="201168"/>
          </a:xfrm>
          <a:prstGeom prst="rect">
            <a:avLst/>
          </a:prstGeom>
          <a:noFill/>
        </p:spPr>
        <p:txBody>
          <a:bodyPr wrap="square" lIns="0" rIns="0" tIns="0" bIns="0">
            <a:spAutoFit/>
          </a:bodyPr>
          <a:lstStyle/>
          <a:p>
            <a:pPr algn="l">
              <a:spcAft>
                <a:spcPts val="300"/>
              </a:spcAft>
              <a:defRPr sz="950" b="1">
                <a:solidFill>
                  <a:srgbClr val="16845A"/>
                </a:solidFill>
                <a:latin typeface="Aptos"/>
              </a:defRPr>
            </a:pPr>
            <a:r>
              <a:t>Live suite passed</a:t>
            </a:r>
          </a:p>
        </p:txBody>
      </p:sp>
      <p:sp>
        <p:nvSpPr>
          <p:cNvPr id="126" name="Rectangle 125"/>
          <p:cNvSpPr/>
          <p:nvPr/>
        </p:nvSpPr>
        <p:spPr>
          <a:xfrm>
            <a:off x="393192" y="2162556"/>
            <a:ext cx="8321040" cy="3977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530352" y="2221991"/>
            <a:ext cx="1783080" cy="274320"/>
          </a:xfrm>
          <a:prstGeom prst="rect">
            <a:avLst/>
          </a:prstGeom>
          <a:noFill/>
        </p:spPr>
        <p:txBody>
          <a:bodyPr wrap="square" lIns="0" rIns="0" tIns="0" bIns="0">
            <a:spAutoFit/>
          </a:bodyPr>
          <a:lstStyle/>
          <a:p>
            <a:pPr algn="l">
              <a:spcAft>
                <a:spcPts val="300"/>
              </a:spcAft>
              <a:defRPr sz="1200" b="1">
                <a:solidFill>
                  <a:srgbClr val="172336"/>
                </a:solidFill>
                <a:latin typeface="Aptos"/>
              </a:defRPr>
            </a:pPr>
            <a:r>
              <a:t>Firebase Hosting</a:t>
            </a:r>
          </a:p>
        </p:txBody>
      </p:sp>
      <p:sp>
        <p:nvSpPr>
          <p:cNvPr id="128" name="TextBox 127"/>
          <p:cNvSpPr txBox="1"/>
          <p:nvPr/>
        </p:nvSpPr>
        <p:spPr>
          <a:xfrm>
            <a:off x="2304288" y="2221991"/>
            <a:ext cx="4279392" cy="274320"/>
          </a:xfrm>
          <a:prstGeom prst="rect">
            <a:avLst/>
          </a:prstGeom>
          <a:noFill/>
        </p:spPr>
        <p:txBody>
          <a:bodyPr wrap="square" lIns="0" rIns="0" tIns="0" bIns="0">
            <a:spAutoFit/>
          </a:bodyPr>
          <a:lstStyle/>
          <a:p>
            <a:pPr algn="l">
              <a:spcAft>
                <a:spcPts val="300"/>
              </a:spcAft>
              <a:defRPr sz="1130" b="0">
                <a:solidFill>
                  <a:srgbClr val="53637C"/>
                </a:solidFill>
                <a:latin typeface="Aptos"/>
              </a:defRPr>
            </a:pPr>
            <a:r>
              <a:t>Public submission portal and prototype entry link</a:t>
            </a:r>
          </a:p>
        </p:txBody>
      </p:sp>
      <p:sp>
        <p:nvSpPr>
          <p:cNvPr id="129" name="Rounded Rectangle 128"/>
          <p:cNvSpPr/>
          <p:nvPr/>
        </p:nvSpPr>
        <p:spPr>
          <a:xfrm>
            <a:off x="6766560" y="2221077"/>
            <a:ext cx="1801368" cy="265176"/>
          </a:xfrm>
          <a:prstGeom prst="roundRect">
            <a:avLst>
              <a:gd name="adj" fmla="val 9000"/>
            </a:avLst>
          </a:prstGeom>
          <a:solidFill>
            <a:srgbClr val="FFF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6839712" y="2253081"/>
            <a:ext cx="1655064" cy="201168"/>
          </a:xfrm>
          <a:prstGeom prst="rect">
            <a:avLst/>
          </a:prstGeom>
          <a:noFill/>
        </p:spPr>
        <p:txBody>
          <a:bodyPr wrap="square" lIns="0" rIns="0" tIns="0" bIns="0">
            <a:spAutoFit/>
          </a:bodyPr>
          <a:lstStyle/>
          <a:p>
            <a:pPr algn="l">
              <a:spcAft>
                <a:spcPts val="300"/>
              </a:spcAft>
              <a:defRPr sz="950" b="1">
                <a:solidFill>
                  <a:srgbClr val="946000"/>
                </a:solidFill>
                <a:latin typeface="Aptos"/>
              </a:defRPr>
            </a:pPr>
            <a:r>
              <a:t>Pending deployment</a:t>
            </a:r>
          </a:p>
        </p:txBody>
      </p:sp>
      <p:sp>
        <p:nvSpPr>
          <p:cNvPr id="131" name="Rectangle 130"/>
          <p:cNvSpPr/>
          <p:nvPr/>
        </p:nvSpPr>
        <p:spPr>
          <a:xfrm>
            <a:off x="393192" y="2596896"/>
            <a:ext cx="8321040" cy="397764"/>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530352" y="2656332"/>
            <a:ext cx="1783080" cy="274320"/>
          </a:xfrm>
          <a:prstGeom prst="rect">
            <a:avLst/>
          </a:prstGeom>
          <a:noFill/>
        </p:spPr>
        <p:txBody>
          <a:bodyPr wrap="square" lIns="0" rIns="0" tIns="0" bIns="0">
            <a:spAutoFit/>
          </a:bodyPr>
          <a:lstStyle/>
          <a:p>
            <a:pPr algn="l">
              <a:spcAft>
                <a:spcPts val="300"/>
              </a:spcAft>
              <a:defRPr sz="1200" b="1">
                <a:solidFill>
                  <a:srgbClr val="172336"/>
                </a:solidFill>
                <a:latin typeface="Aptos"/>
              </a:defRPr>
            </a:pPr>
            <a:r>
              <a:t>Firestore</a:t>
            </a:r>
          </a:p>
        </p:txBody>
      </p:sp>
      <p:sp>
        <p:nvSpPr>
          <p:cNvPr id="133" name="TextBox 132"/>
          <p:cNvSpPr txBox="1"/>
          <p:nvPr/>
        </p:nvSpPr>
        <p:spPr>
          <a:xfrm>
            <a:off x="2304288" y="2656332"/>
            <a:ext cx="4279392" cy="274320"/>
          </a:xfrm>
          <a:prstGeom prst="rect">
            <a:avLst/>
          </a:prstGeom>
          <a:noFill/>
        </p:spPr>
        <p:txBody>
          <a:bodyPr wrap="square" lIns="0" rIns="0" tIns="0" bIns="0">
            <a:spAutoFit/>
          </a:bodyPr>
          <a:lstStyle/>
          <a:p>
            <a:pPr algn="l">
              <a:spcAft>
                <a:spcPts val="300"/>
              </a:spcAft>
              <a:defRPr sz="1130" b="0">
                <a:solidFill>
                  <a:srgbClr val="53637C"/>
                </a:solidFill>
                <a:latin typeface="Aptos"/>
              </a:defRPr>
            </a:pPr>
            <a:r>
              <a:t>Persist completed run evidence for later review</a:t>
            </a:r>
          </a:p>
        </p:txBody>
      </p:sp>
      <p:sp>
        <p:nvSpPr>
          <p:cNvPr id="134" name="Rounded Rectangle 133"/>
          <p:cNvSpPr/>
          <p:nvPr/>
        </p:nvSpPr>
        <p:spPr>
          <a:xfrm>
            <a:off x="6766560" y="2655417"/>
            <a:ext cx="1801368" cy="265176"/>
          </a:xfrm>
          <a:prstGeom prst="roundRect">
            <a:avLst>
              <a:gd name="adj" fmla="val 9000"/>
            </a:avLst>
          </a:prstGeom>
          <a:solidFill>
            <a:srgbClr val="FFF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6839712" y="2687421"/>
            <a:ext cx="1655064" cy="201168"/>
          </a:xfrm>
          <a:prstGeom prst="rect">
            <a:avLst/>
          </a:prstGeom>
          <a:noFill/>
        </p:spPr>
        <p:txBody>
          <a:bodyPr wrap="square" lIns="0" rIns="0" tIns="0" bIns="0">
            <a:spAutoFit/>
          </a:bodyPr>
          <a:lstStyle/>
          <a:p>
            <a:pPr algn="l">
              <a:spcAft>
                <a:spcPts val="300"/>
              </a:spcAft>
              <a:defRPr sz="950" b="1">
                <a:solidFill>
                  <a:srgbClr val="946000"/>
                </a:solidFill>
                <a:latin typeface="Aptos"/>
              </a:defRPr>
            </a:pPr>
            <a:r>
              <a:t>Runtime check pending</a:t>
            </a:r>
          </a:p>
        </p:txBody>
      </p:sp>
      <p:sp>
        <p:nvSpPr>
          <p:cNvPr id="136" name="Rectangle 135"/>
          <p:cNvSpPr/>
          <p:nvPr/>
        </p:nvSpPr>
        <p:spPr>
          <a:xfrm>
            <a:off x="393192" y="3031235"/>
            <a:ext cx="8321040" cy="3977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530352" y="3090671"/>
            <a:ext cx="1783080" cy="274320"/>
          </a:xfrm>
          <a:prstGeom prst="rect">
            <a:avLst/>
          </a:prstGeom>
          <a:noFill/>
        </p:spPr>
        <p:txBody>
          <a:bodyPr wrap="square" lIns="0" rIns="0" tIns="0" bIns="0">
            <a:spAutoFit/>
          </a:bodyPr>
          <a:lstStyle/>
          <a:p>
            <a:pPr algn="l">
              <a:spcAft>
                <a:spcPts val="300"/>
              </a:spcAft>
              <a:defRPr sz="1200" b="1">
                <a:solidFill>
                  <a:srgbClr val="172336"/>
                </a:solidFill>
                <a:latin typeface="Aptos"/>
              </a:defRPr>
            </a:pPr>
            <a:r>
              <a:t>Cloud Run</a:t>
            </a:r>
          </a:p>
        </p:txBody>
      </p:sp>
      <p:sp>
        <p:nvSpPr>
          <p:cNvPr id="138" name="TextBox 137"/>
          <p:cNvSpPr txBox="1"/>
          <p:nvPr/>
        </p:nvSpPr>
        <p:spPr>
          <a:xfrm>
            <a:off x="2304288" y="3090671"/>
            <a:ext cx="4279392" cy="274320"/>
          </a:xfrm>
          <a:prstGeom prst="rect">
            <a:avLst/>
          </a:prstGeom>
          <a:noFill/>
        </p:spPr>
        <p:txBody>
          <a:bodyPr wrap="square" lIns="0" rIns="0" tIns="0" bIns="0">
            <a:spAutoFit/>
          </a:bodyPr>
          <a:lstStyle/>
          <a:p>
            <a:pPr algn="l">
              <a:spcAft>
                <a:spcPts val="300"/>
              </a:spcAft>
              <a:defRPr sz="1130" b="0">
                <a:solidFill>
                  <a:srgbClr val="53637C"/>
                </a:solidFill>
                <a:latin typeface="Aptos"/>
              </a:defRPr>
            </a:pPr>
            <a:r>
              <a:t>Managed runtime for the FastAPI service</a:t>
            </a:r>
          </a:p>
        </p:txBody>
      </p:sp>
      <p:sp>
        <p:nvSpPr>
          <p:cNvPr id="139" name="Rounded Rectangle 138"/>
          <p:cNvSpPr/>
          <p:nvPr/>
        </p:nvSpPr>
        <p:spPr>
          <a:xfrm>
            <a:off x="6766560" y="3089757"/>
            <a:ext cx="1801368" cy="265176"/>
          </a:xfrm>
          <a:prstGeom prst="roundRect">
            <a:avLst>
              <a:gd name="adj" fmla="val 9000"/>
            </a:avLst>
          </a:prstGeom>
          <a:solidFill>
            <a:srgbClr val="FFF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6839712" y="3121761"/>
            <a:ext cx="1655064" cy="201168"/>
          </a:xfrm>
          <a:prstGeom prst="rect">
            <a:avLst/>
          </a:prstGeom>
          <a:noFill/>
        </p:spPr>
        <p:txBody>
          <a:bodyPr wrap="square" lIns="0" rIns="0" tIns="0" bIns="0">
            <a:spAutoFit/>
          </a:bodyPr>
          <a:lstStyle/>
          <a:p>
            <a:pPr algn="l">
              <a:spcAft>
                <a:spcPts val="300"/>
              </a:spcAft>
              <a:defRPr sz="950" b="1">
                <a:solidFill>
                  <a:srgbClr val="946000"/>
                </a:solidFill>
                <a:latin typeface="Aptos"/>
              </a:defRPr>
            </a:pPr>
            <a:r>
              <a:t>Pending deployment</a:t>
            </a:r>
          </a:p>
        </p:txBody>
      </p:sp>
      <p:sp>
        <p:nvSpPr>
          <p:cNvPr id="141" name="Rectangle 140"/>
          <p:cNvSpPr/>
          <p:nvPr/>
        </p:nvSpPr>
        <p:spPr>
          <a:xfrm>
            <a:off x="393192" y="3465576"/>
            <a:ext cx="8321040" cy="397764"/>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530352" y="3525012"/>
            <a:ext cx="1783080" cy="274320"/>
          </a:xfrm>
          <a:prstGeom prst="rect">
            <a:avLst/>
          </a:prstGeom>
          <a:noFill/>
        </p:spPr>
        <p:txBody>
          <a:bodyPr wrap="square" lIns="0" rIns="0" tIns="0" bIns="0">
            <a:spAutoFit/>
          </a:bodyPr>
          <a:lstStyle/>
          <a:p>
            <a:pPr algn="l">
              <a:spcAft>
                <a:spcPts val="300"/>
              </a:spcAft>
              <a:defRPr sz="1200" b="1">
                <a:solidFill>
                  <a:srgbClr val="172336"/>
                </a:solidFill>
                <a:latin typeface="Aptos"/>
              </a:defRPr>
            </a:pPr>
            <a:r>
              <a:t>React / Three.js</a:t>
            </a:r>
          </a:p>
        </p:txBody>
      </p:sp>
      <p:sp>
        <p:nvSpPr>
          <p:cNvPr id="143" name="TextBox 142"/>
          <p:cNvSpPr txBox="1"/>
          <p:nvPr/>
        </p:nvSpPr>
        <p:spPr>
          <a:xfrm>
            <a:off x="2304288" y="3525012"/>
            <a:ext cx="4279392" cy="274320"/>
          </a:xfrm>
          <a:prstGeom prst="rect">
            <a:avLst/>
          </a:prstGeom>
          <a:noFill/>
        </p:spPr>
        <p:txBody>
          <a:bodyPr wrap="square" lIns="0" rIns="0" tIns="0" bIns="0">
            <a:spAutoFit/>
          </a:bodyPr>
          <a:lstStyle/>
          <a:p>
            <a:pPr algn="l">
              <a:spcAft>
                <a:spcPts val="300"/>
              </a:spcAft>
              <a:defRPr sz="1130" b="0">
                <a:solidFill>
                  <a:srgbClr val="53637C"/>
                </a:solidFill>
                <a:latin typeface="Aptos"/>
              </a:defRPr>
            </a:pPr>
            <a:r>
              <a:t>Responsive recovery desk, service views and replay</a:t>
            </a:r>
          </a:p>
        </p:txBody>
      </p:sp>
      <p:sp>
        <p:nvSpPr>
          <p:cNvPr id="144" name="Rounded Rectangle 143"/>
          <p:cNvSpPr/>
          <p:nvPr/>
        </p:nvSpPr>
        <p:spPr>
          <a:xfrm>
            <a:off x="6766560" y="3524097"/>
            <a:ext cx="1801368" cy="265176"/>
          </a:xfrm>
          <a:prstGeom prst="roundRect">
            <a:avLst>
              <a:gd name="adj" fmla="val 9000"/>
            </a:avLst>
          </a:prstGeom>
          <a:solidFill>
            <a:srgbClr val="EBF7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6839712" y="3556101"/>
            <a:ext cx="1655064" cy="201168"/>
          </a:xfrm>
          <a:prstGeom prst="rect">
            <a:avLst/>
          </a:prstGeom>
          <a:noFill/>
        </p:spPr>
        <p:txBody>
          <a:bodyPr wrap="square" lIns="0" rIns="0" tIns="0" bIns="0">
            <a:spAutoFit/>
          </a:bodyPr>
          <a:lstStyle/>
          <a:p>
            <a:pPr algn="l">
              <a:spcAft>
                <a:spcPts val="300"/>
              </a:spcAft>
              <a:defRPr sz="950" b="1">
                <a:solidFill>
                  <a:srgbClr val="16845A"/>
                </a:solidFill>
                <a:latin typeface="Aptos"/>
              </a:defRPr>
            </a:pPr>
            <a:r>
              <a:t>Implemented</a:t>
            </a:r>
          </a:p>
        </p:txBody>
      </p:sp>
      <p:sp>
        <p:nvSpPr>
          <p:cNvPr id="146" name="Rectangle 145"/>
          <p:cNvSpPr/>
          <p:nvPr/>
        </p:nvSpPr>
        <p:spPr>
          <a:xfrm>
            <a:off x="393192" y="3899915"/>
            <a:ext cx="8321040" cy="3977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530352" y="3959352"/>
            <a:ext cx="1783080" cy="274320"/>
          </a:xfrm>
          <a:prstGeom prst="rect">
            <a:avLst/>
          </a:prstGeom>
          <a:noFill/>
        </p:spPr>
        <p:txBody>
          <a:bodyPr wrap="square" lIns="0" rIns="0" tIns="0" bIns="0">
            <a:spAutoFit/>
          </a:bodyPr>
          <a:lstStyle/>
          <a:p>
            <a:pPr algn="l">
              <a:spcAft>
                <a:spcPts val="300"/>
              </a:spcAft>
              <a:defRPr sz="1200" b="1">
                <a:solidFill>
                  <a:srgbClr val="172336"/>
                </a:solidFill>
                <a:latin typeface="Aptos"/>
              </a:defRPr>
            </a:pPr>
            <a:r>
              <a:t>FastAPI / Pydantic</a:t>
            </a:r>
          </a:p>
        </p:txBody>
      </p:sp>
      <p:sp>
        <p:nvSpPr>
          <p:cNvPr id="148" name="TextBox 147"/>
          <p:cNvSpPr txBox="1"/>
          <p:nvPr/>
        </p:nvSpPr>
        <p:spPr>
          <a:xfrm>
            <a:off x="2304288" y="3959352"/>
            <a:ext cx="4279392" cy="274320"/>
          </a:xfrm>
          <a:prstGeom prst="rect">
            <a:avLst/>
          </a:prstGeom>
          <a:noFill/>
        </p:spPr>
        <p:txBody>
          <a:bodyPr wrap="square" lIns="0" rIns="0" tIns="0" bIns="0">
            <a:spAutoFit/>
          </a:bodyPr>
          <a:lstStyle/>
          <a:p>
            <a:pPr algn="l">
              <a:spcAft>
                <a:spcPts val="300"/>
              </a:spcAft>
              <a:defRPr sz="1130" b="0">
                <a:solidFill>
                  <a:srgbClr val="53637C"/>
                </a:solidFill>
                <a:latin typeface="Aptos"/>
              </a:defRPr>
            </a:pPr>
            <a:r>
              <a:t>Typed proposals, execution guards and verification</a:t>
            </a:r>
          </a:p>
        </p:txBody>
      </p:sp>
      <p:sp>
        <p:nvSpPr>
          <p:cNvPr id="149" name="Rounded Rectangle 148"/>
          <p:cNvSpPr/>
          <p:nvPr/>
        </p:nvSpPr>
        <p:spPr>
          <a:xfrm>
            <a:off x="6766560" y="3958437"/>
            <a:ext cx="1801368" cy="265176"/>
          </a:xfrm>
          <a:prstGeom prst="roundRect">
            <a:avLst>
              <a:gd name="adj" fmla="val 9000"/>
            </a:avLst>
          </a:prstGeom>
          <a:solidFill>
            <a:srgbClr val="EBF7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6839712" y="3990441"/>
            <a:ext cx="1655064" cy="201168"/>
          </a:xfrm>
          <a:prstGeom prst="rect">
            <a:avLst/>
          </a:prstGeom>
          <a:noFill/>
        </p:spPr>
        <p:txBody>
          <a:bodyPr wrap="square" lIns="0" rIns="0" tIns="0" bIns="0">
            <a:spAutoFit/>
          </a:bodyPr>
          <a:lstStyle/>
          <a:p>
            <a:pPr algn="l">
              <a:spcAft>
                <a:spcPts val="300"/>
              </a:spcAft>
              <a:defRPr sz="950" b="1">
                <a:solidFill>
                  <a:srgbClr val="16845A"/>
                </a:solidFill>
                <a:latin typeface="Aptos"/>
              </a:defRPr>
            </a:pPr>
            <a:r>
              <a:t>Implemented</a:t>
            </a:r>
          </a:p>
        </p:txBody>
      </p:sp>
      <p:sp>
        <p:nvSpPr>
          <p:cNvPr id="151" name="TextBox 150"/>
          <p:cNvSpPr txBox="1"/>
          <p:nvPr/>
        </p:nvSpPr>
        <p:spPr>
          <a:xfrm>
            <a:off x="466344" y="4480560"/>
            <a:ext cx="8129016" cy="228600"/>
          </a:xfrm>
          <a:prstGeom prst="rect">
            <a:avLst/>
          </a:prstGeom>
          <a:noFill/>
        </p:spPr>
        <p:txBody>
          <a:bodyPr wrap="square" lIns="0" rIns="0" tIns="0" bIns="0">
            <a:spAutoFit/>
          </a:bodyPr>
          <a:lstStyle/>
          <a:p>
            <a:pPr algn="l">
              <a:spcAft>
                <a:spcPts val="300"/>
              </a:spcAft>
              <a:defRPr sz="1019" b="0">
                <a:solidFill>
                  <a:srgbClr val="53637C"/>
                </a:solidFill>
                <a:latin typeface="Aptos"/>
              </a:defRPr>
            </a:pPr>
            <a:r>
              <a:t>Verified model: gemini-3.5-flash-lite. No automatic fallback to a paid model.</a:t>
            </a:r>
          </a:p>
        </p:txBody>
      </p:sp>
      <p:sp>
        <p:nvSpPr>
          <p:cNvPr id="152" name="TextBox 151"/>
          <p:cNvSpPr txBox="1"/>
          <p:nvPr/>
        </p:nvSpPr>
        <p:spPr>
          <a:xfrm>
            <a:off x="356616" y="4700016"/>
            <a:ext cx="7936992" cy="210312"/>
          </a:xfrm>
          <a:prstGeom prst="rect">
            <a:avLst/>
          </a:prstGeom>
          <a:noFill/>
        </p:spPr>
        <p:txBody>
          <a:bodyPr wrap="square" lIns="0" rIns="0" tIns="0" bIns="0">
            <a:spAutoFit/>
          </a:bodyPr>
          <a:lstStyle/>
          <a:p>
            <a:pPr algn="l">
              <a:spcAft>
                <a:spcPts val="300"/>
              </a:spcAft>
              <a:defRPr sz="850" b="0">
                <a:solidFill>
                  <a:srgbClr val="53637C"/>
                </a:solidFill>
                <a:latin typeface="Aptos"/>
              </a:defRPr>
            </a:pPr>
            <a:r>
              <a:t>Only explicit, verified status flags mark a deployment complete. Secrets never enter the frontend or deck.</a:t>
            </a:r>
          </a:p>
        </p:txBody>
      </p:sp>
      <p:sp>
        <p:nvSpPr>
          <p:cNvPr id="153" name="TextBox 152"/>
          <p:cNvSpPr txBox="1"/>
          <p:nvPr/>
        </p:nvSpPr>
        <p:spPr>
          <a:xfrm>
            <a:off x="8394192" y="4700016"/>
            <a:ext cx="365760" cy="210312"/>
          </a:xfrm>
          <a:prstGeom prst="rect">
            <a:avLst/>
          </a:prstGeom>
          <a:noFill/>
        </p:spPr>
        <p:txBody>
          <a:bodyPr wrap="square" lIns="0" rIns="0" tIns="0" bIns="0">
            <a:spAutoFit/>
          </a:bodyPr>
          <a:lstStyle/>
          <a:p>
            <a:pPr algn="r">
              <a:spcAft>
                <a:spcPts val="300"/>
              </a:spcAft>
              <a:defRPr sz="900" b="0">
                <a:solidFill>
                  <a:srgbClr val="53637C"/>
                </a:solidFill>
                <a:latin typeface="Aptos"/>
              </a:defRPr>
            </a:pPr>
            <a:r>
              <a:t>09</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id="124" name="Google Shape;124;p22"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25" name="Google Shape;125;p22"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26" name="Google Shape;126;p22"/>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7" name="Google Shape;127;p22"/>
          <p:cNvSpPr txBox="1"/>
          <p:nvPr/>
        </p:nvSpPr>
        <p:spPr>
          <a:xfrm>
            <a:off x="356616" y="704088"/>
            <a:ext cx="8348472" cy="402336"/>
          </a:xfrm>
          <a:prstGeom prst="rect">
            <a:avLst/>
          </a:prstGeom>
          <a:noFill/>
          <a:ln>
            <a:noFill/>
          </a:ln>
        </p:spPr>
        <p:txBody>
          <a:bodyPr anchorCtr="0" anchor="t" bIns="91425" lIns="0" spcFirstLastPara="1" rIns="91425" wrap="square" tIns="0">
            <a:noAutofit/>
          </a:bodyPr>
          <a:lstStyle/>
          <a:p>
            <a:pPr indent="0" lvl="0" marL="0" rtl="0" algn="l">
              <a:spcBef>
                <a:spcPts val="0"/>
              </a:spcBef>
              <a:spcAft>
                <a:spcPts val="0"/>
              </a:spcAft>
              <a:buNone/>
              <a:defRPr sz="2300" b="1">
                <a:solidFill>
                  <a:srgbClr val="172336"/>
                </a:solidFill>
                <a:latin typeface="Aptos Display"/>
              </a:defRPr>
            </a:pPr>
            <a:r>
              <a:t>Estimated implementation cost (optional)</a:t>
            </a:r>
            <a:endParaRPr sz="1600">
              <a:latin typeface="Google Sans Flex Medium"/>
              <a:ea typeface="Google Sans Flex Medium"/>
              <a:cs typeface="Google Sans Flex Medium"/>
              <a:sym typeface="Google Sans Flex Medium"/>
            </a:endParaRPr>
          </a:p>
        </p:txBody>
      </p:sp>
      <p:sp>
        <p:nvSpPr>
          <p:cNvPr id="128" name="TextBox 127"/>
          <p:cNvSpPr txBox="1"/>
          <p:nvPr/>
        </p:nvSpPr>
        <p:spPr>
          <a:xfrm>
            <a:off x="365760" y="1161288"/>
            <a:ext cx="8321040" cy="365760"/>
          </a:xfrm>
          <a:prstGeom prst="rect">
            <a:avLst/>
          </a:prstGeom>
          <a:noFill/>
        </p:spPr>
        <p:txBody>
          <a:bodyPr wrap="square" lIns="0" rIns="0" tIns="0" bIns="0">
            <a:spAutoFit/>
          </a:bodyPr>
          <a:lstStyle/>
          <a:p>
            <a:pPr algn="l">
              <a:spcAft>
                <a:spcPts val="300"/>
              </a:spcAft>
              <a:defRPr sz="1200" b="0">
                <a:solidFill>
                  <a:srgbClr val="53637C"/>
                </a:solidFill>
                <a:latin typeface="Aptos"/>
              </a:defRPr>
            </a:pPr>
            <a:r>
              <a:t>Constrain prototype spend; validate business value with a real operations pilot.</a:t>
            </a:r>
          </a:p>
        </p:txBody>
      </p:sp>
      <p:sp>
        <p:nvSpPr>
          <p:cNvPr id="129" name="Rounded Rectangle 128"/>
          <p:cNvSpPr/>
          <p:nvPr/>
        </p:nvSpPr>
        <p:spPr>
          <a:xfrm>
            <a:off x="393192" y="1709928"/>
            <a:ext cx="3767328" cy="2523744"/>
          </a:xfrm>
          <a:prstGeom prst="roundRect">
            <a:avLst>
              <a:gd name="adj" fmla="val 9000"/>
            </a:avLst>
          </a:prstGeom>
          <a:solidFill>
            <a:srgbClr val="EDF3FF"/>
          </a:solidFill>
          <a:ln w="10160">
            <a:solidFill>
              <a:srgbClr val="D8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Rectangle 129"/>
          <p:cNvSpPr/>
          <p:nvPr/>
        </p:nvSpPr>
        <p:spPr>
          <a:xfrm>
            <a:off x="393192" y="1709928"/>
            <a:ext cx="41148" cy="2523744"/>
          </a:xfrm>
          <a:prstGeom prst="rect">
            <a:avLst/>
          </a:prstGeom>
          <a:solidFill>
            <a:srgbClr val="2864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539496" y="1837944"/>
            <a:ext cx="3474720" cy="329184"/>
          </a:xfrm>
          <a:prstGeom prst="rect">
            <a:avLst/>
          </a:prstGeom>
          <a:noFill/>
        </p:spPr>
        <p:txBody>
          <a:bodyPr wrap="square" lIns="0" rIns="0" tIns="0" bIns="0">
            <a:spAutoFit/>
          </a:bodyPr>
          <a:lstStyle/>
          <a:p>
            <a:pPr algn="l">
              <a:spcAft>
                <a:spcPts val="300"/>
              </a:spcAft>
              <a:defRPr sz="1500" b="1">
                <a:solidFill>
                  <a:srgbClr val="2864DF"/>
                </a:solidFill>
                <a:latin typeface="Aptos"/>
              </a:defRPr>
            </a:pPr>
            <a:r>
              <a:t>Prototype cost boundary</a:t>
            </a:r>
          </a:p>
        </p:txBody>
      </p:sp>
      <p:sp>
        <p:nvSpPr>
          <p:cNvPr id="132" name="TextBox 131"/>
          <p:cNvSpPr txBox="1"/>
          <p:nvPr/>
        </p:nvSpPr>
        <p:spPr>
          <a:xfrm>
            <a:off x="539496" y="2276856"/>
            <a:ext cx="3474720" cy="1883663"/>
          </a:xfrm>
          <a:prstGeom prst="rect">
            <a:avLst/>
          </a:prstGeom>
          <a:noFill/>
        </p:spPr>
        <p:txBody>
          <a:bodyPr wrap="square" lIns="0" rIns="0" tIns="0" bIns="0">
            <a:spAutoFit/>
          </a:bodyPr>
          <a:lstStyle/>
          <a:p>
            <a:pPr algn="l">
              <a:spcAft>
                <a:spcPts val="300"/>
              </a:spcAft>
              <a:defRPr sz="1200" b="0">
                <a:solidFill>
                  <a:srgbClr val="172336"/>
                </a:solidFill>
                <a:latin typeface="Aptos"/>
              </a:defRPr>
            </a:pPr>
            <a:r>
              <a:t>Build scope: 2–3 day prototype target.</a:t>
            </a:r>
          </a:p>
          <a:p>
            <a:pPr algn="l">
              <a:spcAft>
                <a:spcPts val="300"/>
              </a:spcAft>
              <a:defRPr sz="1200" b="0">
                <a:solidFill>
                  <a:srgbClr val="172336"/>
                </a:solidFill>
                <a:latin typeface="Aptos"/>
              </a:defRPr>
            </a:pPr>
          </a:p>
          <a:p>
            <a:pPr algn="l">
              <a:spcAft>
                <a:spcPts val="300"/>
              </a:spcAft>
              <a:defRPr sz="1200" b="0">
                <a:solidFill>
                  <a:srgbClr val="172336"/>
                </a:solidFill>
                <a:latin typeface="Aptos"/>
              </a:defRPr>
            </a:pPr>
            <a:r>
              <a:t>Gemini: user's confirmed Free tier.</a:t>
            </a:r>
          </a:p>
          <a:p>
            <a:pPr algn="l">
              <a:spcAft>
                <a:spcPts val="300"/>
              </a:spcAft>
              <a:defRPr sz="1200" b="0">
                <a:solidFill>
                  <a:srgbClr val="172336"/>
                </a:solidFill>
                <a:latin typeface="Aptos"/>
              </a:defRPr>
            </a:pPr>
          </a:p>
          <a:p>
            <a:pPr algn="l">
              <a:spcAft>
                <a:spcPts val="300"/>
              </a:spcAft>
              <a:defRPr sz="1200" b="0">
                <a:solidFill>
                  <a:srgbClr val="172336"/>
                </a:solidFill>
                <a:latin typeface="Aptos"/>
              </a:defRPr>
            </a:pPr>
            <a:r>
              <a:t>Current hosting: free Cloud Shell session; temporary availability.</a:t>
            </a:r>
          </a:p>
          <a:p>
            <a:pPr algn="l">
              <a:spcAft>
                <a:spcPts val="300"/>
              </a:spcAft>
              <a:defRPr sz="1200" b="0">
                <a:solidFill>
                  <a:srgbClr val="172336"/>
                </a:solidFill>
                <a:latin typeface="Aptos"/>
              </a:defRPr>
            </a:pPr>
          </a:p>
          <a:p>
            <a:pPr algn="l">
              <a:spcAft>
                <a:spcPts val="300"/>
              </a:spcAft>
              <a:defRPr sz="1200" b="0">
                <a:solidFill>
                  <a:srgbClr val="172336"/>
                </a:solidFill>
                <a:latin typeface="Aptos"/>
              </a:defRPr>
            </a:pPr>
            <a:r>
              <a:t>Persistent hosting and integration costs still need validation.</a:t>
            </a:r>
          </a:p>
        </p:txBody>
      </p:sp>
      <p:sp>
        <p:nvSpPr>
          <p:cNvPr id="133" name="Rounded Rectangle 132"/>
          <p:cNvSpPr/>
          <p:nvPr/>
        </p:nvSpPr>
        <p:spPr>
          <a:xfrm>
            <a:off x="4425696" y="1719072"/>
            <a:ext cx="4297680" cy="2514600"/>
          </a:xfrm>
          <a:prstGeom prst="roundRect">
            <a:avLst>
              <a:gd name="adj" fmla="val 9000"/>
            </a:avLst>
          </a:prstGeom>
          <a:solidFill>
            <a:srgbClr val="EBF7F0"/>
          </a:solidFill>
          <a:ln w="10160">
            <a:solidFill>
              <a:srgbClr val="D8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4636008" y="1865376"/>
            <a:ext cx="3794760" cy="292608"/>
          </a:xfrm>
          <a:prstGeom prst="rect">
            <a:avLst/>
          </a:prstGeom>
          <a:noFill/>
        </p:spPr>
        <p:txBody>
          <a:bodyPr wrap="square" lIns="0" rIns="0" tIns="0" bIns="0">
            <a:spAutoFit/>
          </a:bodyPr>
          <a:lstStyle/>
          <a:p>
            <a:pPr algn="l">
              <a:spcAft>
                <a:spcPts val="300"/>
              </a:spcAft>
              <a:defRPr sz="1000" b="1">
                <a:solidFill>
                  <a:srgbClr val="16845A"/>
                </a:solidFill>
                <a:latin typeface="Aptos"/>
              </a:defRPr>
            </a:pPr>
            <a:r>
              <a:t>ILLUSTRATIVE ANNUAL CAPACITY VALUE</a:t>
            </a:r>
          </a:p>
        </p:txBody>
      </p:sp>
      <p:sp>
        <p:nvSpPr>
          <p:cNvPr id="135" name="TextBox 134"/>
          <p:cNvSpPr txBox="1"/>
          <p:nvPr/>
        </p:nvSpPr>
        <p:spPr>
          <a:xfrm>
            <a:off x="4636008" y="2295144"/>
            <a:ext cx="3794760" cy="576072"/>
          </a:xfrm>
          <a:prstGeom prst="rect">
            <a:avLst/>
          </a:prstGeom>
          <a:noFill/>
        </p:spPr>
        <p:txBody>
          <a:bodyPr wrap="square" lIns="0" rIns="0" tIns="0" bIns="0">
            <a:spAutoFit/>
          </a:bodyPr>
          <a:lstStyle/>
          <a:p>
            <a:pPr algn="l">
              <a:spcAft>
                <a:spcPts val="300"/>
              </a:spcAft>
              <a:defRPr sz="3600" b="1">
                <a:solidFill>
                  <a:srgbClr val="16845A"/>
                </a:solidFill>
                <a:latin typeface="Aptos"/>
              </a:defRPr>
            </a:pPr>
            <a:r>
              <a:t>$250,000</a:t>
            </a:r>
          </a:p>
        </p:txBody>
      </p:sp>
      <p:sp>
        <p:nvSpPr>
          <p:cNvPr id="136" name="TextBox 135"/>
          <p:cNvSpPr txBox="1"/>
          <p:nvPr/>
        </p:nvSpPr>
        <p:spPr>
          <a:xfrm>
            <a:off x="4645152" y="3008376"/>
            <a:ext cx="3749039" cy="822960"/>
          </a:xfrm>
          <a:prstGeom prst="rect">
            <a:avLst/>
          </a:prstGeom>
          <a:noFill/>
        </p:spPr>
        <p:txBody>
          <a:bodyPr wrap="square" lIns="0" rIns="0" tIns="0" bIns="0">
            <a:spAutoFit/>
          </a:bodyPr>
          <a:lstStyle/>
          <a:p>
            <a:pPr algn="l">
              <a:spcAft>
                <a:spcPts val="300"/>
              </a:spcAft>
              <a:defRPr sz="1500" b="0">
                <a:solidFill>
                  <a:srgbClr val="172336"/>
                </a:solidFill>
                <a:latin typeface="Aptos"/>
              </a:defRPr>
            </a:pPr>
            <a:r>
              <a:t>10m orders × 1% recovery incidence</a:t>
            </a:r>
          </a:p>
          <a:p>
            <a:pPr algn="l">
              <a:spcAft>
                <a:spcPts val="300"/>
              </a:spcAft>
              <a:defRPr sz="1500" b="0">
                <a:solidFill>
                  <a:srgbClr val="172336"/>
                </a:solidFill>
                <a:latin typeface="Aptos"/>
              </a:defRPr>
            </a:pPr>
            <a:r>
              <a:t>× 50% assisted × 10 minutes saved</a:t>
            </a:r>
          </a:p>
          <a:p>
            <a:pPr algn="l">
              <a:spcAft>
                <a:spcPts val="300"/>
              </a:spcAft>
              <a:defRPr sz="1500" b="0">
                <a:solidFill>
                  <a:srgbClr val="172336"/>
                </a:solidFill>
                <a:latin typeface="Aptos"/>
              </a:defRPr>
            </a:pPr>
            <a:r>
              <a:t>× $30/hour ÷ 60</a:t>
            </a:r>
          </a:p>
        </p:txBody>
      </p:sp>
      <p:sp>
        <p:nvSpPr>
          <p:cNvPr id="137" name="TextBox 136"/>
          <p:cNvSpPr txBox="1"/>
          <p:nvPr/>
        </p:nvSpPr>
        <p:spPr>
          <a:xfrm>
            <a:off x="457200" y="4361688"/>
            <a:ext cx="8110727" cy="283464"/>
          </a:xfrm>
          <a:prstGeom prst="rect">
            <a:avLst/>
          </a:prstGeom>
          <a:noFill/>
        </p:spPr>
        <p:txBody>
          <a:bodyPr wrap="square" lIns="0" rIns="0" tIns="0" bIns="0">
            <a:spAutoFit/>
          </a:bodyPr>
          <a:lstStyle/>
          <a:p>
            <a:pPr algn="l">
              <a:spcAft>
                <a:spcPts val="300"/>
              </a:spcAft>
              <a:defRPr sz="1050" b="0">
                <a:solidFill>
                  <a:srgbClr val="53637C"/>
                </a:solidFill>
                <a:latin typeface="Aptos"/>
              </a:defRPr>
            </a:pPr>
            <a:r>
              <a:t>Hypothetical inputs, before cloud, integration and review costs. Released capacity is not automatically cash saved.</a:t>
            </a:r>
          </a:p>
        </p:txBody>
      </p:sp>
      <p:sp>
        <p:nvSpPr>
          <p:cNvPr id="138" name="TextBox 137"/>
          <p:cNvSpPr txBox="1"/>
          <p:nvPr/>
        </p:nvSpPr>
        <p:spPr>
          <a:xfrm>
            <a:off x="356616" y="4700016"/>
            <a:ext cx="7936992" cy="210312"/>
          </a:xfrm>
          <a:prstGeom prst="rect">
            <a:avLst/>
          </a:prstGeom>
          <a:noFill/>
        </p:spPr>
        <p:txBody>
          <a:bodyPr wrap="square" lIns="0" rIns="0" tIns="0" bIns="0">
            <a:spAutoFit/>
          </a:bodyPr>
          <a:lstStyle/>
          <a:p>
            <a:pPr algn="l">
              <a:spcAft>
                <a:spcPts val="300"/>
              </a:spcAft>
              <a:defRPr sz="850" b="0">
                <a:solidFill>
                  <a:srgbClr val="53637C"/>
                </a:solidFill>
                <a:latin typeface="Aptos"/>
              </a:defRPr>
            </a:pPr>
            <a:r>
              <a:t>No measured ROI, customer adoption or global savings claim. A pilot must validate every assumption.</a:t>
            </a:r>
          </a:p>
        </p:txBody>
      </p:sp>
      <p:sp>
        <p:nvSpPr>
          <p:cNvPr id="139" name="TextBox 138"/>
          <p:cNvSpPr txBox="1"/>
          <p:nvPr/>
        </p:nvSpPr>
        <p:spPr>
          <a:xfrm>
            <a:off x="8394192" y="4700016"/>
            <a:ext cx="365760" cy="210312"/>
          </a:xfrm>
          <a:prstGeom prst="rect">
            <a:avLst/>
          </a:prstGeom>
          <a:noFill/>
        </p:spPr>
        <p:txBody>
          <a:bodyPr wrap="square" lIns="0" rIns="0" tIns="0" bIns="0">
            <a:spAutoFit/>
          </a:bodyPr>
          <a:lstStyle/>
          <a:p>
            <a:pPr algn="r">
              <a:spcAft>
                <a:spcPts val="300"/>
              </a:spcAft>
              <a:defRPr sz="900" b="0">
                <a:solidFill>
                  <a:srgbClr val="53637C"/>
                </a:solidFill>
                <a:latin typeface="Aptos"/>
              </a:defRPr>
            </a:pPr>
            <a:r>
              <a:t>10</a:t>
            </a: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pic>
        <p:nvPicPr>
          <p:cNvPr id="132" name="Google Shape;132;p23"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33" name="Google Shape;133;p23"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34" name="Google Shape;134;p23"/>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 name="Google Shape;135;p23"/>
          <p:cNvSpPr txBox="1"/>
          <p:nvPr/>
        </p:nvSpPr>
        <p:spPr>
          <a:xfrm>
            <a:off x="356616" y="704088"/>
            <a:ext cx="8348472" cy="402336"/>
          </a:xfrm>
          <a:prstGeom prst="rect">
            <a:avLst/>
          </a:prstGeom>
          <a:noFill/>
          <a:ln>
            <a:noFill/>
          </a:ln>
        </p:spPr>
        <p:txBody>
          <a:bodyPr anchorCtr="0" anchor="t" bIns="91425" lIns="0" spcFirstLastPara="1" rIns="91425" wrap="square" tIns="0">
            <a:noAutofit/>
          </a:bodyPr>
          <a:lstStyle/>
          <a:p>
            <a:pPr indent="0" lvl="0" marL="0" rtl="0" algn="l">
              <a:spcBef>
                <a:spcPts val="0"/>
              </a:spcBef>
              <a:spcAft>
                <a:spcPts val="0"/>
              </a:spcAft>
              <a:buNone/>
              <a:defRPr sz="2300" b="1">
                <a:solidFill>
                  <a:srgbClr val="172336"/>
                </a:solidFill>
                <a:latin typeface="Aptos Display"/>
              </a:defRPr>
            </a:pPr>
            <a:r>
              <a:t>Snapshots of the prototype</a:t>
            </a:r>
            <a:endParaRPr sz="1600">
              <a:latin typeface="Google Sans Flex Medium"/>
              <a:ea typeface="Google Sans Flex Medium"/>
              <a:cs typeface="Google Sans Flex Medium"/>
              <a:sym typeface="Google Sans Flex Medium"/>
            </a:endParaRPr>
          </a:p>
        </p:txBody>
      </p:sp>
      <p:sp>
        <p:nvSpPr>
          <p:cNvPr id="136" name="TextBox 135"/>
          <p:cNvSpPr txBox="1"/>
          <p:nvPr/>
        </p:nvSpPr>
        <p:spPr>
          <a:xfrm>
            <a:off x="365760" y="1161288"/>
            <a:ext cx="8321040" cy="365760"/>
          </a:xfrm>
          <a:prstGeom prst="rect">
            <a:avLst/>
          </a:prstGeom>
          <a:noFill/>
        </p:spPr>
        <p:txBody>
          <a:bodyPr wrap="square" lIns="0" rIns="0" tIns="0" bIns="0">
            <a:spAutoFit/>
          </a:bodyPr>
          <a:lstStyle/>
          <a:p>
            <a:pPr algn="l">
              <a:spcAft>
                <a:spcPts val="300"/>
              </a:spcAft>
              <a:defRPr sz="1200" b="0">
                <a:solidFill>
                  <a:srgbClr val="53637C"/>
                </a:solidFill>
                <a:latin typeface="Aptos"/>
              </a:defRPr>
            </a:pPr>
            <a:r>
              <a:t>The interface exposes the underlying record; a green animation alone is never proof.</a:t>
            </a:r>
          </a:p>
        </p:txBody>
      </p:sp>
      <p:sp>
        <p:nvSpPr>
          <p:cNvPr id="137" name="Rounded Rectangle 136"/>
          <p:cNvSpPr/>
          <p:nvPr/>
        </p:nvSpPr>
        <p:spPr>
          <a:xfrm>
            <a:off x="393192" y="1737360"/>
            <a:ext cx="8321040" cy="2633472"/>
          </a:xfrm>
          <a:prstGeom prst="roundRect">
            <a:avLst>
              <a:gd name="adj" fmla="val 9000"/>
            </a:avLst>
          </a:prstGeom>
          <a:solidFill>
            <a:srgbClr val="F8FBFF"/>
          </a:solidFill>
          <a:ln w="10160">
            <a:solidFill>
              <a:srgbClr val="D8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8" name="Picture 137" descr="rehearsal-checks-detail.png"/>
          <p:cNvPicPr>
            <a:picLocks noChangeAspect="1"/>
          </p:cNvPicPr>
          <p:nvPr/>
        </p:nvPicPr>
        <p:blipFill>
          <a:blip r:embed="rId5"/>
          <a:stretch>
            <a:fillRect/>
          </a:stretch>
        </p:blipFill>
        <p:spPr>
          <a:xfrm>
            <a:off x="466344" y="1870030"/>
            <a:ext cx="8174736" cy="2368131"/>
          </a:xfrm>
          <a:prstGeom prst="rect">
            <a:avLst/>
          </a:prstGeom>
        </p:spPr>
      </p:pic>
      <p:sp>
        <p:nvSpPr>
          <p:cNvPr id="139" name="TextBox 138"/>
          <p:cNvSpPr txBox="1"/>
          <p:nvPr/>
        </p:nvSpPr>
        <p:spPr>
          <a:xfrm>
            <a:off x="493776" y="4443984"/>
            <a:ext cx="8165592" cy="219456"/>
          </a:xfrm>
          <a:prstGeom prst="rect">
            <a:avLst/>
          </a:prstGeom>
          <a:noFill/>
        </p:spPr>
        <p:txBody>
          <a:bodyPr wrap="square" lIns="0" rIns="0" tIns="0" bIns="0">
            <a:spAutoFit/>
          </a:bodyPr>
          <a:lstStyle/>
          <a:p>
            <a:pPr algn="l">
              <a:spcAft>
                <a:spcPts val="300"/>
              </a:spcAft>
              <a:defRPr sz="1100" b="0">
                <a:solidFill>
                  <a:srgbClr val="53637C"/>
                </a:solidFill>
                <a:latin typeface="Aptos"/>
              </a:defRPr>
            </a:pPr>
            <a:r>
              <a:t>Local deterministic rehearsal; no Gemini calls in this image.</a:t>
            </a:r>
          </a:p>
        </p:txBody>
      </p:sp>
      <p:sp>
        <p:nvSpPr>
          <p:cNvPr id="140" name="TextBox 139"/>
          <p:cNvSpPr txBox="1"/>
          <p:nvPr/>
        </p:nvSpPr>
        <p:spPr>
          <a:xfrm>
            <a:off x="356616" y="4700016"/>
            <a:ext cx="7936992" cy="210312"/>
          </a:xfrm>
          <a:prstGeom prst="rect">
            <a:avLst/>
          </a:prstGeom>
          <a:noFill/>
        </p:spPr>
        <p:txBody>
          <a:bodyPr wrap="square" lIns="0" rIns="0" tIns="0" bIns="0">
            <a:spAutoFit/>
          </a:bodyPr>
          <a:lstStyle/>
          <a:p>
            <a:pPr algn="l">
              <a:spcAft>
                <a:spcPts val="300"/>
              </a:spcAft>
              <a:defRPr sz="850" b="0">
                <a:solidFill>
                  <a:srgbClr val="53637C"/>
                </a:solidFill>
                <a:latin typeface="Aptos"/>
              </a:defRPr>
            </a:pPr>
            <a:r>
              <a:t>Selected verification checks from an actual run; the caption identifies the provider used.</a:t>
            </a:r>
          </a:p>
        </p:txBody>
      </p:sp>
      <p:sp>
        <p:nvSpPr>
          <p:cNvPr id="141" name="TextBox 140"/>
          <p:cNvSpPr txBox="1"/>
          <p:nvPr/>
        </p:nvSpPr>
        <p:spPr>
          <a:xfrm>
            <a:off x="8394192" y="4700016"/>
            <a:ext cx="365760" cy="210312"/>
          </a:xfrm>
          <a:prstGeom prst="rect">
            <a:avLst/>
          </a:prstGeom>
          <a:noFill/>
        </p:spPr>
        <p:txBody>
          <a:bodyPr wrap="square" lIns="0" rIns="0" tIns="0" bIns="0">
            <a:spAutoFit/>
          </a:bodyPr>
          <a:lstStyle/>
          <a:p>
            <a:pPr algn="r">
              <a:spcAft>
                <a:spcPts val="300"/>
              </a:spcAft>
              <a:defRPr sz="900" b="0">
                <a:solidFill>
                  <a:srgbClr val="53637C"/>
                </a:solidFill>
                <a:latin typeface="Aptos"/>
              </a:defRPr>
            </a:pPr>
            <a:r>
              <a:t>11</a:t>
            </a: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pic>
        <p:nvPicPr>
          <p:cNvPr id="140" name="Google Shape;140;p24"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41" name="Google Shape;141;p24"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42" name="Google Shape;142;p24"/>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 name="Google Shape;143;p24"/>
          <p:cNvSpPr txBox="1"/>
          <p:nvPr/>
        </p:nvSpPr>
        <p:spPr>
          <a:xfrm>
            <a:off x="356616" y="704088"/>
            <a:ext cx="8348472" cy="402336"/>
          </a:xfrm>
          <a:prstGeom prst="rect">
            <a:avLst/>
          </a:prstGeom>
          <a:noFill/>
          <a:ln>
            <a:noFill/>
          </a:ln>
        </p:spPr>
        <p:txBody>
          <a:bodyPr anchorCtr="0" anchor="t" bIns="91425" lIns="0" spcFirstLastPara="1" rIns="91425" wrap="square" tIns="0">
            <a:noAutofit/>
          </a:bodyPr>
          <a:lstStyle/>
          <a:p>
            <a:pPr indent="0" lvl="0" marL="0" rtl="0" algn="l">
              <a:spcBef>
                <a:spcPts val="0"/>
              </a:spcBef>
              <a:spcAft>
                <a:spcPts val="0"/>
              </a:spcAft>
              <a:buNone/>
              <a:defRPr sz="2300" b="1">
                <a:solidFill>
                  <a:srgbClr val="172336"/>
                </a:solidFill>
                <a:latin typeface="Aptos Display"/>
              </a:defRPr>
            </a:pPr>
            <a:r>
              <a:t>Prototype Performance report/Benchmarking</a:t>
            </a:r>
            <a:endParaRPr sz="1600">
              <a:latin typeface="Google Sans Flex Medium"/>
              <a:ea typeface="Google Sans Flex Medium"/>
              <a:cs typeface="Google Sans Flex Medium"/>
              <a:sym typeface="Google Sans Flex Medium"/>
            </a:endParaRPr>
          </a:p>
        </p:txBody>
      </p:sp>
      <p:sp>
        <p:nvSpPr>
          <p:cNvPr id="144" name="TextBox 143"/>
          <p:cNvSpPr txBox="1"/>
          <p:nvPr/>
        </p:nvSpPr>
        <p:spPr>
          <a:xfrm>
            <a:off x="365760" y="1161288"/>
            <a:ext cx="8321040" cy="365760"/>
          </a:xfrm>
          <a:prstGeom prst="rect">
            <a:avLst/>
          </a:prstGeom>
          <a:noFill/>
        </p:spPr>
        <p:txBody>
          <a:bodyPr wrap="square" lIns="0" rIns="0" tIns="0" bIns="0">
            <a:spAutoFit/>
          </a:bodyPr>
          <a:lstStyle/>
          <a:p>
            <a:pPr algn="l">
              <a:spcAft>
                <a:spcPts val="300"/>
              </a:spcAft>
              <a:defRPr sz="1200" b="0">
                <a:solidFill>
                  <a:srgbClr val="53637C"/>
                </a:solidFill>
                <a:latin typeface="Aptos"/>
              </a:defRPr>
            </a:pPr>
            <a:r>
              <a:t>Six reviewed development fixtures; useful coverage evidence, not a held-out accuracy benchmark.</a:t>
            </a:r>
          </a:p>
        </p:txBody>
      </p:sp>
      <p:sp>
        <p:nvSpPr>
          <p:cNvPr id="145" name="TextBox 144"/>
          <p:cNvSpPr txBox="1"/>
          <p:nvPr/>
        </p:nvSpPr>
        <p:spPr>
          <a:xfrm>
            <a:off x="438912" y="1682496"/>
            <a:ext cx="2907792" cy="347472"/>
          </a:xfrm>
          <a:prstGeom prst="rect">
            <a:avLst/>
          </a:prstGeom>
          <a:noFill/>
        </p:spPr>
        <p:txBody>
          <a:bodyPr wrap="square" lIns="0" rIns="0" tIns="0" bIns="0">
            <a:spAutoFit/>
          </a:bodyPr>
          <a:lstStyle/>
          <a:p>
            <a:pPr algn="l">
              <a:spcAft>
                <a:spcPts val="300"/>
              </a:spcAft>
              <a:defRPr sz="2200" b="1">
                <a:solidFill>
                  <a:srgbClr val="16845A"/>
                </a:solidFill>
                <a:latin typeface="Aptos"/>
              </a:defRPr>
            </a:pPr>
            <a:r>
              <a:t>6/6 live Gemini</a:t>
            </a:r>
          </a:p>
        </p:txBody>
      </p:sp>
      <p:sp>
        <p:nvSpPr>
          <p:cNvPr id="146" name="TextBox 145"/>
          <p:cNvSpPr txBox="1"/>
          <p:nvPr/>
        </p:nvSpPr>
        <p:spPr>
          <a:xfrm>
            <a:off x="3410712" y="1691640"/>
            <a:ext cx="2496312" cy="301752"/>
          </a:xfrm>
          <a:prstGeom prst="rect">
            <a:avLst/>
          </a:prstGeom>
          <a:noFill/>
        </p:spPr>
        <p:txBody>
          <a:bodyPr wrap="square" lIns="0" rIns="0" tIns="0" bIns="0">
            <a:spAutoFit/>
          </a:bodyPr>
          <a:lstStyle/>
          <a:p>
            <a:pPr algn="l">
              <a:spcAft>
                <a:spcPts val="300"/>
              </a:spcAft>
              <a:defRPr sz="2000" b="1">
                <a:solidFill>
                  <a:srgbClr val="2864DF"/>
                </a:solidFill>
                <a:latin typeface="Aptos"/>
              </a:defRPr>
            </a:pPr>
            <a:r>
              <a:t>82 Python tests</a:t>
            </a:r>
          </a:p>
        </p:txBody>
      </p:sp>
      <p:sp>
        <p:nvSpPr>
          <p:cNvPr id="147" name="TextBox 146"/>
          <p:cNvSpPr txBox="1"/>
          <p:nvPr/>
        </p:nvSpPr>
        <p:spPr>
          <a:xfrm>
            <a:off x="6291072" y="1691640"/>
            <a:ext cx="2340864" cy="301752"/>
          </a:xfrm>
          <a:prstGeom prst="rect">
            <a:avLst/>
          </a:prstGeom>
          <a:noFill/>
        </p:spPr>
        <p:txBody>
          <a:bodyPr wrap="square" lIns="0" rIns="0" tIns="0" bIns="0">
            <a:spAutoFit/>
          </a:bodyPr>
          <a:lstStyle/>
          <a:p>
            <a:pPr algn="l">
              <a:spcAft>
                <a:spcPts val="300"/>
              </a:spcAft>
              <a:defRPr sz="2000" b="1">
                <a:solidFill>
                  <a:srgbClr val="2864DF"/>
                </a:solidFill>
                <a:latin typeface="Aptos"/>
              </a:defRPr>
            </a:pPr>
            <a:r>
              <a:t>8 JavaScript tests</a:t>
            </a:r>
          </a:p>
        </p:txBody>
      </p:sp>
      <p:sp>
        <p:nvSpPr>
          <p:cNvPr id="148" name="TextBox 147"/>
          <p:cNvSpPr txBox="1"/>
          <p:nvPr/>
        </p:nvSpPr>
        <p:spPr>
          <a:xfrm>
            <a:off x="521207" y="2258568"/>
            <a:ext cx="2743200" cy="237744"/>
          </a:xfrm>
          <a:prstGeom prst="rect">
            <a:avLst/>
          </a:prstGeom>
          <a:noFill/>
        </p:spPr>
        <p:txBody>
          <a:bodyPr wrap="square" lIns="0" rIns="0" tIns="0" bIns="0">
            <a:spAutoFit/>
          </a:bodyPr>
          <a:lstStyle/>
          <a:p>
            <a:pPr algn="l">
              <a:spcAft>
                <a:spcPts val="300"/>
              </a:spcAft>
              <a:defRPr sz="1000" b="1">
                <a:solidFill>
                  <a:srgbClr val="53637C"/>
                </a:solidFill>
                <a:latin typeface="Aptos"/>
              </a:defRPr>
            </a:pPr>
            <a:r>
              <a:t>Scenario</a:t>
            </a:r>
          </a:p>
        </p:txBody>
      </p:sp>
      <p:sp>
        <p:nvSpPr>
          <p:cNvPr id="149" name="TextBox 148"/>
          <p:cNvSpPr txBox="1"/>
          <p:nvPr/>
        </p:nvSpPr>
        <p:spPr>
          <a:xfrm>
            <a:off x="3337560" y="2258568"/>
            <a:ext cx="1673352" cy="237744"/>
          </a:xfrm>
          <a:prstGeom prst="rect">
            <a:avLst/>
          </a:prstGeom>
          <a:noFill/>
        </p:spPr>
        <p:txBody>
          <a:bodyPr wrap="square" lIns="0" rIns="0" tIns="0" bIns="0">
            <a:spAutoFit/>
          </a:bodyPr>
          <a:lstStyle/>
          <a:p>
            <a:pPr algn="l">
              <a:spcAft>
                <a:spcPts val="300"/>
              </a:spcAft>
              <a:defRPr sz="1000" b="1">
                <a:solidFill>
                  <a:srgbClr val="53637C"/>
                </a:solidFill>
                <a:latin typeface="Aptos"/>
              </a:defRPr>
            </a:pPr>
            <a:r>
              <a:t>Expected</a:t>
            </a:r>
          </a:p>
        </p:txBody>
      </p:sp>
      <p:sp>
        <p:nvSpPr>
          <p:cNvPr id="150" name="TextBox 149"/>
          <p:cNvSpPr txBox="1"/>
          <p:nvPr/>
        </p:nvSpPr>
        <p:spPr>
          <a:xfrm>
            <a:off x="5184648" y="2258568"/>
            <a:ext cx="1618488" cy="237744"/>
          </a:xfrm>
          <a:prstGeom prst="rect">
            <a:avLst/>
          </a:prstGeom>
          <a:noFill/>
        </p:spPr>
        <p:txBody>
          <a:bodyPr wrap="square" lIns="0" rIns="0" tIns="0" bIns="0">
            <a:spAutoFit/>
          </a:bodyPr>
          <a:lstStyle/>
          <a:p>
            <a:pPr algn="l">
              <a:spcAft>
                <a:spcPts val="300"/>
              </a:spcAft>
              <a:defRPr sz="1000" b="1">
                <a:solidFill>
                  <a:srgbClr val="53637C"/>
                </a:solidFill>
                <a:latin typeface="Aptos"/>
              </a:defRPr>
            </a:pPr>
            <a:r>
              <a:t>Gemini outcome</a:t>
            </a:r>
          </a:p>
        </p:txBody>
      </p:sp>
      <p:sp>
        <p:nvSpPr>
          <p:cNvPr id="151" name="TextBox 150"/>
          <p:cNvSpPr txBox="1"/>
          <p:nvPr/>
        </p:nvSpPr>
        <p:spPr>
          <a:xfrm>
            <a:off x="7187184" y="2258568"/>
            <a:ext cx="1353312" cy="237744"/>
          </a:xfrm>
          <a:prstGeom prst="rect">
            <a:avLst/>
          </a:prstGeom>
          <a:noFill/>
        </p:spPr>
        <p:txBody>
          <a:bodyPr wrap="square" lIns="0" rIns="0" tIns="0" bIns="0">
            <a:spAutoFit/>
          </a:bodyPr>
          <a:lstStyle/>
          <a:p>
            <a:pPr algn="l">
              <a:spcAft>
                <a:spcPts val="300"/>
              </a:spcAft>
              <a:defRPr sz="1000" b="1">
                <a:solidFill>
                  <a:srgbClr val="53637C"/>
                </a:solidFill>
                <a:latin typeface="Aptos"/>
              </a:defRPr>
            </a:pPr>
            <a:r>
              <a:t>Model calls</a:t>
            </a:r>
          </a:p>
        </p:txBody>
      </p:sp>
      <p:sp>
        <p:nvSpPr>
          <p:cNvPr id="152" name="Rectangle 151"/>
          <p:cNvSpPr/>
          <p:nvPr/>
        </p:nvSpPr>
        <p:spPr>
          <a:xfrm>
            <a:off x="411480" y="2564892"/>
            <a:ext cx="8302752" cy="256946"/>
          </a:xfrm>
          <a:prstGeom prst="rect">
            <a:avLst/>
          </a:prstGeom>
          <a:solidFill>
            <a:srgbClr val="EBF7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TextBox 152"/>
          <p:cNvSpPr txBox="1"/>
          <p:nvPr/>
        </p:nvSpPr>
        <p:spPr>
          <a:xfrm>
            <a:off x="521207" y="2587752"/>
            <a:ext cx="2697480" cy="237744"/>
          </a:xfrm>
          <a:prstGeom prst="rect">
            <a:avLst/>
          </a:prstGeom>
          <a:noFill/>
        </p:spPr>
        <p:txBody>
          <a:bodyPr wrap="square" lIns="0" rIns="0" tIns="0" bIns="0">
            <a:spAutoFit/>
          </a:bodyPr>
          <a:lstStyle/>
          <a:p>
            <a:pPr algn="l">
              <a:spcAft>
                <a:spcPts val="300"/>
              </a:spcAft>
              <a:defRPr sz="1030" b="0">
                <a:solidFill>
                  <a:srgbClr val="16845A"/>
                </a:solidFill>
                <a:latin typeface="Aptos"/>
              </a:defRPr>
            </a:pPr>
            <a:r>
              <a:t>stock race</a:t>
            </a:r>
          </a:p>
        </p:txBody>
      </p:sp>
      <p:sp>
        <p:nvSpPr>
          <p:cNvPr id="154" name="TextBox 153"/>
          <p:cNvSpPr txBox="1"/>
          <p:nvPr/>
        </p:nvSpPr>
        <p:spPr>
          <a:xfrm>
            <a:off x="3337560" y="2587752"/>
            <a:ext cx="1673352" cy="237744"/>
          </a:xfrm>
          <a:prstGeom prst="rect">
            <a:avLst/>
          </a:prstGeom>
          <a:noFill/>
        </p:spPr>
        <p:txBody>
          <a:bodyPr wrap="square" lIns="0" rIns="0" tIns="0" bIns="0">
            <a:spAutoFit/>
          </a:bodyPr>
          <a:lstStyle/>
          <a:p>
            <a:pPr algn="l">
              <a:spcAft>
                <a:spcPts val="300"/>
              </a:spcAft>
              <a:defRPr sz="1030" b="0">
                <a:solidFill>
                  <a:srgbClr val="16845A"/>
                </a:solidFill>
                <a:latin typeface="Aptos"/>
              </a:defRPr>
            </a:pPr>
            <a:r>
              <a:t>recovered</a:t>
            </a:r>
          </a:p>
        </p:txBody>
      </p:sp>
      <p:sp>
        <p:nvSpPr>
          <p:cNvPr id="155" name="TextBox 154"/>
          <p:cNvSpPr txBox="1"/>
          <p:nvPr/>
        </p:nvSpPr>
        <p:spPr>
          <a:xfrm>
            <a:off x="5184648" y="2587752"/>
            <a:ext cx="1618488" cy="237744"/>
          </a:xfrm>
          <a:prstGeom prst="rect">
            <a:avLst/>
          </a:prstGeom>
          <a:noFill/>
        </p:spPr>
        <p:txBody>
          <a:bodyPr wrap="square" lIns="0" rIns="0" tIns="0" bIns="0">
            <a:spAutoFit/>
          </a:bodyPr>
          <a:lstStyle/>
          <a:p>
            <a:pPr algn="l">
              <a:spcAft>
                <a:spcPts val="300"/>
              </a:spcAft>
              <a:defRPr sz="1030" b="0">
                <a:solidFill>
                  <a:srgbClr val="16845A"/>
                </a:solidFill>
                <a:latin typeface="Aptos"/>
              </a:defRPr>
            </a:pPr>
            <a:r>
              <a:t>recovered</a:t>
            </a:r>
          </a:p>
        </p:txBody>
      </p:sp>
      <p:sp>
        <p:nvSpPr>
          <p:cNvPr id="156" name="TextBox 155"/>
          <p:cNvSpPr txBox="1"/>
          <p:nvPr/>
        </p:nvSpPr>
        <p:spPr>
          <a:xfrm>
            <a:off x="7525512" y="2587752"/>
            <a:ext cx="594360" cy="237744"/>
          </a:xfrm>
          <a:prstGeom prst="rect">
            <a:avLst/>
          </a:prstGeom>
          <a:noFill/>
        </p:spPr>
        <p:txBody>
          <a:bodyPr wrap="square" lIns="0" rIns="0" tIns="0" bIns="0">
            <a:spAutoFit/>
          </a:bodyPr>
          <a:lstStyle/>
          <a:p>
            <a:pPr algn="l">
              <a:spcAft>
                <a:spcPts val="300"/>
              </a:spcAft>
              <a:defRPr sz="1030" b="0">
                <a:solidFill>
                  <a:srgbClr val="16845A"/>
                </a:solidFill>
                <a:latin typeface="Aptos"/>
              </a:defRPr>
            </a:pPr>
            <a:r>
              <a:t>4</a:t>
            </a:r>
          </a:p>
        </p:txBody>
      </p:sp>
      <p:sp>
        <p:nvSpPr>
          <p:cNvPr id="157" name="Rectangle 156"/>
          <p:cNvSpPr/>
          <p:nvPr/>
        </p:nvSpPr>
        <p:spPr>
          <a:xfrm>
            <a:off x="411480" y="2830068"/>
            <a:ext cx="8302752" cy="256946"/>
          </a:xfrm>
          <a:prstGeom prst="rect">
            <a:avLst/>
          </a:prstGeom>
          <a:solidFill>
            <a:srgbClr val="EBF7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521207" y="2852928"/>
            <a:ext cx="2697480" cy="237744"/>
          </a:xfrm>
          <a:prstGeom prst="rect">
            <a:avLst/>
          </a:prstGeom>
          <a:noFill/>
        </p:spPr>
        <p:txBody>
          <a:bodyPr wrap="square" lIns="0" rIns="0" tIns="0" bIns="0">
            <a:spAutoFit/>
          </a:bodyPr>
          <a:lstStyle/>
          <a:p>
            <a:pPr algn="l">
              <a:spcAft>
                <a:spcPts val="300"/>
              </a:spcAft>
              <a:defRPr sz="1030" b="0">
                <a:solidFill>
                  <a:srgbClr val="16845A"/>
                </a:solidFill>
                <a:latin typeface="Aptos"/>
              </a:defRPr>
            </a:pPr>
            <a:r>
              <a:t>straight recovery</a:t>
            </a:r>
          </a:p>
        </p:txBody>
      </p:sp>
      <p:sp>
        <p:nvSpPr>
          <p:cNvPr id="159" name="TextBox 158"/>
          <p:cNvSpPr txBox="1"/>
          <p:nvPr/>
        </p:nvSpPr>
        <p:spPr>
          <a:xfrm>
            <a:off x="3337560" y="2852928"/>
            <a:ext cx="1673352" cy="237744"/>
          </a:xfrm>
          <a:prstGeom prst="rect">
            <a:avLst/>
          </a:prstGeom>
          <a:noFill/>
        </p:spPr>
        <p:txBody>
          <a:bodyPr wrap="square" lIns="0" rIns="0" tIns="0" bIns="0">
            <a:spAutoFit/>
          </a:bodyPr>
          <a:lstStyle/>
          <a:p>
            <a:pPr algn="l">
              <a:spcAft>
                <a:spcPts val="300"/>
              </a:spcAft>
              <a:defRPr sz="1030" b="0">
                <a:solidFill>
                  <a:srgbClr val="16845A"/>
                </a:solidFill>
                <a:latin typeface="Aptos"/>
              </a:defRPr>
            </a:pPr>
            <a:r>
              <a:t>recovered</a:t>
            </a:r>
          </a:p>
        </p:txBody>
      </p:sp>
      <p:sp>
        <p:nvSpPr>
          <p:cNvPr id="160" name="TextBox 159"/>
          <p:cNvSpPr txBox="1"/>
          <p:nvPr/>
        </p:nvSpPr>
        <p:spPr>
          <a:xfrm>
            <a:off x="5184648" y="2852928"/>
            <a:ext cx="1618488" cy="237744"/>
          </a:xfrm>
          <a:prstGeom prst="rect">
            <a:avLst/>
          </a:prstGeom>
          <a:noFill/>
        </p:spPr>
        <p:txBody>
          <a:bodyPr wrap="square" lIns="0" rIns="0" tIns="0" bIns="0">
            <a:spAutoFit/>
          </a:bodyPr>
          <a:lstStyle/>
          <a:p>
            <a:pPr algn="l">
              <a:spcAft>
                <a:spcPts val="300"/>
              </a:spcAft>
              <a:defRPr sz="1030" b="0">
                <a:solidFill>
                  <a:srgbClr val="16845A"/>
                </a:solidFill>
                <a:latin typeface="Aptos"/>
              </a:defRPr>
            </a:pPr>
            <a:r>
              <a:t>recovered</a:t>
            </a:r>
          </a:p>
        </p:txBody>
      </p:sp>
      <p:sp>
        <p:nvSpPr>
          <p:cNvPr id="161" name="TextBox 160"/>
          <p:cNvSpPr txBox="1"/>
          <p:nvPr/>
        </p:nvSpPr>
        <p:spPr>
          <a:xfrm>
            <a:off x="7525512" y="2852928"/>
            <a:ext cx="594360" cy="237744"/>
          </a:xfrm>
          <a:prstGeom prst="rect">
            <a:avLst/>
          </a:prstGeom>
          <a:noFill/>
        </p:spPr>
        <p:txBody>
          <a:bodyPr wrap="square" lIns="0" rIns="0" tIns="0" bIns="0">
            <a:spAutoFit/>
          </a:bodyPr>
          <a:lstStyle/>
          <a:p>
            <a:pPr algn="l">
              <a:spcAft>
                <a:spcPts val="300"/>
              </a:spcAft>
              <a:defRPr sz="1030" b="0">
                <a:solidFill>
                  <a:srgbClr val="16845A"/>
                </a:solidFill>
                <a:latin typeface="Aptos"/>
              </a:defRPr>
            </a:pPr>
            <a:r>
              <a:t>2</a:t>
            </a:r>
          </a:p>
        </p:txBody>
      </p:sp>
      <p:sp>
        <p:nvSpPr>
          <p:cNvPr id="162" name="Rectangle 161"/>
          <p:cNvSpPr/>
          <p:nvPr/>
        </p:nvSpPr>
        <p:spPr>
          <a:xfrm>
            <a:off x="411480" y="3095244"/>
            <a:ext cx="8302752" cy="256946"/>
          </a:xfrm>
          <a:prstGeom prst="rect">
            <a:avLst/>
          </a:prstGeom>
          <a:solidFill>
            <a:srgbClr val="EBF7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TextBox 162"/>
          <p:cNvSpPr txBox="1"/>
          <p:nvPr/>
        </p:nvSpPr>
        <p:spPr>
          <a:xfrm>
            <a:off x="521207" y="3118104"/>
            <a:ext cx="2697480" cy="237744"/>
          </a:xfrm>
          <a:prstGeom prst="rect">
            <a:avLst/>
          </a:prstGeom>
          <a:noFill/>
        </p:spPr>
        <p:txBody>
          <a:bodyPr wrap="square" lIns="0" rIns="0" tIns="0" bIns="0">
            <a:spAutoFit/>
          </a:bodyPr>
          <a:lstStyle/>
          <a:p>
            <a:pPr algn="l">
              <a:spcAft>
                <a:spcPts val="300"/>
              </a:spcAft>
              <a:defRPr sz="1030" b="0">
                <a:solidFill>
                  <a:srgbClr val="16845A"/>
                </a:solidFill>
                <a:latin typeface="Aptos"/>
              </a:defRPr>
            </a:pPr>
            <a:r>
              <a:t>cancel order</a:t>
            </a:r>
          </a:p>
        </p:txBody>
      </p:sp>
      <p:sp>
        <p:nvSpPr>
          <p:cNvPr id="164" name="TextBox 163"/>
          <p:cNvSpPr txBox="1"/>
          <p:nvPr/>
        </p:nvSpPr>
        <p:spPr>
          <a:xfrm>
            <a:off x="3337560" y="3118104"/>
            <a:ext cx="1673352" cy="237744"/>
          </a:xfrm>
          <a:prstGeom prst="rect">
            <a:avLst/>
          </a:prstGeom>
          <a:noFill/>
        </p:spPr>
        <p:txBody>
          <a:bodyPr wrap="square" lIns="0" rIns="0" tIns="0" bIns="0">
            <a:spAutoFit/>
          </a:bodyPr>
          <a:lstStyle/>
          <a:p>
            <a:pPr algn="l">
              <a:spcAft>
                <a:spcPts val="300"/>
              </a:spcAft>
              <a:defRPr sz="1030" b="0">
                <a:solidFill>
                  <a:srgbClr val="16845A"/>
                </a:solidFill>
                <a:latin typeface="Aptos"/>
              </a:defRPr>
            </a:pPr>
            <a:r>
              <a:t>cancelled</a:t>
            </a:r>
          </a:p>
        </p:txBody>
      </p:sp>
      <p:sp>
        <p:nvSpPr>
          <p:cNvPr id="165" name="TextBox 164"/>
          <p:cNvSpPr txBox="1"/>
          <p:nvPr/>
        </p:nvSpPr>
        <p:spPr>
          <a:xfrm>
            <a:off x="5184648" y="3118104"/>
            <a:ext cx="1618488" cy="237744"/>
          </a:xfrm>
          <a:prstGeom prst="rect">
            <a:avLst/>
          </a:prstGeom>
          <a:noFill/>
        </p:spPr>
        <p:txBody>
          <a:bodyPr wrap="square" lIns="0" rIns="0" tIns="0" bIns="0">
            <a:spAutoFit/>
          </a:bodyPr>
          <a:lstStyle/>
          <a:p>
            <a:pPr algn="l">
              <a:spcAft>
                <a:spcPts val="300"/>
              </a:spcAft>
              <a:defRPr sz="1030" b="0">
                <a:solidFill>
                  <a:srgbClr val="16845A"/>
                </a:solidFill>
                <a:latin typeface="Aptos"/>
              </a:defRPr>
            </a:pPr>
            <a:r>
              <a:t>cancelled</a:t>
            </a:r>
          </a:p>
        </p:txBody>
      </p:sp>
      <p:sp>
        <p:nvSpPr>
          <p:cNvPr id="166" name="TextBox 165"/>
          <p:cNvSpPr txBox="1"/>
          <p:nvPr/>
        </p:nvSpPr>
        <p:spPr>
          <a:xfrm>
            <a:off x="7525512" y="3118104"/>
            <a:ext cx="594360" cy="237744"/>
          </a:xfrm>
          <a:prstGeom prst="rect">
            <a:avLst/>
          </a:prstGeom>
          <a:noFill/>
        </p:spPr>
        <p:txBody>
          <a:bodyPr wrap="square" lIns="0" rIns="0" tIns="0" bIns="0">
            <a:spAutoFit/>
          </a:bodyPr>
          <a:lstStyle/>
          <a:p>
            <a:pPr algn="l">
              <a:spcAft>
                <a:spcPts val="300"/>
              </a:spcAft>
              <a:defRPr sz="1030" b="0">
                <a:solidFill>
                  <a:srgbClr val="16845A"/>
                </a:solidFill>
                <a:latin typeface="Aptos"/>
              </a:defRPr>
            </a:pPr>
            <a:r>
              <a:t>3</a:t>
            </a:r>
          </a:p>
        </p:txBody>
      </p:sp>
      <p:sp>
        <p:nvSpPr>
          <p:cNvPr id="167" name="Rectangle 166"/>
          <p:cNvSpPr/>
          <p:nvPr/>
        </p:nvSpPr>
        <p:spPr>
          <a:xfrm>
            <a:off x="411480" y="3360420"/>
            <a:ext cx="8302752" cy="256946"/>
          </a:xfrm>
          <a:prstGeom prst="rect">
            <a:avLst/>
          </a:prstGeom>
          <a:solidFill>
            <a:srgbClr val="EBF7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TextBox 167"/>
          <p:cNvSpPr txBox="1"/>
          <p:nvPr/>
        </p:nvSpPr>
        <p:spPr>
          <a:xfrm>
            <a:off x="521207" y="3383280"/>
            <a:ext cx="2697480" cy="237744"/>
          </a:xfrm>
          <a:prstGeom prst="rect">
            <a:avLst/>
          </a:prstGeom>
          <a:noFill/>
        </p:spPr>
        <p:txBody>
          <a:bodyPr wrap="square" lIns="0" rIns="0" tIns="0" bIns="0">
            <a:spAutoFit/>
          </a:bodyPr>
          <a:lstStyle/>
          <a:p>
            <a:pPr algn="l">
              <a:spcAft>
                <a:spcPts val="300"/>
              </a:spcAft>
              <a:defRPr sz="1030" b="0">
                <a:solidFill>
                  <a:srgbClr val="16845A"/>
                </a:solidFill>
                <a:latin typeface="Aptos"/>
              </a:defRPr>
            </a:pPr>
            <a:r>
              <a:t>unknown payment</a:t>
            </a:r>
          </a:p>
        </p:txBody>
      </p:sp>
      <p:sp>
        <p:nvSpPr>
          <p:cNvPr id="169" name="TextBox 168"/>
          <p:cNvSpPr txBox="1"/>
          <p:nvPr/>
        </p:nvSpPr>
        <p:spPr>
          <a:xfrm>
            <a:off x="3337560" y="3383280"/>
            <a:ext cx="1673352" cy="237744"/>
          </a:xfrm>
          <a:prstGeom prst="rect">
            <a:avLst/>
          </a:prstGeom>
          <a:noFill/>
        </p:spPr>
        <p:txBody>
          <a:bodyPr wrap="square" lIns="0" rIns="0" tIns="0" bIns="0">
            <a:spAutoFit/>
          </a:bodyPr>
          <a:lstStyle/>
          <a:p>
            <a:pPr algn="l">
              <a:spcAft>
                <a:spcPts val="300"/>
              </a:spcAft>
              <a:defRPr sz="1030" b="0">
                <a:solidFill>
                  <a:srgbClr val="16845A"/>
                </a:solidFill>
                <a:latin typeface="Aptos"/>
              </a:defRPr>
            </a:pPr>
            <a:r>
              <a:t>escalated</a:t>
            </a:r>
          </a:p>
        </p:txBody>
      </p:sp>
      <p:sp>
        <p:nvSpPr>
          <p:cNvPr id="170" name="TextBox 169"/>
          <p:cNvSpPr txBox="1"/>
          <p:nvPr/>
        </p:nvSpPr>
        <p:spPr>
          <a:xfrm>
            <a:off x="5184648" y="3383280"/>
            <a:ext cx="1618488" cy="237744"/>
          </a:xfrm>
          <a:prstGeom prst="rect">
            <a:avLst/>
          </a:prstGeom>
          <a:noFill/>
        </p:spPr>
        <p:txBody>
          <a:bodyPr wrap="square" lIns="0" rIns="0" tIns="0" bIns="0">
            <a:spAutoFit/>
          </a:bodyPr>
          <a:lstStyle/>
          <a:p>
            <a:pPr algn="l">
              <a:spcAft>
                <a:spcPts val="300"/>
              </a:spcAft>
              <a:defRPr sz="1030" b="0">
                <a:solidFill>
                  <a:srgbClr val="16845A"/>
                </a:solidFill>
                <a:latin typeface="Aptos"/>
              </a:defRPr>
            </a:pPr>
            <a:r>
              <a:t>escalated</a:t>
            </a:r>
          </a:p>
        </p:txBody>
      </p:sp>
      <p:sp>
        <p:nvSpPr>
          <p:cNvPr id="171" name="TextBox 170"/>
          <p:cNvSpPr txBox="1"/>
          <p:nvPr/>
        </p:nvSpPr>
        <p:spPr>
          <a:xfrm>
            <a:off x="7525512" y="3383280"/>
            <a:ext cx="594360" cy="237744"/>
          </a:xfrm>
          <a:prstGeom prst="rect">
            <a:avLst/>
          </a:prstGeom>
          <a:noFill/>
        </p:spPr>
        <p:txBody>
          <a:bodyPr wrap="square" lIns="0" rIns="0" tIns="0" bIns="0">
            <a:spAutoFit/>
          </a:bodyPr>
          <a:lstStyle/>
          <a:p>
            <a:pPr algn="l">
              <a:spcAft>
                <a:spcPts val="300"/>
              </a:spcAft>
              <a:defRPr sz="1030" b="0">
                <a:solidFill>
                  <a:srgbClr val="16845A"/>
                </a:solidFill>
                <a:latin typeface="Aptos"/>
              </a:defRPr>
            </a:pPr>
            <a:r>
              <a:t>1</a:t>
            </a:r>
          </a:p>
        </p:txBody>
      </p:sp>
      <p:sp>
        <p:nvSpPr>
          <p:cNvPr id="172" name="Rectangle 171"/>
          <p:cNvSpPr/>
          <p:nvPr/>
        </p:nvSpPr>
        <p:spPr>
          <a:xfrm>
            <a:off x="411480" y="3625596"/>
            <a:ext cx="8302752" cy="256946"/>
          </a:xfrm>
          <a:prstGeom prst="rect">
            <a:avLst/>
          </a:prstGeom>
          <a:solidFill>
            <a:srgbClr val="EBF7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TextBox 172"/>
          <p:cNvSpPr txBox="1"/>
          <p:nvPr/>
        </p:nvSpPr>
        <p:spPr>
          <a:xfrm>
            <a:off x="521207" y="3648456"/>
            <a:ext cx="2697480" cy="237744"/>
          </a:xfrm>
          <a:prstGeom prst="rect">
            <a:avLst/>
          </a:prstGeom>
          <a:noFill/>
        </p:spPr>
        <p:txBody>
          <a:bodyPr wrap="square" lIns="0" rIns="0" tIns="0" bIns="0">
            <a:spAutoFit/>
          </a:bodyPr>
          <a:lstStyle/>
          <a:p>
            <a:pPr algn="l">
              <a:spcAft>
                <a:spcPts val="300"/>
              </a:spcAft>
              <a:defRPr sz="1030" b="0">
                <a:solidFill>
                  <a:srgbClr val="16845A"/>
                </a:solidFill>
                <a:latin typeface="Aptos"/>
              </a:defRPr>
            </a:pPr>
            <a:r>
              <a:t>approved substitute</a:t>
            </a:r>
          </a:p>
        </p:txBody>
      </p:sp>
      <p:sp>
        <p:nvSpPr>
          <p:cNvPr id="174" name="TextBox 173"/>
          <p:cNvSpPr txBox="1"/>
          <p:nvPr/>
        </p:nvSpPr>
        <p:spPr>
          <a:xfrm>
            <a:off x="3337560" y="3648456"/>
            <a:ext cx="1673352" cy="237744"/>
          </a:xfrm>
          <a:prstGeom prst="rect">
            <a:avLst/>
          </a:prstGeom>
          <a:noFill/>
        </p:spPr>
        <p:txBody>
          <a:bodyPr wrap="square" lIns="0" rIns="0" tIns="0" bIns="0">
            <a:spAutoFit/>
          </a:bodyPr>
          <a:lstStyle/>
          <a:p>
            <a:pPr algn="l">
              <a:spcAft>
                <a:spcPts val="300"/>
              </a:spcAft>
              <a:defRPr sz="1030" b="0">
                <a:solidFill>
                  <a:srgbClr val="16845A"/>
                </a:solidFill>
                <a:latin typeface="Aptos"/>
              </a:defRPr>
            </a:pPr>
            <a:r>
              <a:t>recovered</a:t>
            </a:r>
          </a:p>
        </p:txBody>
      </p:sp>
      <p:sp>
        <p:nvSpPr>
          <p:cNvPr id="175" name="TextBox 174"/>
          <p:cNvSpPr txBox="1"/>
          <p:nvPr/>
        </p:nvSpPr>
        <p:spPr>
          <a:xfrm>
            <a:off x="5184648" y="3648456"/>
            <a:ext cx="1618488" cy="237744"/>
          </a:xfrm>
          <a:prstGeom prst="rect">
            <a:avLst/>
          </a:prstGeom>
          <a:noFill/>
        </p:spPr>
        <p:txBody>
          <a:bodyPr wrap="square" lIns="0" rIns="0" tIns="0" bIns="0">
            <a:spAutoFit/>
          </a:bodyPr>
          <a:lstStyle/>
          <a:p>
            <a:pPr algn="l">
              <a:spcAft>
                <a:spcPts val="300"/>
              </a:spcAft>
              <a:defRPr sz="1030" b="0">
                <a:solidFill>
                  <a:srgbClr val="16845A"/>
                </a:solidFill>
                <a:latin typeface="Aptos"/>
              </a:defRPr>
            </a:pPr>
            <a:r>
              <a:t>recovered</a:t>
            </a:r>
          </a:p>
        </p:txBody>
      </p:sp>
      <p:sp>
        <p:nvSpPr>
          <p:cNvPr id="176" name="TextBox 175"/>
          <p:cNvSpPr txBox="1"/>
          <p:nvPr/>
        </p:nvSpPr>
        <p:spPr>
          <a:xfrm>
            <a:off x="7525512" y="3648456"/>
            <a:ext cx="594360" cy="237744"/>
          </a:xfrm>
          <a:prstGeom prst="rect">
            <a:avLst/>
          </a:prstGeom>
          <a:noFill/>
        </p:spPr>
        <p:txBody>
          <a:bodyPr wrap="square" lIns="0" rIns="0" tIns="0" bIns="0">
            <a:spAutoFit/>
          </a:bodyPr>
          <a:lstStyle/>
          <a:p>
            <a:pPr algn="l">
              <a:spcAft>
                <a:spcPts val="300"/>
              </a:spcAft>
              <a:defRPr sz="1030" b="0">
                <a:solidFill>
                  <a:srgbClr val="16845A"/>
                </a:solidFill>
                <a:latin typeface="Aptos"/>
              </a:defRPr>
            </a:pPr>
            <a:r>
              <a:t>2</a:t>
            </a:r>
          </a:p>
        </p:txBody>
      </p:sp>
      <p:sp>
        <p:nvSpPr>
          <p:cNvPr id="177" name="Rectangle 176"/>
          <p:cNvSpPr/>
          <p:nvPr/>
        </p:nvSpPr>
        <p:spPr>
          <a:xfrm>
            <a:off x="411480" y="3890772"/>
            <a:ext cx="8302752" cy="256946"/>
          </a:xfrm>
          <a:prstGeom prst="rect">
            <a:avLst/>
          </a:prstGeom>
          <a:solidFill>
            <a:srgbClr val="EBF7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TextBox 177"/>
          <p:cNvSpPr txBox="1"/>
          <p:nvPr/>
        </p:nvSpPr>
        <p:spPr>
          <a:xfrm>
            <a:off x="521207" y="3913632"/>
            <a:ext cx="2697480" cy="237744"/>
          </a:xfrm>
          <a:prstGeom prst="rect">
            <a:avLst/>
          </a:prstGeom>
          <a:noFill/>
        </p:spPr>
        <p:txBody>
          <a:bodyPr wrap="square" lIns="0" rIns="0" tIns="0" bIns="0">
            <a:spAutoFit/>
          </a:bodyPr>
          <a:lstStyle/>
          <a:p>
            <a:pPr algn="l">
              <a:spcAft>
                <a:spcPts val="300"/>
              </a:spcAft>
              <a:defRPr sz="1030" b="0">
                <a:solidFill>
                  <a:srgbClr val="16845A"/>
                </a:solidFill>
                <a:latin typeface="Aptos"/>
              </a:defRPr>
            </a:pPr>
            <a:r>
              <a:t>already dispatched</a:t>
            </a:r>
          </a:p>
        </p:txBody>
      </p:sp>
      <p:sp>
        <p:nvSpPr>
          <p:cNvPr id="179" name="TextBox 178"/>
          <p:cNvSpPr txBox="1"/>
          <p:nvPr/>
        </p:nvSpPr>
        <p:spPr>
          <a:xfrm>
            <a:off x="3337560" y="3913632"/>
            <a:ext cx="1673352" cy="237744"/>
          </a:xfrm>
          <a:prstGeom prst="rect">
            <a:avLst/>
          </a:prstGeom>
          <a:noFill/>
        </p:spPr>
        <p:txBody>
          <a:bodyPr wrap="square" lIns="0" rIns="0" tIns="0" bIns="0">
            <a:spAutoFit/>
          </a:bodyPr>
          <a:lstStyle/>
          <a:p>
            <a:pPr algn="l">
              <a:spcAft>
                <a:spcPts val="300"/>
              </a:spcAft>
              <a:defRPr sz="1030" b="0">
                <a:solidFill>
                  <a:srgbClr val="16845A"/>
                </a:solidFill>
                <a:latin typeface="Aptos"/>
              </a:defRPr>
            </a:pPr>
            <a:r>
              <a:t>escalated</a:t>
            </a:r>
          </a:p>
        </p:txBody>
      </p:sp>
      <p:sp>
        <p:nvSpPr>
          <p:cNvPr id="180" name="TextBox 179"/>
          <p:cNvSpPr txBox="1"/>
          <p:nvPr/>
        </p:nvSpPr>
        <p:spPr>
          <a:xfrm>
            <a:off x="5184648" y="3913632"/>
            <a:ext cx="1618488" cy="237744"/>
          </a:xfrm>
          <a:prstGeom prst="rect">
            <a:avLst/>
          </a:prstGeom>
          <a:noFill/>
        </p:spPr>
        <p:txBody>
          <a:bodyPr wrap="square" lIns="0" rIns="0" tIns="0" bIns="0">
            <a:spAutoFit/>
          </a:bodyPr>
          <a:lstStyle/>
          <a:p>
            <a:pPr algn="l">
              <a:spcAft>
                <a:spcPts val="300"/>
              </a:spcAft>
              <a:defRPr sz="1030" b="0">
                <a:solidFill>
                  <a:srgbClr val="16845A"/>
                </a:solidFill>
                <a:latin typeface="Aptos"/>
              </a:defRPr>
            </a:pPr>
            <a:r>
              <a:t>escalated</a:t>
            </a:r>
          </a:p>
        </p:txBody>
      </p:sp>
      <p:sp>
        <p:nvSpPr>
          <p:cNvPr id="181" name="TextBox 180"/>
          <p:cNvSpPr txBox="1"/>
          <p:nvPr/>
        </p:nvSpPr>
        <p:spPr>
          <a:xfrm>
            <a:off x="7525512" y="3913632"/>
            <a:ext cx="594360" cy="237744"/>
          </a:xfrm>
          <a:prstGeom prst="rect">
            <a:avLst/>
          </a:prstGeom>
          <a:noFill/>
        </p:spPr>
        <p:txBody>
          <a:bodyPr wrap="square" lIns="0" rIns="0" tIns="0" bIns="0">
            <a:spAutoFit/>
          </a:bodyPr>
          <a:lstStyle/>
          <a:p>
            <a:pPr algn="l">
              <a:spcAft>
                <a:spcPts val="300"/>
              </a:spcAft>
              <a:defRPr sz="1030" b="0">
                <a:solidFill>
                  <a:srgbClr val="16845A"/>
                </a:solidFill>
                <a:latin typeface="Aptos"/>
              </a:defRPr>
            </a:pPr>
            <a:r>
              <a:t>1</a:t>
            </a:r>
          </a:p>
        </p:txBody>
      </p:sp>
      <p:sp>
        <p:nvSpPr>
          <p:cNvPr id="182" name="TextBox 181"/>
          <p:cNvSpPr txBox="1"/>
          <p:nvPr/>
        </p:nvSpPr>
        <p:spPr>
          <a:xfrm>
            <a:off x="475488" y="4288536"/>
            <a:ext cx="8229600" cy="301752"/>
          </a:xfrm>
          <a:prstGeom prst="rect">
            <a:avLst/>
          </a:prstGeom>
          <a:noFill/>
        </p:spPr>
        <p:txBody>
          <a:bodyPr wrap="square" lIns="0" rIns="0" tIns="0" bIns="0">
            <a:spAutoFit/>
          </a:bodyPr>
          <a:lstStyle/>
          <a:p>
            <a:pPr algn="l">
              <a:spcAft>
                <a:spcPts val="300"/>
              </a:spcAft>
              <a:defRPr sz="1000" b="0">
                <a:solidFill>
                  <a:srgbClr val="53637C"/>
                </a:solidFill>
                <a:latin typeface="Aptos"/>
              </a:defRPr>
            </a:pPr>
            <a:r>
              <a:t>Rehearsal: 6/6. Baseline escalates on stock conflict; a broader rules engine can solve these fixtures.</a:t>
            </a:r>
          </a:p>
        </p:txBody>
      </p:sp>
      <p:sp>
        <p:nvSpPr>
          <p:cNvPr id="183" name="TextBox 182"/>
          <p:cNvSpPr txBox="1"/>
          <p:nvPr/>
        </p:nvSpPr>
        <p:spPr>
          <a:xfrm>
            <a:off x="356616" y="4700016"/>
            <a:ext cx="7936992" cy="210312"/>
          </a:xfrm>
          <a:prstGeom prst="rect">
            <a:avLst/>
          </a:prstGeom>
          <a:noFill/>
        </p:spPr>
        <p:txBody>
          <a:bodyPr wrap="square" lIns="0" rIns="0" tIns="0" bIns="0">
            <a:spAutoFit/>
          </a:bodyPr>
          <a:lstStyle/>
          <a:p>
            <a:pPr algn="l">
              <a:spcAft>
                <a:spcPts val="300"/>
              </a:spcAft>
              <a:defRPr sz="850" b="0">
                <a:solidFill>
                  <a:srgbClr val="53637C"/>
                </a:solidFill>
                <a:latin typeface="Aptos"/>
              </a:defRPr>
            </a:pPr>
            <a:r>
              <a:t>gemini-3.5-flash-lite • 0 safety-check failures • 3 controller reads before each model run. Artifact: 2026-10-18T17:13:33.284+00:00</a:t>
            </a:r>
          </a:p>
        </p:txBody>
      </p:sp>
      <p:sp>
        <p:nvSpPr>
          <p:cNvPr id="184" name="TextBox 183"/>
          <p:cNvSpPr txBox="1"/>
          <p:nvPr/>
        </p:nvSpPr>
        <p:spPr>
          <a:xfrm>
            <a:off x="8394192" y="4700016"/>
            <a:ext cx="365760" cy="210312"/>
          </a:xfrm>
          <a:prstGeom prst="rect">
            <a:avLst/>
          </a:prstGeom>
          <a:noFill/>
        </p:spPr>
        <p:txBody>
          <a:bodyPr wrap="square" lIns="0" rIns="0" tIns="0" bIns="0">
            <a:spAutoFit/>
          </a:bodyPr>
          <a:lstStyle/>
          <a:p>
            <a:pPr algn="r">
              <a:spcAft>
                <a:spcPts val="300"/>
              </a:spcAft>
              <a:defRPr sz="900" b="0">
                <a:solidFill>
                  <a:srgbClr val="53637C"/>
                </a:solidFill>
                <a:latin typeface="Aptos"/>
              </a:defRPr>
            </a:pPr>
            <a:r>
              <a:t>12</a:t>
            </a: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pic>
        <p:nvPicPr>
          <p:cNvPr id="148" name="Google Shape;148;p25"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49" name="Google Shape;149;p25"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0" name="Google Shape;150;p25"/>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1" name="Google Shape;151;p25"/>
          <p:cNvSpPr txBox="1"/>
          <p:nvPr/>
        </p:nvSpPr>
        <p:spPr>
          <a:xfrm>
            <a:off x="356616" y="704088"/>
            <a:ext cx="8348472" cy="402336"/>
          </a:xfrm>
          <a:prstGeom prst="rect">
            <a:avLst/>
          </a:prstGeom>
          <a:noFill/>
          <a:ln>
            <a:noFill/>
          </a:ln>
        </p:spPr>
        <p:txBody>
          <a:bodyPr anchorCtr="0" anchor="t" bIns="91425" lIns="0" spcFirstLastPara="1" rIns="91425" wrap="square" tIns="0">
            <a:noAutofit/>
          </a:bodyPr>
          <a:lstStyle/>
          <a:p>
            <a:pPr indent="0" lvl="0" marL="0" rtl="0" algn="l">
              <a:spcBef>
                <a:spcPts val="0"/>
              </a:spcBef>
              <a:spcAft>
                <a:spcPts val="0"/>
              </a:spcAft>
              <a:buNone/>
              <a:defRPr sz="2300" b="1">
                <a:solidFill>
                  <a:srgbClr val="172336"/>
                </a:solidFill>
                <a:latin typeface="Aptos Display"/>
              </a:defRPr>
            </a:pPr>
            <a:r>
              <a:t>Additional Details/Future Development (if any)</a:t>
            </a:r>
            <a:endParaRPr sz="1600">
              <a:latin typeface="Google Sans Flex Medium"/>
              <a:ea typeface="Google Sans Flex Medium"/>
              <a:cs typeface="Google Sans Flex Medium"/>
              <a:sym typeface="Google Sans Flex Medium"/>
            </a:endParaRPr>
          </a:p>
        </p:txBody>
      </p:sp>
      <p:sp>
        <p:nvSpPr>
          <p:cNvPr id="152" name="TextBox 151"/>
          <p:cNvSpPr txBox="1"/>
          <p:nvPr/>
        </p:nvSpPr>
        <p:spPr>
          <a:xfrm>
            <a:off x="365760" y="1161288"/>
            <a:ext cx="8321040" cy="365760"/>
          </a:xfrm>
          <a:prstGeom prst="rect">
            <a:avLst/>
          </a:prstGeom>
          <a:noFill/>
        </p:spPr>
        <p:txBody>
          <a:bodyPr wrap="square" lIns="0" rIns="0" tIns="0" bIns="0">
            <a:spAutoFit/>
          </a:bodyPr>
          <a:lstStyle/>
          <a:p>
            <a:pPr algn="l">
              <a:spcAft>
                <a:spcPts val="300"/>
              </a:spcAft>
              <a:defRPr sz="1200" b="0">
                <a:solidFill>
                  <a:srgbClr val="53637C"/>
                </a:solidFill>
                <a:latin typeface="Aptos"/>
              </a:defRPr>
            </a:pPr>
            <a:r>
              <a:t>What must happen before real customer orders enter the system.</a:t>
            </a:r>
          </a:p>
        </p:txBody>
      </p:sp>
      <p:sp>
        <p:nvSpPr>
          <p:cNvPr id="153" name="Rounded Rectangle 152"/>
          <p:cNvSpPr/>
          <p:nvPr/>
        </p:nvSpPr>
        <p:spPr>
          <a:xfrm>
            <a:off x="393192" y="1728216"/>
            <a:ext cx="2660904" cy="2606040"/>
          </a:xfrm>
          <a:prstGeom prst="roundRect">
            <a:avLst>
              <a:gd name="adj" fmla="val 9000"/>
            </a:avLst>
          </a:prstGeom>
          <a:solidFill>
            <a:srgbClr val="EDF3FF"/>
          </a:solidFill>
          <a:ln w="10160">
            <a:solidFill>
              <a:srgbClr val="D8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Rectangle 153"/>
          <p:cNvSpPr/>
          <p:nvPr/>
        </p:nvSpPr>
        <p:spPr>
          <a:xfrm>
            <a:off x="393192" y="1728216"/>
            <a:ext cx="41148" cy="2606040"/>
          </a:xfrm>
          <a:prstGeom prst="rect">
            <a:avLst/>
          </a:prstGeom>
          <a:solidFill>
            <a:srgbClr val="2864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539496" y="1856231"/>
            <a:ext cx="2368296" cy="329184"/>
          </a:xfrm>
          <a:prstGeom prst="rect">
            <a:avLst/>
          </a:prstGeom>
          <a:noFill/>
        </p:spPr>
        <p:txBody>
          <a:bodyPr wrap="square" lIns="0" rIns="0" tIns="0" bIns="0">
            <a:spAutoFit/>
          </a:bodyPr>
          <a:lstStyle/>
          <a:p>
            <a:pPr algn="l">
              <a:spcAft>
                <a:spcPts val="300"/>
              </a:spcAft>
              <a:defRPr sz="1500" b="1">
                <a:solidFill>
                  <a:srgbClr val="2864DF"/>
                </a:solidFill>
                <a:latin typeface="Aptos"/>
              </a:defRPr>
            </a:pPr>
            <a:r>
              <a:t>1  Delivery readiness</a:t>
            </a:r>
          </a:p>
        </p:txBody>
      </p:sp>
      <p:sp>
        <p:nvSpPr>
          <p:cNvPr id="156" name="TextBox 155"/>
          <p:cNvSpPr txBox="1"/>
          <p:nvPr/>
        </p:nvSpPr>
        <p:spPr>
          <a:xfrm>
            <a:off x="539496" y="2295144"/>
            <a:ext cx="2368296" cy="1965960"/>
          </a:xfrm>
          <a:prstGeom prst="rect">
            <a:avLst/>
          </a:prstGeom>
          <a:noFill/>
        </p:spPr>
        <p:txBody>
          <a:bodyPr wrap="square" lIns="0" rIns="0" tIns="0" bIns="0">
            <a:spAutoFit/>
          </a:bodyPr>
          <a:lstStyle/>
          <a:p>
            <a:pPr algn="l">
              <a:spcAft>
                <a:spcPts val="300"/>
              </a:spcAft>
              <a:defRPr sz="1300" b="0">
                <a:solidFill>
                  <a:srgbClr val="172336"/>
                </a:solidFill>
                <a:latin typeface="Aptos"/>
              </a:defRPr>
            </a:pPr>
            <a:r>
              <a:t>Persistent, publicly accessible hosting.</a:t>
            </a:r>
          </a:p>
          <a:p>
            <a:pPr algn="l">
              <a:spcAft>
                <a:spcPts val="300"/>
              </a:spcAft>
              <a:defRPr sz="1300" b="0">
                <a:solidFill>
                  <a:srgbClr val="172336"/>
                </a:solidFill>
                <a:latin typeface="Aptos"/>
              </a:defRPr>
            </a:pPr>
          </a:p>
          <a:p>
            <a:pPr algn="l">
              <a:spcAft>
                <a:spcPts val="300"/>
              </a:spcAft>
              <a:defRPr sz="1300" b="0">
                <a:solidFill>
                  <a:srgbClr val="172336"/>
                </a:solidFill>
                <a:latin typeface="Aptos"/>
              </a:defRPr>
            </a:pPr>
            <a:r>
              <a:t>Validate every required Google integration.</a:t>
            </a:r>
          </a:p>
          <a:p>
            <a:pPr algn="l">
              <a:spcAft>
                <a:spcPts val="300"/>
              </a:spcAft>
              <a:defRPr sz="1300" b="0">
                <a:solidFill>
                  <a:srgbClr val="172336"/>
                </a:solidFill>
                <a:latin typeface="Aptos"/>
              </a:defRPr>
            </a:pPr>
          </a:p>
          <a:p>
            <a:pPr algn="l">
              <a:spcAft>
                <a:spcPts val="300"/>
              </a:spcAft>
              <a:defRPr sz="1300" b="0">
                <a:solidFill>
                  <a:srgbClr val="172336"/>
                </a:solidFill>
                <a:latin typeface="Aptos"/>
              </a:defRPr>
            </a:pPr>
            <a:r>
              <a:t>Publish source and a working 3–4 minute demo.</a:t>
            </a:r>
          </a:p>
        </p:txBody>
      </p:sp>
      <p:sp>
        <p:nvSpPr>
          <p:cNvPr id="157" name="Rounded Rectangle 156"/>
          <p:cNvSpPr/>
          <p:nvPr/>
        </p:nvSpPr>
        <p:spPr>
          <a:xfrm>
            <a:off x="3236976" y="1728216"/>
            <a:ext cx="2660904" cy="2606040"/>
          </a:xfrm>
          <a:prstGeom prst="roundRect">
            <a:avLst>
              <a:gd name="adj" fmla="val 9000"/>
            </a:avLst>
          </a:prstGeom>
          <a:solidFill>
            <a:srgbClr val="EDF3FF"/>
          </a:solidFill>
          <a:ln w="10160">
            <a:solidFill>
              <a:srgbClr val="D8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Rectangle 157"/>
          <p:cNvSpPr/>
          <p:nvPr/>
        </p:nvSpPr>
        <p:spPr>
          <a:xfrm>
            <a:off x="3236976" y="1728216"/>
            <a:ext cx="41148" cy="2606040"/>
          </a:xfrm>
          <a:prstGeom prst="rect">
            <a:avLst/>
          </a:prstGeom>
          <a:solidFill>
            <a:srgbClr val="7557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TextBox 158"/>
          <p:cNvSpPr txBox="1"/>
          <p:nvPr/>
        </p:nvSpPr>
        <p:spPr>
          <a:xfrm>
            <a:off x="3383280" y="1856231"/>
            <a:ext cx="2368296" cy="329184"/>
          </a:xfrm>
          <a:prstGeom prst="rect">
            <a:avLst/>
          </a:prstGeom>
          <a:noFill/>
        </p:spPr>
        <p:txBody>
          <a:bodyPr wrap="square" lIns="0" rIns="0" tIns="0" bIns="0">
            <a:spAutoFit/>
          </a:bodyPr>
          <a:lstStyle/>
          <a:p>
            <a:pPr algn="l">
              <a:spcAft>
                <a:spcPts val="300"/>
              </a:spcAft>
              <a:defRPr sz="1500" b="1">
                <a:solidFill>
                  <a:srgbClr val="7557DD"/>
                </a:solidFill>
                <a:latin typeface="Aptos"/>
              </a:defRPr>
            </a:pPr>
            <a:r>
              <a:t>2  Customer pilot</a:t>
            </a:r>
          </a:p>
        </p:txBody>
      </p:sp>
      <p:sp>
        <p:nvSpPr>
          <p:cNvPr id="160" name="TextBox 159"/>
          <p:cNvSpPr txBox="1"/>
          <p:nvPr/>
        </p:nvSpPr>
        <p:spPr>
          <a:xfrm>
            <a:off x="3383280" y="2295144"/>
            <a:ext cx="2368296" cy="1965960"/>
          </a:xfrm>
          <a:prstGeom prst="rect">
            <a:avLst/>
          </a:prstGeom>
          <a:noFill/>
        </p:spPr>
        <p:txBody>
          <a:bodyPr wrap="square" lIns="0" rIns="0" tIns="0" bIns="0">
            <a:spAutoFit/>
          </a:bodyPr>
          <a:lstStyle/>
          <a:p>
            <a:pPr algn="l">
              <a:spcAft>
                <a:spcPts val="300"/>
              </a:spcAft>
              <a:defRPr sz="1300" b="0">
                <a:solidFill>
                  <a:srgbClr val="172336"/>
                </a:solidFill>
                <a:latin typeface="Aptos"/>
              </a:defRPr>
            </a:pPr>
            <a:r>
              <a:t>Use an owner's sandbox APIs with scoped authority.</a:t>
            </a:r>
          </a:p>
          <a:p>
            <a:pPr algn="l">
              <a:spcAft>
                <a:spcPts val="300"/>
              </a:spcAft>
              <a:defRPr sz="1300" b="0">
                <a:solidFill>
                  <a:srgbClr val="172336"/>
                </a:solidFill>
                <a:latin typeface="Aptos"/>
              </a:defRPr>
            </a:pPr>
          </a:p>
          <a:p>
            <a:pPr algn="l">
              <a:spcAft>
                <a:spcPts val="300"/>
              </a:spcAft>
              <a:defRPr sz="1300" b="0">
                <a:solidFill>
                  <a:srgbClr val="172336"/>
                </a:solidFill>
                <a:latin typeface="Aptos"/>
              </a:defRPr>
            </a:pPr>
            <a:r>
              <a:t>Broaden instruction and incident variation.</a:t>
            </a:r>
          </a:p>
          <a:p>
            <a:pPr algn="l">
              <a:spcAft>
                <a:spcPts val="300"/>
              </a:spcAft>
              <a:defRPr sz="1300" b="0">
                <a:solidFill>
                  <a:srgbClr val="172336"/>
                </a:solidFill>
                <a:latin typeface="Aptos"/>
              </a:defRPr>
            </a:pPr>
          </a:p>
          <a:p>
            <a:pPr algn="l">
              <a:spcAft>
                <a:spcPts val="300"/>
              </a:spcAft>
              <a:defRPr sz="1300" b="0">
                <a:solidFill>
                  <a:srgbClr val="172336"/>
                </a:solidFill>
                <a:latin typeface="Aptos"/>
              </a:defRPr>
            </a:pPr>
            <a:r>
              <a:t>Measure handling time and safe handoff coverage.</a:t>
            </a:r>
          </a:p>
        </p:txBody>
      </p:sp>
      <p:sp>
        <p:nvSpPr>
          <p:cNvPr id="161" name="Rounded Rectangle 160"/>
          <p:cNvSpPr/>
          <p:nvPr/>
        </p:nvSpPr>
        <p:spPr>
          <a:xfrm>
            <a:off x="6080760" y="1728216"/>
            <a:ext cx="2660904" cy="2606040"/>
          </a:xfrm>
          <a:prstGeom prst="roundRect">
            <a:avLst>
              <a:gd name="adj" fmla="val 9000"/>
            </a:avLst>
          </a:prstGeom>
          <a:solidFill>
            <a:srgbClr val="EDF3FF"/>
          </a:solidFill>
          <a:ln w="10160">
            <a:solidFill>
              <a:srgbClr val="D8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Rectangle 161"/>
          <p:cNvSpPr/>
          <p:nvPr/>
        </p:nvSpPr>
        <p:spPr>
          <a:xfrm>
            <a:off x="6080760" y="1728216"/>
            <a:ext cx="41148" cy="2606040"/>
          </a:xfrm>
          <a:prstGeom prst="rect">
            <a:avLst/>
          </a:prstGeom>
          <a:solidFill>
            <a:srgbClr val="1684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TextBox 162"/>
          <p:cNvSpPr txBox="1"/>
          <p:nvPr/>
        </p:nvSpPr>
        <p:spPr>
          <a:xfrm>
            <a:off x="6227064" y="1856231"/>
            <a:ext cx="2368296" cy="329184"/>
          </a:xfrm>
          <a:prstGeom prst="rect">
            <a:avLst/>
          </a:prstGeom>
          <a:noFill/>
        </p:spPr>
        <p:txBody>
          <a:bodyPr wrap="square" lIns="0" rIns="0" tIns="0" bIns="0">
            <a:spAutoFit/>
          </a:bodyPr>
          <a:lstStyle/>
          <a:p>
            <a:pPr algn="l">
              <a:spcAft>
                <a:spcPts val="300"/>
              </a:spcAft>
              <a:defRPr sz="1500" b="1">
                <a:solidFill>
                  <a:srgbClr val="16845A"/>
                </a:solidFill>
                <a:latin typeface="Aptos"/>
              </a:defRPr>
            </a:pPr>
            <a:r>
              <a:t>3  Production controls</a:t>
            </a:r>
          </a:p>
        </p:txBody>
      </p:sp>
      <p:sp>
        <p:nvSpPr>
          <p:cNvPr id="164" name="TextBox 163"/>
          <p:cNvSpPr txBox="1"/>
          <p:nvPr/>
        </p:nvSpPr>
        <p:spPr>
          <a:xfrm>
            <a:off x="6227064" y="2295144"/>
            <a:ext cx="2368296" cy="1965960"/>
          </a:xfrm>
          <a:prstGeom prst="rect">
            <a:avLst/>
          </a:prstGeom>
          <a:noFill/>
        </p:spPr>
        <p:txBody>
          <a:bodyPr wrap="square" lIns="0" rIns="0" tIns="0" bIns="0">
            <a:spAutoFit/>
          </a:bodyPr>
          <a:lstStyle/>
          <a:p>
            <a:pPr algn="l">
              <a:spcAft>
                <a:spcPts val="300"/>
              </a:spcAft>
              <a:defRPr sz="1300" b="0">
                <a:solidFill>
                  <a:srgbClr val="172336"/>
                </a:solidFill>
                <a:latin typeface="Aptos"/>
              </a:defRPr>
            </a:pPr>
            <a:r>
              <a:t>Service-owned idempotency and durable state.</a:t>
            </a:r>
          </a:p>
          <a:p>
            <a:pPr algn="l">
              <a:spcAft>
                <a:spcPts val="300"/>
              </a:spcAft>
              <a:defRPr sz="1300" b="0">
                <a:solidFill>
                  <a:srgbClr val="172336"/>
                </a:solidFill>
                <a:latin typeface="Aptos"/>
              </a:defRPr>
            </a:pPr>
          </a:p>
          <a:p>
            <a:pPr algn="l">
              <a:spcAft>
                <a:spcPts val="300"/>
              </a:spcAft>
              <a:defRPr sz="1300" b="0">
                <a:solidFill>
                  <a:srgbClr val="172336"/>
                </a:solidFill>
                <a:latin typeface="Aptos"/>
              </a:defRPr>
            </a:pPr>
            <a:r>
              <a:t>Tenant identity, access controls and retention.</a:t>
            </a:r>
          </a:p>
          <a:p>
            <a:pPr algn="l">
              <a:spcAft>
                <a:spcPts val="300"/>
              </a:spcAft>
              <a:defRPr sz="1300" b="0">
                <a:solidFill>
                  <a:srgbClr val="172336"/>
                </a:solidFill>
                <a:latin typeface="Aptos"/>
              </a:defRPr>
            </a:pPr>
          </a:p>
          <a:p>
            <a:pPr algn="l">
              <a:spcAft>
                <a:spcPts val="300"/>
              </a:spcAft>
              <a:defRPr sz="1300" b="0">
                <a:solidFill>
                  <a:srgbClr val="172336"/>
                </a:solidFill>
                <a:latin typeface="Aptos"/>
              </a:defRPr>
            </a:pPr>
            <a:r>
              <a:t>Tamper-evident records and human approval gates.</a:t>
            </a:r>
          </a:p>
        </p:txBody>
      </p:sp>
      <p:sp>
        <p:nvSpPr>
          <p:cNvPr id="165" name="TextBox 164"/>
          <p:cNvSpPr txBox="1"/>
          <p:nvPr/>
        </p:nvSpPr>
        <p:spPr>
          <a:xfrm>
            <a:off x="356616" y="4700016"/>
            <a:ext cx="7936992" cy="210312"/>
          </a:xfrm>
          <a:prstGeom prst="rect">
            <a:avLst/>
          </a:prstGeom>
          <a:noFill/>
        </p:spPr>
        <p:txBody>
          <a:bodyPr wrap="square" lIns="0" rIns="0" tIns="0" bIns="0">
            <a:spAutoFit/>
          </a:bodyPr>
          <a:lstStyle/>
          <a:p>
            <a:pPr algn="l">
              <a:spcAft>
                <a:spcPts val="300"/>
              </a:spcAft>
              <a:defRPr sz="850" b="0">
                <a:solidFill>
                  <a:srgbClr val="53637C"/>
                </a:solidFill>
                <a:latin typeface="Aptos"/>
              </a:defRPr>
            </a:pPr>
            <a:r>
              <a:t>Prototype audit is inspectable, but not immutable, certified or independently attested.</a:t>
            </a:r>
          </a:p>
        </p:txBody>
      </p:sp>
      <p:sp>
        <p:nvSpPr>
          <p:cNvPr id="166" name="TextBox 165"/>
          <p:cNvSpPr txBox="1"/>
          <p:nvPr/>
        </p:nvSpPr>
        <p:spPr>
          <a:xfrm>
            <a:off x="8394192" y="4700016"/>
            <a:ext cx="365760" cy="210312"/>
          </a:xfrm>
          <a:prstGeom prst="rect">
            <a:avLst/>
          </a:prstGeom>
          <a:noFill/>
        </p:spPr>
        <p:txBody>
          <a:bodyPr wrap="square" lIns="0" rIns="0" tIns="0" bIns="0">
            <a:spAutoFit/>
          </a:bodyPr>
          <a:lstStyle/>
          <a:p>
            <a:pPr algn="r">
              <a:spcAft>
                <a:spcPts val="300"/>
              </a:spcAft>
              <a:defRPr sz="900" b="0">
                <a:solidFill>
                  <a:srgbClr val="53637C"/>
                </a:solidFill>
                <a:latin typeface="Aptos"/>
              </a:defRPr>
            </a:pPr>
            <a:r>
              <a:t>13</a:t>
            </a: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pic>
        <p:nvPicPr>
          <p:cNvPr id="156" name="Google Shape;156;p26"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57" name="Google Shape;157;p2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8" name="Google Shape;158;p26"/>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9" name="Google Shape;159;p26"/>
          <p:cNvSpPr txBox="1"/>
          <p:nvPr/>
        </p:nvSpPr>
        <p:spPr>
          <a:xfrm>
            <a:off x="356616" y="704088"/>
            <a:ext cx="8348472" cy="402336"/>
          </a:xfrm>
          <a:prstGeom prst="rect">
            <a:avLst/>
          </a:prstGeom>
          <a:noFill/>
          <a:ln>
            <a:noFill/>
          </a:ln>
        </p:spPr>
        <p:txBody>
          <a:bodyPr anchorCtr="0" anchor="t" bIns="91425" lIns="0" spcFirstLastPara="1" rIns="91425" wrap="square" tIns="0">
            <a:noAutofit/>
          </a:bodyPr>
          <a:lstStyle/>
          <a:p>
            <a:pPr indent="0" lvl="0" marL="0" rtl="0" algn="l">
              <a:spcBef>
                <a:spcPts val="0"/>
              </a:spcBef>
              <a:spcAft>
                <a:spcPts val="0"/>
              </a:spcAft>
              <a:buNone/>
              <a:defRPr sz="2300" b="1">
                <a:solidFill>
                  <a:srgbClr val="172336"/>
                </a:solidFill>
                <a:latin typeface="Aptos Display"/>
              </a:defRPr>
            </a:pPr>
            <a:r>
              <a:t>Provide links to your:</a:t>
            </a:r>
            <a:endParaRPr sz="1600">
              <a:latin typeface="Google Sans Flex Medium"/>
              <a:ea typeface="Google Sans Flex Medium"/>
              <a:cs typeface="Google Sans Flex Medium"/>
              <a:sym typeface="Google Sans Flex Medium"/>
            </a:endParaRPr>
          </a:p>
        </p:txBody>
      </p:sp>
      <p:sp>
        <p:nvSpPr>
          <p:cNvPr id="160" name="TextBox 159"/>
          <p:cNvSpPr txBox="1"/>
          <p:nvPr/>
        </p:nvSpPr>
        <p:spPr>
          <a:xfrm>
            <a:off x="365760" y="1161288"/>
            <a:ext cx="8321040" cy="365760"/>
          </a:xfrm>
          <a:prstGeom prst="rect">
            <a:avLst/>
          </a:prstGeom>
          <a:noFill/>
        </p:spPr>
        <p:txBody>
          <a:bodyPr wrap="square" lIns="0" rIns="0" tIns="0" bIns="0">
            <a:spAutoFit/>
          </a:bodyPr>
          <a:lstStyle/>
          <a:p>
            <a:pPr algn="l">
              <a:spcAft>
                <a:spcPts val="300"/>
              </a:spcAft>
              <a:defRPr sz="1200" b="0">
                <a:solidFill>
                  <a:srgbClr val="53637C"/>
                </a:solidFill>
                <a:latin typeface="Aptos"/>
              </a:defRPr>
            </a:pPr>
            <a:r>
              <a:t>Public repository, 3–4 minute demonstration, and deployed working product.</a:t>
            </a:r>
          </a:p>
        </p:txBody>
      </p:sp>
      <p:sp>
        <p:nvSpPr>
          <p:cNvPr id="161" name="Rounded Rectangle 160"/>
          <p:cNvSpPr/>
          <p:nvPr/>
        </p:nvSpPr>
        <p:spPr>
          <a:xfrm>
            <a:off x="411480" y="1746504"/>
            <a:ext cx="8302752" cy="749808"/>
          </a:xfrm>
          <a:prstGeom prst="roundRect">
            <a:avLst>
              <a:gd name="adj" fmla="val 9000"/>
            </a:avLst>
          </a:prstGeom>
          <a:solidFill>
            <a:srgbClr val="EDF3FF"/>
          </a:solidFill>
          <a:ln w="10160">
            <a:solidFill>
              <a:srgbClr val="D8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TextBox 161"/>
          <p:cNvSpPr txBox="1"/>
          <p:nvPr/>
        </p:nvSpPr>
        <p:spPr>
          <a:xfrm>
            <a:off x="594360" y="1856231"/>
            <a:ext cx="7918704" cy="219456"/>
          </a:xfrm>
          <a:prstGeom prst="rect">
            <a:avLst/>
          </a:prstGeom>
          <a:noFill/>
        </p:spPr>
        <p:txBody>
          <a:bodyPr wrap="square" lIns="0" rIns="0" tIns="0" bIns="0">
            <a:spAutoFit/>
          </a:bodyPr>
          <a:lstStyle/>
          <a:p>
            <a:pPr algn="l">
              <a:spcAft>
                <a:spcPts val="300"/>
              </a:spcAft>
              <a:defRPr sz="1200" b="1">
                <a:solidFill>
                  <a:srgbClr val="2864DF"/>
                </a:solidFill>
                <a:latin typeface="Aptos"/>
              </a:defRPr>
            </a:pPr>
            <a:r>
              <a:t>GitHub Public Repository — publication pending</a:t>
            </a:r>
          </a:p>
        </p:txBody>
      </p:sp>
      <p:sp>
        <p:nvSpPr>
          <p:cNvPr id="163" name="TextBox 162"/>
          <p:cNvSpPr txBox="1"/>
          <p:nvPr/>
        </p:nvSpPr>
        <p:spPr>
          <a:xfrm>
            <a:off x="594360" y="2167128"/>
            <a:ext cx="7900416" cy="219456"/>
          </a:xfrm>
          <a:prstGeom prst="rect">
            <a:avLst/>
          </a:prstGeom>
          <a:noFill/>
        </p:spPr>
        <p:txBody>
          <a:bodyPr wrap="square" lIns="0" rIns="0" tIns="0" bIns="0">
            <a:spAutoFit/>
          </a:bodyPr>
          <a:lstStyle/>
          <a:p>
            <a:pPr algn="l">
              <a:spcAft>
                <a:spcPts val="300"/>
              </a:spcAft>
              <a:defRPr sz="1080" b="0">
                <a:solidFill>
                  <a:srgbClr val="172336"/>
                </a:solidFill>
                <a:latin typeface="Aptos"/>
              </a:defRPr>
            </a:pPr>
            <a:r>
              <a:rPr>
                <a:hlinkClick r:id="rId5"/>
              </a:rPr>
              <a:t>https://github.com/abhi14dodiya/workflow-rescue-sustainx</a:t>
            </a:r>
          </a:p>
        </p:txBody>
      </p:sp>
      <p:sp>
        <p:nvSpPr>
          <p:cNvPr id="164" name="Rounded Rectangle 163"/>
          <p:cNvSpPr/>
          <p:nvPr/>
        </p:nvSpPr>
        <p:spPr>
          <a:xfrm>
            <a:off x="411480" y="2633472"/>
            <a:ext cx="8302752" cy="749808"/>
          </a:xfrm>
          <a:prstGeom prst="roundRect">
            <a:avLst>
              <a:gd name="adj" fmla="val 9000"/>
            </a:avLst>
          </a:prstGeom>
          <a:solidFill>
            <a:srgbClr val="EDF3FF"/>
          </a:solidFill>
          <a:ln w="10160">
            <a:solidFill>
              <a:srgbClr val="D8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TextBox 164"/>
          <p:cNvSpPr txBox="1"/>
          <p:nvPr/>
        </p:nvSpPr>
        <p:spPr>
          <a:xfrm>
            <a:off x="594360" y="2743200"/>
            <a:ext cx="7918704" cy="219456"/>
          </a:xfrm>
          <a:prstGeom prst="rect">
            <a:avLst/>
          </a:prstGeom>
          <a:noFill/>
        </p:spPr>
        <p:txBody>
          <a:bodyPr wrap="square" lIns="0" rIns="0" tIns="0" bIns="0">
            <a:spAutoFit/>
          </a:bodyPr>
          <a:lstStyle/>
          <a:p>
            <a:pPr algn="l">
              <a:spcAft>
                <a:spcPts val="300"/>
              </a:spcAft>
              <a:defRPr sz="1200" b="1">
                <a:solidFill>
                  <a:srgbClr val="2864DF"/>
                </a:solidFill>
                <a:latin typeface="Aptos"/>
              </a:defRPr>
            </a:pPr>
            <a:r>
              <a:t>Demo Video Link (3–4 minutes) — upload pending</a:t>
            </a:r>
          </a:p>
        </p:txBody>
      </p:sp>
      <p:sp>
        <p:nvSpPr>
          <p:cNvPr id="166" name="TextBox 165"/>
          <p:cNvSpPr txBox="1"/>
          <p:nvPr/>
        </p:nvSpPr>
        <p:spPr>
          <a:xfrm>
            <a:off x="594360" y="3054096"/>
            <a:ext cx="7900416" cy="219456"/>
          </a:xfrm>
          <a:prstGeom prst="rect">
            <a:avLst/>
          </a:prstGeom>
          <a:noFill/>
        </p:spPr>
        <p:txBody>
          <a:bodyPr wrap="square" lIns="0" rIns="0" tIns="0" bIns="0">
            <a:spAutoFit/>
          </a:bodyPr>
          <a:lstStyle/>
          <a:p>
            <a:pPr algn="l">
              <a:spcAft>
                <a:spcPts val="300"/>
              </a:spcAft>
              <a:defRPr sz="1080" b="0">
                <a:solidFill>
                  <a:srgbClr val="172336"/>
                </a:solidFill>
                <a:latin typeface="Aptos"/>
              </a:defRPr>
            </a:pPr>
            <a:r>
              <a:rPr>
                <a:hlinkClick r:id="rId6"/>
              </a:rPr>
              <a:t>https://gen-lang-client-0915819772.web.app/downloads/workflow-rescue-demo.mp4</a:t>
            </a:r>
          </a:p>
        </p:txBody>
      </p:sp>
      <p:sp>
        <p:nvSpPr>
          <p:cNvPr id="167" name="Rounded Rectangle 166"/>
          <p:cNvSpPr/>
          <p:nvPr/>
        </p:nvSpPr>
        <p:spPr>
          <a:xfrm>
            <a:off x="411480" y="3520439"/>
            <a:ext cx="8302752" cy="749808"/>
          </a:xfrm>
          <a:prstGeom prst="roundRect">
            <a:avLst>
              <a:gd name="adj" fmla="val 9000"/>
            </a:avLst>
          </a:prstGeom>
          <a:solidFill>
            <a:srgbClr val="EDF3FF"/>
          </a:solidFill>
          <a:ln w="10160">
            <a:solidFill>
              <a:srgbClr val="D8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TextBox 167"/>
          <p:cNvSpPr txBox="1"/>
          <p:nvPr/>
        </p:nvSpPr>
        <p:spPr>
          <a:xfrm>
            <a:off x="594360" y="3630168"/>
            <a:ext cx="7918704" cy="219456"/>
          </a:xfrm>
          <a:prstGeom prst="rect">
            <a:avLst/>
          </a:prstGeom>
          <a:noFill/>
        </p:spPr>
        <p:txBody>
          <a:bodyPr wrap="square" lIns="0" rIns="0" tIns="0" bIns="0">
            <a:spAutoFit/>
          </a:bodyPr>
          <a:lstStyle/>
          <a:p>
            <a:pPr algn="l">
              <a:spcAft>
                <a:spcPts val="300"/>
              </a:spcAft>
              <a:defRPr sz="1200" b="1">
                <a:solidFill>
                  <a:srgbClr val="2864DF"/>
                </a:solidFill>
                <a:latin typeface="Aptos"/>
              </a:defRPr>
            </a:pPr>
            <a:r>
              <a:t>Final Product Link</a:t>
            </a:r>
          </a:p>
        </p:txBody>
      </p:sp>
      <p:sp>
        <p:nvSpPr>
          <p:cNvPr id="169" name="TextBox 168"/>
          <p:cNvSpPr txBox="1"/>
          <p:nvPr/>
        </p:nvSpPr>
        <p:spPr>
          <a:xfrm>
            <a:off x="594360" y="3941063"/>
            <a:ext cx="7900416" cy="219456"/>
          </a:xfrm>
          <a:prstGeom prst="rect">
            <a:avLst/>
          </a:prstGeom>
          <a:noFill/>
        </p:spPr>
        <p:txBody>
          <a:bodyPr wrap="square" lIns="0" rIns="0" tIns="0" bIns="0">
            <a:spAutoFit/>
          </a:bodyPr>
          <a:lstStyle/>
          <a:p>
            <a:pPr algn="l">
              <a:spcAft>
                <a:spcPts val="300"/>
              </a:spcAft>
              <a:defRPr sz="1080" b="0">
                <a:solidFill>
                  <a:srgbClr val="172336"/>
                </a:solidFill>
                <a:latin typeface="Aptos"/>
              </a:defRPr>
            </a:pPr>
            <a:r>
              <a:rPr>
                <a:hlinkClick r:id="rId7"/>
              </a:rPr>
              <a:t>https://federation-php-architecture-blocked.trycloudflare.com</a:t>
            </a:r>
          </a:p>
        </p:txBody>
      </p:sp>
      <p:sp>
        <p:nvSpPr>
          <p:cNvPr id="170" name="TextBox 169"/>
          <p:cNvSpPr txBox="1"/>
          <p:nvPr/>
        </p:nvSpPr>
        <p:spPr>
          <a:xfrm>
            <a:off x="521207" y="4489704"/>
            <a:ext cx="8138160" cy="192024"/>
          </a:xfrm>
          <a:prstGeom prst="rect">
            <a:avLst/>
          </a:prstGeom>
          <a:noFill/>
        </p:spPr>
        <p:txBody>
          <a:bodyPr wrap="square" lIns="0" rIns="0" tIns="0" bIns="0">
            <a:spAutoFit/>
          </a:bodyPr>
          <a:lstStyle/>
          <a:p>
            <a:pPr algn="l">
              <a:spcAft>
                <a:spcPts val="300"/>
              </a:spcAft>
              <a:defRPr sz="950" b="0">
                <a:solidFill>
                  <a:srgbClr val="946000"/>
                </a:solidFill>
                <a:latin typeface="Aptos"/>
              </a:defRPr>
            </a:pPr>
            <a:r>
              <a:t>The current product URL is a temporary session demo, not a durable evaluation deployment.</a:t>
            </a:r>
          </a:p>
        </p:txBody>
      </p:sp>
      <p:sp>
        <p:nvSpPr>
          <p:cNvPr id="171" name="TextBox 170"/>
          <p:cNvSpPr txBox="1"/>
          <p:nvPr/>
        </p:nvSpPr>
        <p:spPr>
          <a:xfrm>
            <a:off x="356616" y="4700016"/>
            <a:ext cx="7936992" cy="210312"/>
          </a:xfrm>
          <a:prstGeom prst="rect">
            <a:avLst/>
          </a:prstGeom>
          <a:noFill/>
        </p:spPr>
        <p:txBody>
          <a:bodyPr wrap="square" lIns="0" rIns="0" tIns="0" bIns="0">
            <a:spAutoFit/>
          </a:bodyPr>
          <a:lstStyle/>
          <a:p>
            <a:pPr algn="l">
              <a:spcAft>
                <a:spcPts val="300"/>
              </a:spcAft>
              <a:defRPr sz="850" b="0">
                <a:solidFill>
                  <a:srgbClr val="53637C"/>
                </a:solidFill>
                <a:latin typeface="Aptos"/>
              </a:defRPr>
            </a:pPr>
            <a:r>
              <a:t>All links must work without the evaluator signing into the team's private accounts.</a:t>
            </a:r>
          </a:p>
        </p:txBody>
      </p:sp>
      <p:sp>
        <p:nvSpPr>
          <p:cNvPr id="172" name="TextBox 171"/>
          <p:cNvSpPr txBox="1"/>
          <p:nvPr/>
        </p:nvSpPr>
        <p:spPr>
          <a:xfrm>
            <a:off x="8394192" y="4700016"/>
            <a:ext cx="365760" cy="210312"/>
          </a:xfrm>
          <a:prstGeom prst="rect">
            <a:avLst/>
          </a:prstGeom>
          <a:noFill/>
        </p:spPr>
        <p:txBody>
          <a:bodyPr wrap="square" lIns="0" rIns="0" tIns="0" bIns="0">
            <a:spAutoFit/>
          </a:bodyPr>
          <a:lstStyle/>
          <a:p>
            <a:pPr algn="r">
              <a:spcAft>
                <a:spcPts val="300"/>
              </a:spcAft>
              <a:defRPr sz="900" b="0">
                <a:solidFill>
                  <a:srgbClr val="53637C"/>
                </a:solidFill>
                <a:latin typeface="Aptos"/>
              </a:defRPr>
            </a:pPr>
            <a:r>
              <a:t>14</a:t>
            </a: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pic>
        <p:nvPicPr>
          <p:cNvPr id="164" name="Google Shape;164;p27"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65" name="Google Shape;165;p27"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66" name="Google Shape;166;p27"/>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7" name="TextBox 166"/>
          <p:cNvSpPr txBox="1"/>
          <p:nvPr/>
        </p:nvSpPr>
        <p:spPr>
          <a:xfrm>
            <a:off x="393192" y="740664"/>
            <a:ext cx="8321040" cy="411480"/>
          </a:xfrm>
          <a:prstGeom prst="rect">
            <a:avLst/>
          </a:prstGeom>
          <a:noFill/>
        </p:spPr>
        <p:txBody>
          <a:bodyPr wrap="square" lIns="0" rIns="0" tIns="0" bIns="0">
            <a:spAutoFit/>
          </a:bodyPr>
          <a:lstStyle/>
          <a:p>
            <a:pPr algn="l">
              <a:spcAft>
                <a:spcPts val="300"/>
              </a:spcAft>
              <a:defRPr sz="2400" b="1">
                <a:solidFill>
                  <a:srgbClr val="172336"/>
                </a:solidFill>
                <a:latin typeface="Aptos"/>
              </a:defRPr>
            </a:pPr>
            <a:r>
              <a:t>Evidence, assumptions and scope</a:t>
            </a:r>
          </a:p>
        </p:txBody>
      </p:sp>
      <p:sp>
        <p:nvSpPr>
          <p:cNvPr id="168" name="TextBox 167"/>
          <p:cNvSpPr txBox="1"/>
          <p:nvPr/>
        </p:nvSpPr>
        <p:spPr>
          <a:xfrm>
            <a:off x="420624" y="1335024"/>
            <a:ext cx="8247888" cy="512064"/>
          </a:xfrm>
          <a:prstGeom prst="rect">
            <a:avLst/>
          </a:prstGeom>
          <a:noFill/>
        </p:spPr>
        <p:txBody>
          <a:bodyPr wrap="square" lIns="0" rIns="0" tIns="0" bIns="0">
            <a:spAutoFit/>
          </a:bodyPr>
          <a:lstStyle/>
          <a:p>
            <a:pPr algn="l">
              <a:spcAft>
                <a:spcPts val="300"/>
              </a:spcAft>
              <a:defRPr sz="1800" b="0">
                <a:solidFill>
                  <a:srgbClr val="172336"/>
                </a:solidFill>
                <a:latin typeface="Aptos"/>
              </a:defRPr>
            </a:pPr>
            <a:r>
              <a:t>Our claim is controlled, inspectable recovery of synthetic incidents. The pilot must establish business value.</a:t>
            </a:r>
          </a:p>
        </p:txBody>
      </p:sp>
      <p:sp>
        <p:nvSpPr>
          <p:cNvPr id="169" name="TextBox 168"/>
          <p:cNvSpPr txBox="1"/>
          <p:nvPr/>
        </p:nvSpPr>
        <p:spPr>
          <a:xfrm>
            <a:off x="466344" y="2066543"/>
            <a:ext cx="8193024" cy="228600"/>
          </a:xfrm>
          <a:prstGeom prst="rect">
            <a:avLst/>
          </a:prstGeom>
          <a:noFill/>
        </p:spPr>
        <p:txBody>
          <a:bodyPr wrap="square" lIns="0" rIns="0" tIns="0" bIns="0">
            <a:spAutoFit/>
          </a:bodyPr>
          <a:lstStyle/>
          <a:p>
            <a:pPr algn="l">
              <a:spcAft>
                <a:spcPts val="300"/>
              </a:spcAft>
              <a:defRPr sz="1300" b="1">
                <a:solidFill>
                  <a:srgbClr val="2864DF"/>
                </a:solidFill>
                <a:latin typeface="Aptos"/>
              </a:defRPr>
            </a:pPr>
            <a:r>
              <a:rPr>
                <a:hlinkClick r:id="rId5"/>
              </a:rPr>
              <a:t>Stripe webhook guidance</a:t>
            </a:r>
          </a:p>
        </p:txBody>
      </p:sp>
      <p:sp>
        <p:nvSpPr>
          <p:cNvPr id="170" name="TextBox 169"/>
          <p:cNvSpPr txBox="1"/>
          <p:nvPr/>
        </p:nvSpPr>
        <p:spPr>
          <a:xfrm>
            <a:off x="466344" y="2359151"/>
            <a:ext cx="8193024" cy="283464"/>
          </a:xfrm>
          <a:prstGeom prst="rect">
            <a:avLst/>
          </a:prstGeom>
          <a:noFill/>
        </p:spPr>
        <p:txBody>
          <a:bodyPr wrap="square" lIns="0" rIns="0" tIns="0" bIns="0">
            <a:spAutoFit/>
          </a:bodyPr>
          <a:lstStyle/>
          <a:p>
            <a:pPr algn="l">
              <a:spcAft>
                <a:spcPts val="300"/>
              </a:spcAft>
              <a:defRPr sz="1200" b="0">
                <a:solidFill>
                  <a:srgbClr val="53637C"/>
                </a:solidFill>
                <a:latin typeface="Aptos"/>
              </a:defRPr>
            </a:pPr>
            <a:r>
              <a:t>Duplicate events establish why recovery must reconcile authoritative state.</a:t>
            </a:r>
          </a:p>
        </p:txBody>
      </p:sp>
      <p:sp>
        <p:nvSpPr>
          <p:cNvPr id="171" name="TextBox 170"/>
          <p:cNvSpPr txBox="1"/>
          <p:nvPr/>
        </p:nvSpPr>
        <p:spPr>
          <a:xfrm>
            <a:off x="466344" y="2761487"/>
            <a:ext cx="8193024" cy="228600"/>
          </a:xfrm>
          <a:prstGeom prst="rect">
            <a:avLst/>
          </a:prstGeom>
          <a:noFill/>
        </p:spPr>
        <p:txBody>
          <a:bodyPr wrap="square" lIns="0" rIns="0" tIns="0" bIns="0">
            <a:spAutoFit/>
          </a:bodyPr>
          <a:lstStyle/>
          <a:p>
            <a:pPr algn="l">
              <a:spcAft>
                <a:spcPts val="300"/>
              </a:spcAft>
              <a:defRPr sz="1300" b="1">
                <a:solidFill>
                  <a:srgbClr val="2864DF"/>
                </a:solidFill>
                <a:latin typeface="Aptos"/>
              </a:defRPr>
            </a:pPr>
            <a:r>
              <a:rPr>
                <a:hlinkClick r:id="rId6"/>
              </a:rPr>
              <a:t>Stripe idempotent requests</a:t>
            </a:r>
          </a:p>
        </p:txBody>
      </p:sp>
      <p:sp>
        <p:nvSpPr>
          <p:cNvPr id="172" name="TextBox 171"/>
          <p:cNvSpPr txBox="1"/>
          <p:nvPr/>
        </p:nvSpPr>
        <p:spPr>
          <a:xfrm>
            <a:off x="466344" y="3054095"/>
            <a:ext cx="8193024" cy="283464"/>
          </a:xfrm>
          <a:prstGeom prst="rect">
            <a:avLst/>
          </a:prstGeom>
          <a:noFill/>
        </p:spPr>
        <p:txBody>
          <a:bodyPr wrap="square" lIns="0" rIns="0" tIns="0" bIns="0">
            <a:spAutoFit/>
          </a:bodyPr>
          <a:lstStyle/>
          <a:p>
            <a:pPr algn="l">
              <a:spcAft>
                <a:spcPts val="300"/>
              </a:spcAft>
              <a:defRPr sz="1200" b="0">
                <a:solidFill>
                  <a:srgbClr val="53637C"/>
                </a:solidFill>
                <a:latin typeface="Aptos"/>
              </a:defRPr>
            </a:pPr>
            <a:r>
              <a:t>Safe request retries are an established engineering control.</a:t>
            </a:r>
          </a:p>
        </p:txBody>
      </p:sp>
      <p:sp>
        <p:nvSpPr>
          <p:cNvPr id="173" name="TextBox 172"/>
          <p:cNvSpPr txBox="1"/>
          <p:nvPr/>
        </p:nvSpPr>
        <p:spPr>
          <a:xfrm>
            <a:off x="466344" y="3456432"/>
            <a:ext cx="8193024" cy="228600"/>
          </a:xfrm>
          <a:prstGeom prst="rect">
            <a:avLst/>
          </a:prstGeom>
          <a:noFill/>
        </p:spPr>
        <p:txBody>
          <a:bodyPr wrap="square" lIns="0" rIns="0" tIns="0" bIns="0">
            <a:spAutoFit/>
          </a:bodyPr>
          <a:lstStyle/>
          <a:p>
            <a:pPr algn="l">
              <a:spcAft>
                <a:spcPts val="300"/>
              </a:spcAft>
              <a:defRPr sz="1300" b="1">
                <a:solidFill>
                  <a:srgbClr val="2864DF"/>
                </a:solidFill>
                <a:latin typeface="Aptos"/>
              </a:defRPr>
            </a:pPr>
            <a:r>
              <a:rPr>
                <a:hlinkClick r:id="rId7"/>
              </a:rPr>
              <a:t>Temporal sagas and compensation</a:t>
            </a:r>
          </a:p>
        </p:txBody>
      </p:sp>
      <p:sp>
        <p:nvSpPr>
          <p:cNvPr id="174" name="TextBox 173"/>
          <p:cNvSpPr txBox="1"/>
          <p:nvPr/>
        </p:nvSpPr>
        <p:spPr>
          <a:xfrm>
            <a:off x="466344" y="3749039"/>
            <a:ext cx="8193024" cy="283464"/>
          </a:xfrm>
          <a:prstGeom prst="rect">
            <a:avLst/>
          </a:prstGeom>
          <a:noFill/>
        </p:spPr>
        <p:txBody>
          <a:bodyPr wrap="square" lIns="0" rIns="0" tIns="0" bIns="0">
            <a:spAutoFit/>
          </a:bodyPr>
          <a:lstStyle/>
          <a:p>
            <a:pPr algn="l">
              <a:spcAft>
                <a:spcPts val="300"/>
              </a:spcAft>
              <a:defRPr sz="1200" b="0">
                <a:solidFill>
                  <a:srgbClr val="53637C"/>
                </a:solidFill>
                <a:latin typeface="Aptos"/>
              </a:defRPr>
            </a:pPr>
            <a:r>
              <a:t>Partial workflows and application-specific compensation predate this prototype.</a:t>
            </a:r>
          </a:p>
        </p:txBody>
      </p:sp>
      <p:sp>
        <p:nvSpPr>
          <p:cNvPr id="175" name="TextBox 174"/>
          <p:cNvSpPr txBox="1"/>
          <p:nvPr/>
        </p:nvSpPr>
        <p:spPr>
          <a:xfrm>
            <a:off x="356616" y="4700016"/>
            <a:ext cx="7936992" cy="210312"/>
          </a:xfrm>
          <a:prstGeom prst="rect">
            <a:avLst/>
          </a:prstGeom>
          <a:noFill/>
        </p:spPr>
        <p:txBody>
          <a:bodyPr wrap="square" lIns="0" rIns="0" tIns="0" bIns="0">
            <a:spAutoFit/>
          </a:bodyPr>
          <a:lstStyle/>
          <a:p>
            <a:pPr algn="l">
              <a:spcAft>
                <a:spcPts val="300"/>
              </a:spcAft>
              <a:defRPr sz="850" b="0">
                <a:solidFill>
                  <a:srgbClr val="53637C"/>
                </a:solidFill>
                <a:latin typeface="Aptos"/>
              </a:defRPr>
            </a:pPr>
            <a:r>
              <a:t>Primary technical sources checked 18 October 2026. These sources do not substantiate a product savings figure.</a:t>
            </a:r>
          </a:p>
        </p:txBody>
      </p:sp>
      <p:sp>
        <p:nvSpPr>
          <p:cNvPr id="176" name="TextBox 175"/>
          <p:cNvSpPr txBox="1"/>
          <p:nvPr/>
        </p:nvSpPr>
        <p:spPr>
          <a:xfrm>
            <a:off x="8394192" y="4700016"/>
            <a:ext cx="365760" cy="210312"/>
          </a:xfrm>
          <a:prstGeom prst="rect">
            <a:avLst/>
          </a:prstGeom>
          <a:noFill/>
        </p:spPr>
        <p:txBody>
          <a:bodyPr wrap="square" lIns="0" rIns="0" tIns="0" bIns="0">
            <a:spAutoFit/>
          </a:bodyPr>
          <a:lstStyle/>
          <a:p>
            <a:pPr algn="r">
              <a:spcAft>
                <a:spcPts val="300"/>
              </a:spcAft>
              <a:defRPr sz="900" b="0">
                <a:solidFill>
                  <a:srgbClr val="53637C"/>
                </a:solidFill>
                <a:latin typeface="Aptos"/>
              </a:defRPr>
            </a:pPr>
            <a:r>
              <a:t>15</a:t>
            </a: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pic>
        <p:nvPicPr>
          <p:cNvPr id="171" name="Google Shape;171;p28"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72" name="Google Shape;172;p28" title="Frame 145.png"/>
          <p:cNvPicPr preferRelativeResize="0"/>
          <p:nvPr/>
        </p:nvPicPr>
        <p:blipFill>
          <a:blip r:embed="rId4">
            <a:alphaModFix/>
          </a:blip>
          <a:stretch>
            <a:fillRect/>
          </a:stretch>
        </p:blipFill>
        <p:spPr>
          <a:xfrm>
            <a:off x="0" y="0"/>
            <a:ext cx="9144000" cy="5143516"/>
          </a:xfrm>
          <a:prstGeom prst="rect">
            <a:avLst/>
          </a:prstGeom>
          <a:noFill/>
          <a:ln>
            <a:noFill/>
          </a:ln>
        </p:spPr>
      </p:pic>
      <p:sp>
        <p:nvSpPr>
          <p:cNvPr id="173" name="TextBox 172"/>
          <p:cNvSpPr txBox="1"/>
          <p:nvPr/>
        </p:nvSpPr>
        <p:spPr>
          <a:xfrm>
            <a:off x="5102352" y="2825496"/>
            <a:ext cx="3657600" cy="338328"/>
          </a:xfrm>
          <a:prstGeom prst="rect">
            <a:avLst/>
          </a:prstGeom>
          <a:noFill/>
        </p:spPr>
        <p:txBody>
          <a:bodyPr wrap="square" lIns="0" rIns="0" tIns="0" bIns="0">
            <a:spAutoFit/>
          </a:bodyPr>
          <a:lstStyle/>
          <a:p>
            <a:pPr algn="l">
              <a:spcAft>
                <a:spcPts val="300"/>
              </a:spcAft>
              <a:defRPr sz="1800" b="1">
                <a:solidFill>
                  <a:srgbClr val="FFFFFF"/>
                </a:solidFill>
                <a:latin typeface="Aptos"/>
              </a:defRPr>
            </a:pPr>
            <a:r>
              <a:t>Workflow Rescue · sustAInX</a:t>
            </a:r>
          </a:p>
        </p:txBody>
      </p:sp>
      <p:sp>
        <p:nvSpPr>
          <p:cNvPr id="174" name="TextBox 173"/>
          <p:cNvSpPr txBox="1"/>
          <p:nvPr/>
        </p:nvSpPr>
        <p:spPr>
          <a:xfrm>
            <a:off x="5102352" y="3236976"/>
            <a:ext cx="3584448" cy="722376"/>
          </a:xfrm>
          <a:prstGeom prst="rect">
            <a:avLst/>
          </a:prstGeom>
          <a:noFill/>
        </p:spPr>
        <p:txBody>
          <a:bodyPr wrap="square" lIns="0" rIns="0" tIns="0" bIns="0">
            <a:spAutoFit/>
          </a:bodyPr>
          <a:lstStyle/>
          <a:p>
            <a:pPr algn="l">
              <a:spcAft>
                <a:spcPts val="300"/>
              </a:spcAft>
              <a:defRPr sz="1800" b="0">
                <a:solidFill>
                  <a:srgbClr val="FFFFFF"/>
                </a:solidFill>
                <a:latin typeface="Aptos"/>
              </a:defRPr>
            </a:pPr>
            <a:r>
              <a:t>Recover the workflow.</a:t>
            </a:r>
          </a:p>
          <a:p>
            <a:pPr algn="l">
              <a:spcAft>
                <a:spcPts val="300"/>
              </a:spcAft>
              <a:defRPr sz="1800" b="0">
                <a:solidFill>
                  <a:srgbClr val="FFFFFF"/>
                </a:solidFill>
                <a:latin typeface="Aptos"/>
              </a:defRPr>
            </a:pPr>
            <a:r>
              <a:t>Preserve the customer's intent.</a:t>
            </a: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dc:title>Workflow Rescue by sustAInX — AI Builder Cup 2026</dc:title>
  <cp:lastModifiedBy>python-pptx</cp:lastModifiedBy>
  <cp:revision>1</cp:revision>
  <dcterms:modified xsi:type="dcterms:W3CDTF">2026-10-18T17:27:14Z</dcterms:modified>
  <dc:subject>Official-template submission draft; evidence-linked enterprise workflow recovery</dc:subject>
  <dc:creator>sustAInX</dc:creator>
  <cp:keywords>Gemini, enterprise recovery, AI Builder Cup, sustAInX</cp:keywords>
</cp:coreProperties>
</file>